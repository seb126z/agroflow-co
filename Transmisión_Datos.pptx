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18.jpg" ContentType="image/jp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328" r:id="rId8"/>
    <p:sldId id="264" r:id="rId9"/>
    <p:sldId id="265" r:id="rId10"/>
    <p:sldId id="266" r:id="rId11"/>
    <p:sldId id="267" r:id="rId12"/>
    <p:sldId id="268" r:id="rId13"/>
    <p:sldId id="338" r:id="rId14"/>
    <p:sldId id="279" r:id="rId15"/>
    <p:sldId id="272" r:id="rId16"/>
    <p:sldId id="277" r:id="rId17"/>
    <p:sldId id="273" r:id="rId18"/>
    <p:sldId id="278" r:id="rId19"/>
    <p:sldId id="280" r:id="rId20"/>
    <p:sldId id="281" r:id="rId21"/>
    <p:sldId id="282" r:id="rId22"/>
    <p:sldId id="307" r:id="rId23"/>
    <p:sldId id="310" r:id="rId24"/>
    <p:sldId id="308" r:id="rId25"/>
    <p:sldId id="309" r:id="rId26"/>
    <p:sldId id="311" r:id="rId27"/>
    <p:sldId id="312" r:id="rId28"/>
    <p:sldId id="313" r:id="rId29"/>
    <p:sldId id="314" r:id="rId30"/>
    <p:sldId id="315" r:id="rId31"/>
    <p:sldId id="316" r:id="rId32"/>
    <p:sldId id="317" r:id="rId33"/>
    <p:sldId id="283" r:id="rId34"/>
    <p:sldId id="259"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19" r:id="rId58"/>
    <p:sldId id="320" r:id="rId59"/>
    <p:sldId id="321" r:id="rId60"/>
    <p:sldId id="322" r:id="rId61"/>
    <p:sldId id="326" r:id="rId62"/>
    <p:sldId id="325" r:id="rId63"/>
    <p:sldId id="324" r:id="rId64"/>
    <p:sldId id="327" r:id="rId65"/>
    <p:sldId id="318" r:id="rId66"/>
    <p:sldId id="329" r:id="rId67"/>
    <p:sldId id="330" r:id="rId68"/>
    <p:sldId id="331" r:id="rId69"/>
    <p:sldId id="332" r:id="rId70"/>
    <p:sldId id="333" r:id="rId71"/>
    <p:sldId id="334" r:id="rId72"/>
    <p:sldId id="335" r:id="rId73"/>
    <p:sldId id="336" r:id="rId74"/>
    <p:sldId id="337" r:id="rId7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8" autoAdjust="0"/>
    <p:restoredTop sz="94660"/>
  </p:normalViewPr>
  <p:slideViewPr>
    <p:cSldViewPr snapToGrid="0">
      <p:cViewPr varScale="1">
        <p:scale>
          <a:sx n="113" d="100"/>
          <a:sy n="113" d="100"/>
        </p:scale>
        <p:origin x="450"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jpg"/></Relationships>
</file>

<file path=ppt/diagrams/_rels/drawing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jpg"/></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857572-AAA6-405C-A80C-C7DD51F4015E}" type="doc">
      <dgm:prSet loTypeId="urn:microsoft.com/office/officeart/2005/8/layout/hChevron3" loCatId="process" qsTypeId="urn:microsoft.com/office/officeart/2009/2/quickstyle/3d8" qsCatId="3D" csTypeId="urn:microsoft.com/office/officeart/2005/8/colors/accent6_4" csCatId="accent6" phldr="1"/>
      <dgm:spPr/>
    </dgm:pt>
    <dgm:pt modelId="{DDC00982-3837-492D-9800-A05572CE7E5B}">
      <dgm:prSet phldrT="[Texto]"/>
      <dgm:spPr/>
      <dgm:t>
        <a:bodyPr/>
        <a:lstStyle/>
        <a:p>
          <a:r>
            <a:rPr lang="es-ES" dirty="0"/>
            <a:t>Rendimiento</a:t>
          </a:r>
          <a:endParaRPr lang="es-CO" dirty="0"/>
        </a:p>
      </dgm:t>
    </dgm:pt>
    <dgm:pt modelId="{14D92576-4AB6-458E-A7E7-19BF0F978125}" type="parTrans" cxnId="{89FB4FD6-8008-47EE-8229-BD3756605301}">
      <dgm:prSet/>
      <dgm:spPr/>
      <dgm:t>
        <a:bodyPr/>
        <a:lstStyle/>
        <a:p>
          <a:endParaRPr lang="es-CO"/>
        </a:p>
      </dgm:t>
    </dgm:pt>
    <dgm:pt modelId="{413C63CF-A809-44DB-904A-7BDD374306CF}" type="sibTrans" cxnId="{89FB4FD6-8008-47EE-8229-BD3756605301}">
      <dgm:prSet/>
      <dgm:spPr/>
      <dgm:t>
        <a:bodyPr/>
        <a:lstStyle/>
        <a:p>
          <a:endParaRPr lang="es-CO"/>
        </a:p>
      </dgm:t>
    </dgm:pt>
    <dgm:pt modelId="{049303C7-6FF4-4C08-BE55-D6CDFA7FBB18}">
      <dgm:prSet phldrT="[Texto]"/>
      <dgm:spPr/>
      <dgm:t>
        <a:bodyPr/>
        <a:lstStyle/>
        <a:p>
          <a:r>
            <a:rPr lang="es-ES" dirty="0"/>
            <a:t>Fiabilidad</a:t>
          </a:r>
          <a:endParaRPr lang="es-CO" dirty="0"/>
        </a:p>
      </dgm:t>
    </dgm:pt>
    <dgm:pt modelId="{2934AB0C-DCFF-4228-89F3-AA88B17E72A5}" type="parTrans" cxnId="{07E3A919-39E7-4E50-B30D-BA85C0439A25}">
      <dgm:prSet/>
      <dgm:spPr/>
      <dgm:t>
        <a:bodyPr/>
        <a:lstStyle/>
        <a:p>
          <a:endParaRPr lang="es-CO"/>
        </a:p>
      </dgm:t>
    </dgm:pt>
    <dgm:pt modelId="{7FD01814-D05D-4E43-9C34-44A9AB0AB947}" type="sibTrans" cxnId="{07E3A919-39E7-4E50-B30D-BA85C0439A25}">
      <dgm:prSet/>
      <dgm:spPr/>
      <dgm:t>
        <a:bodyPr/>
        <a:lstStyle/>
        <a:p>
          <a:endParaRPr lang="es-CO"/>
        </a:p>
      </dgm:t>
    </dgm:pt>
    <dgm:pt modelId="{D0B88557-AAE1-461E-B71B-EC3C01A391F8}">
      <dgm:prSet phldrT="[Texto]"/>
      <dgm:spPr/>
      <dgm:t>
        <a:bodyPr/>
        <a:lstStyle/>
        <a:p>
          <a:r>
            <a:rPr lang="es-ES" dirty="0"/>
            <a:t>Seguridad</a:t>
          </a:r>
          <a:endParaRPr lang="es-CO" dirty="0"/>
        </a:p>
      </dgm:t>
    </dgm:pt>
    <dgm:pt modelId="{03470577-BE57-4FAC-ABF1-5213D6C78171}" type="parTrans" cxnId="{43C44C3E-94AD-4A92-BC67-FA2AB6CE9C53}">
      <dgm:prSet/>
      <dgm:spPr/>
      <dgm:t>
        <a:bodyPr/>
        <a:lstStyle/>
        <a:p>
          <a:endParaRPr lang="es-CO"/>
        </a:p>
      </dgm:t>
    </dgm:pt>
    <dgm:pt modelId="{B9455971-6299-4EFB-94EE-587E9D45F114}" type="sibTrans" cxnId="{43C44C3E-94AD-4A92-BC67-FA2AB6CE9C53}">
      <dgm:prSet/>
      <dgm:spPr/>
      <dgm:t>
        <a:bodyPr/>
        <a:lstStyle/>
        <a:p>
          <a:endParaRPr lang="es-CO"/>
        </a:p>
      </dgm:t>
    </dgm:pt>
    <dgm:pt modelId="{DB9843C2-D48A-47DC-B34C-8310946C0214}" type="pres">
      <dgm:prSet presAssocID="{A9857572-AAA6-405C-A80C-C7DD51F4015E}" presName="Name0" presStyleCnt="0">
        <dgm:presLayoutVars>
          <dgm:dir/>
          <dgm:resizeHandles val="exact"/>
        </dgm:presLayoutVars>
      </dgm:prSet>
      <dgm:spPr/>
    </dgm:pt>
    <dgm:pt modelId="{EEA9CA0B-72E5-4946-98EF-E0A440F668A3}" type="pres">
      <dgm:prSet presAssocID="{DDC00982-3837-492D-9800-A05572CE7E5B}" presName="parTxOnly" presStyleLbl="node1" presStyleIdx="0" presStyleCnt="3">
        <dgm:presLayoutVars>
          <dgm:bulletEnabled val="1"/>
        </dgm:presLayoutVars>
      </dgm:prSet>
      <dgm:spPr/>
    </dgm:pt>
    <dgm:pt modelId="{E792449E-DFAE-46F7-A69A-D9C010AB271F}" type="pres">
      <dgm:prSet presAssocID="{413C63CF-A809-44DB-904A-7BDD374306CF}" presName="parSpace" presStyleCnt="0"/>
      <dgm:spPr/>
    </dgm:pt>
    <dgm:pt modelId="{72BB5EB3-779C-47D5-B205-8B14D00BCD6E}" type="pres">
      <dgm:prSet presAssocID="{049303C7-6FF4-4C08-BE55-D6CDFA7FBB18}" presName="parTxOnly" presStyleLbl="node1" presStyleIdx="1" presStyleCnt="3">
        <dgm:presLayoutVars>
          <dgm:bulletEnabled val="1"/>
        </dgm:presLayoutVars>
      </dgm:prSet>
      <dgm:spPr/>
    </dgm:pt>
    <dgm:pt modelId="{01D05ED2-0698-4134-BCCC-74E0C507B2B6}" type="pres">
      <dgm:prSet presAssocID="{7FD01814-D05D-4E43-9C34-44A9AB0AB947}" presName="parSpace" presStyleCnt="0"/>
      <dgm:spPr/>
    </dgm:pt>
    <dgm:pt modelId="{E0655284-A514-44EE-8A45-70159D9E22FD}" type="pres">
      <dgm:prSet presAssocID="{D0B88557-AAE1-461E-B71B-EC3C01A391F8}" presName="parTxOnly" presStyleLbl="node1" presStyleIdx="2" presStyleCnt="3">
        <dgm:presLayoutVars>
          <dgm:bulletEnabled val="1"/>
        </dgm:presLayoutVars>
      </dgm:prSet>
      <dgm:spPr/>
    </dgm:pt>
  </dgm:ptLst>
  <dgm:cxnLst>
    <dgm:cxn modelId="{07E3A919-39E7-4E50-B30D-BA85C0439A25}" srcId="{A9857572-AAA6-405C-A80C-C7DD51F4015E}" destId="{049303C7-6FF4-4C08-BE55-D6CDFA7FBB18}" srcOrd="1" destOrd="0" parTransId="{2934AB0C-DCFF-4228-89F3-AA88B17E72A5}" sibTransId="{7FD01814-D05D-4E43-9C34-44A9AB0AB947}"/>
    <dgm:cxn modelId="{2C16BA1F-8D0E-468D-93D5-CFC382B4A90B}" type="presOf" srcId="{D0B88557-AAE1-461E-B71B-EC3C01A391F8}" destId="{E0655284-A514-44EE-8A45-70159D9E22FD}" srcOrd="0" destOrd="0" presId="urn:microsoft.com/office/officeart/2005/8/layout/hChevron3"/>
    <dgm:cxn modelId="{43C44C3E-94AD-4A92-BC67-FA2AB6CE9C53}" srcId="{A9857572-AAA6-405C-A80C-C7DD51F4015E}" destId="{D0B88557-AAE1-461E-B71B-EC3C01A391F8}" srcOrd="2" destOrd="0" parTransId="{03470577-BE57-4FAC-ABF1-5213D6C78171}" sibTransId="{B9455971-6299-4EFB-94EE-587E9D45F114}"/>
    <dgm:cxn modelId="{9AEF54B8-2F61-48EA-B6B8-CAE7BF0DF9CF}" type="presOf" srcId="{DDC00982-3837-492D-9800-A05572CE7E5B}" destId="{EEA9CA0B-72E5-4946-98EF-E0A440F668A3}" srcOrd="0" destOrd="0" presId="urn:microsoft.com/office/officeart/2005/8/layout/hChevron3"/>
    <dgm:cxn modelId="{89FB4FD6-8008-47EE-8229-BD3756605301}" srcId="{A9857572-AAA6-405C-A80C-C7DD51F4015E}" destId="{DDC00982-3837-492D-9800-A05572CE7E5B}" srcOrd="0" destOrd="0" parTransId="{14D92576-4AB6-458E-A7E7-19BF0F978125}" sibTransId="{413C63CF-A809-44DB-904A-7BDD374306CF}"/>
    <dgm:cxn modelId="{A15E84D8-1C52-402D-BB56-DAF5AFDDF016}" type="presOf" srcId="{049303C7-6FF4-4C08-BE55-D6CDFA7FBB18}" destId="{72BB5EB3-779C-47D5-B205-8B14D00BCD6E}" srcOrd="0" destOrd="0" presId="urn:microsoft.com/office/officeart/2005/8/layout/hChevron3"/>
    <dgm:cxn modelId="{DE905DE8-567F-4A1C-9496-B65422F6D059}" type="presOf" srcId="{A9857572-AAA6-405C-A80C-C7DD51F4015E}" destId="{DB9843C2-D48A-47DC-B34C-8310946C0214}" srcOrd="0" destOrd="0" presId="urn:microsoft.com/office/officeart/2005/8/layout/hChevron3"/>
    <dgm:cxn modelId="{CCA3DF28-8DD2-4D45-86F6-BFD45854849C}" type="presParOf" srcId="{DB9843C2-D48A-47DC-B34C-8310946C0214}" destId="{EEA9CA0B-72E5-4946-98EF-E0A440F668A3}" srcOrd="0" destOrd="0" presId="urn:microsoft.com/office/officeart/2005/8/layout/hChevron3"/>
    <dgm:cxn modelId="{17BF0560-01CE-4339-8A17-22E61351847A}" type="presParOf" srcId="{DB9843C2-D48A-47DC-B34C-8310946C0214}" destId="{E792449E-DFAE-46F7-A69A-D9C010AB271F}" srcOrd="1" destOrd="0" presId="urn:microsoft.com/office/officeart/2005/8/layout/hChevron3"/>
    <dgm:cxn modelId="{68B27DB4-614E-4BAE-9F60-0CB075645474}" type="presParOf" srcId="{DB9843C2-D48A-47DC-B34C-8310946C0214}" destId="{72BB5EB3-779C-47D5-B205-8B14D00BCD6E}" srcOrd="2" destOrd="0" presId="urn:microsoft.com/office/officeart/2005/8/layout/hChevron3"/>
    <dgm:cxn modelId="{777CD610-411B-43B2-8459-25C401777EAA}" type="presParOf" srcId="{DB9843C2-D48A-47DC-B34C-8310946C0214}" destId="{01D05ED2-0698-4134-BCCC-74E0C507B2B6}" srcOrd="3" destOrd="0" presId="urn:microsoft.com/office/officeart/2005/8/layout/hChevron3"/>
    <dgm:cxn modelId="{2BFFEB1E-82AA-4CBB-93F9-06D4DF2A33D7}" type="presParOf" srcId="{DB9843C2-D48A-47DC-B34C-8310946C0214}" destId="{E0655284-A514-44EE-8A45-70159D9E22FD}"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221842-5096-409A-97B4-AB08F36DCA27}" type="doc">
      <dgm:prSet loTypeId="urn:microsoft.com/office/officeart/2005/8/layout/venn1" loCatId="relationship" qsTypeId="urn:microsoft.com/office/officeart/2005/8/quickstyle/simple1" qsCatId="simple" csTypeId="urn:microsoft.com/office/officeart/2005/8/colors/colorful4" csCatId="colorful" phldr="1"/>
      <dgm:spPr/>
    </dgm:pt>
    <dgm:pt modelId="{D66A8D5B-3B04-48CE-A764-45857CB1CC8A}">
      <dgm:prSet phldrT="[Texto]"/>
      <dgm:spPr/>
      <dgm:t>
        <a:bodyPr/>
        <a:lstStyle/>
        <a:p>
          <a:r>
            <a:rPr lang="es-ES" dirty="0"/>
            <a:t>Tipo de conexión</a:t>
          </a:r>
          <a:endParaRPr lang="es-CO" dirty="0"/>
        </a:p>
      </dgm:t>
    </dgm:pt>
    <dgm:pt modelId="{823E08AF-4D0A-408E-9FDA-8C499BA6427A}" type="parTrans" cxnId="{ACB55E64-2102-4030-8497-ED820710560F}">
      <dgm:prSet/>
      <dgm:spPr/>
      <dgm:t>
        <a:bodyPr/>
        <a:lstStyle/>
        <a:p>
          <a:endParaRPr lang="es-CO"/>
        </a:p>
      </dgm:t>
    </dgm:pt>
    <dgm:pt modelId="{122952D4-E59F-4339-AFBB-17000197FD2D}" type="sibTrans" cxnId="{ACB55E64-2102-4030-8497-ED820710560F}">
      <dgm:prSet/>
      <dgm:spPr/>
      <dgm:t>
        <a:bodyPr/>
        <a:lstStyle/>
        <a:p>
          <a:endParaRPr lang="es-CO"/>
        </a:p>
      </dgm:t>
    </dgm:pt>
    <dgm:pt modelId="{1DDF76EE-809D-4B90-90E6-4D1427EAF9A3}">
      <dgm:prSet phldrT="[Texto]"/>
      <dgm:spPr/>
      <dgm:t>
        <a:bodyPr/>
        <a:lstStyle/>
        <a:p>
          <a:r>
            <a:rPr lang="es-ES" dirty="0"/>
            <a:t>Cobertura</a:t>
          </a:r>
          <a:endParaRPr lang="es-CO" dirty="0"/>
        </a:p>
      </dgm:t>
    </dgm:pt>
    <dgm:pt modelId="{85F1B0FE-C3E6-4C94-9DB9-17CA832612F9}" type="parTrans" cxnId="{7DCAB2D0-0A42-4598-8606-E6C8C218EF6E}">
      <dgm:prSet/>
      <dgm:spPr/>
      <dgm:t>
        <a:bodyPr/>
        <a:lstStyle/>
        <a:p>
          <a:endParaRPr lang="es-CO"/>
        </a:p>
      </dgm:t>
    </dgm:pt>
    <dgm:pt modelId="{32889209-8B47-462C-858F-205750A64438}" type="sibTrans" cxnId="{7DCAB2D0-0A42-4598-8606-E6C8C218EF6E}">
      <dgm:prSet/>
      <dgm:spPr/>
      <dgm:t>
        <a:bodyPr/>
        <a:lstStyle/>
        <a:p>
          <a:endParaRPr lang="es-CO"/>
        </a:p>
      </dgm:t>
    </dgm:pt>
    <dgm:pt modelId="{F3D59EE9-00F5-4824-86D0-E31968CD9B4D}">
      <dgm:prSet phldrT="[Texto]"/>
      <dgm:spPr/>
      <dgm:t>
        <a:bodyPr/>
        <a:lstStyle/>
        <a:p>
          <a:pPr algn="ctr"/>
          <a:r>
            <a:rPr lang="es-ES" dirty="0"/>
            <a:t>Topología</a:t>
          </a:r>
          <a:endParaRPr lang="es-CO" dirty="0"/>
        </a:p>
      </dgm:t>
    </dgm:pt>
    <dgm:pt modelId="{35032541-2A97-4A5E-8136-26484E0B6011}" type="parTrans" cxnId="{1D50CBB3-1AA0-4233-A431-4F76BC3F59F7}">
      <dgm:prSet/>
      <dgm:spPr/>
      <dgm:t>
        <a:bodyPr/>
        <a:lstStyle/>
        <a:p>
          <a:endParaRPr lang="es-CO"/>
        </a:p>
      </dgm:t>
    </dgm:pt>
    <dgm:pt modelId="{16C68DEA-A255-4598-8C99-205CF18F997E}" type="sibTrans" cxnId="{1D50CBB3-1AA0-4233-A431-4F76BC3F59F7}">
      <dgm:prSet/>
      <dgm:spPr/>
      <dgm:t>
        <a:bodyPr/>
        <a:lstStyle/>
        <a:p>
          <a:endParaRPr lang="es-CO"/>
        </a:p>
      </dgm:t>
    </dgm:pt>
    <dgm:pt modelId="{BAAB744F-EB2F-47AF-B84C-3F5DD6A44EB9}" type="pres">
      <dgm:prSet presAssocID="{15221842-5096-409A-97B4-AB08F36DCA27}" presName="compositeShape" presStyleCnt="0">
        <dgm:presLayoutVars>
          <dgm:chMax val="7"/>
          <dgm:dir/>
          <dgm:resizeHandles val="exact"/>
        </dgm:presLayoutVars>
      </dgm:prSet>
      <dgm:spPr/>
    </dgm:pt>
    <dgm:pt modelId="{39AA1700-60D2-4749-BE8E-06365D01F6EB}" type="pres">
      <dgm:prSet presAssocID="{D66A8D5B-3B04-48CE-A764-45857CB1CC8A}" presName="circ1" presStyleLbl="vennNode1" presStyleIdx="0" presStyleCnt="3"/>
      <dgm:spPr/>
    </dgm:pt>
    <dgm:pt modelId="{629EB6CB-6574-4630-ABF4-0A3EA86E7893}" type="pres">
      <dgm:prSet presAssocID="{D66A8D5B-3B04-48CE-A764-45857CB1CC8A}" presName="circ1Tx" presStyleLbl="revTx" presStyleIdx="0" presStyleCnt="0">
        <dgm:presLayoutVars>
          <dgm:chMax val="0"/>
          <dgm:chPref val="0"/>
          <dgm:bulletEnabled val="1"/>
        </dgm:presLayoutVars>
      </dgm:prSet>
      <dgm:spPr/>
    </dgm:pt>
    <dgm:pt modelId="{1509AB95-EE24-430A-9FB8-BF0AE455B01B}" type="pres">
      <dgm:prSet presAssocID="{1DDF76EE-809D-4B90-90E6-4D1427EAF9A3}" presName="circ2" presStyleLbl="vennNode1" presStyleIdx="1" presStyleCnt="3"/>
      <dgm:spPr/>
    </dgm:pt>
    <dgm:pt modelId="{B2C2A610-9B68-444D-88BB-6317799D8CE6}" type="pres">
      <dgm:prSet presAssocID="{1DDF76EE-809D-4B90-90E6-4D1427EAF9A3}" presName="circ2Tx" presStyleLbl="revTx" presStyleIdx="0" presStyleCnt="0">
        <dgm:presLayoutVars>
          <dgm:chMax val="0"/>
          <dgm:chPref val="0"/>
          <dgm:bulletEnabled val="1"/>
        </dgm:presLayoutVars>
      </dgm:prSet>
      <dgm:spPr/>
    </dgm:pt>
    <dgm:pt modelId="{50D1BB85-1F32-4B45-82D6-DBA9172228A1}" type="pres">
      <dgm:prSet presAssocID="{F3D59EE9-00F5-4824-86D0-E31968CD9B4D}" presName="circ3" presStyleLbl="vennNode1" presStyleIdx="2" presStyleCnt="3"/>
      <dgm:spPr/>
    </dgm:pt>
    <dgm:pt modelId="{2504A98F-EE5C-4B54-ADEB-6C6B8D305A52}" type="pres">
      <dgm:prSet presAssocID="{F3D59EE9-00F5-4824-86D0-E31968CD9B4D}" presName="circ3Tx" presStyleLbl="revTx" presStyleIdx="0" presStyleCnt="0">
        <dgm:presLayoutVars>
          <dgm:chMax val="0"/>
          <dgm:chPref val="0"/>
          <dgm:bulletEnabled val="1"/>
        </dgm:presLayoutVars>
      </dgm:prSet>
      <dgm:spPr/>
    </dgm:pt>
  </dgm:ptLst>
  <dgm:cxnLst>
    <dgm:cxn modelId="{A48CC20D-91C9-4597-B1F5-46B5E090CD14}" type="presOf" srcId="{15221842-5096-409A-97B4-AB08F36DCA27}" destId="{BAAB744F-EB2F-47AF-B84C-3F5DD6A44EB9}" srcOrd="0" destOrd="0" presId="urn:microsoft.com/office/officeart/2005/8/layout/venn1"/>
    <dgm:cxn modelId="{ACB55E64-2102-4030-8497-ED820710560F}" srcId="{15221842-5096-409A-97B4-AB08F36DCA27}" destId="{D66A8D5B-3B04-48CE-A764-45857CB1CC8A}" srcOrd="0" destOrd="0" parTransId="{823E08AF-4D0A-408E-9FDA-8C499BA6427A}" sibTransId="{122952D4-E59F-4339-AFBB-17000197FD2D}"/>
    <dgm:cxn modelId="{F8731972-B4D0-40BB-9444-A04FE7985DDD}" type="presOf" srcId="{1DDF76EE-809D-4B90-90E6-4D1427EAF9A3}" destId="{B2C2A610-9B68-444D-88BB-6317799D8CE6}" srcOrd="1" destOrd="0" presId="urn:microsoft.com/office/officeart/2005/8/layout/venn1"/>
    <dgm:cxn modelId="{A1540E86-3E9D-4595-9FE1-1AA5F3A3E523}" type="presOf" srcId="{D66A8D5B-3B04-48CE-A764-45857CB1CC8A}" destId="{629EB6CB-6574-4630-ABF4-0A3EA86E7893}" srcOrd="1" destOrd="0" presId="urn:microsoft.com/office/officeart/2005/8/layout/venn1"/>
    <dgm:cxn modelId="{212CD2AC-16FA-4CC4-8017-4AD902111B87}" type="presOf" srcId="{F3D59EE9-00F5-4824-86D0-E31968CD9B4D}" destId="{2504A98F-EE5C-4B54-ADEB-6C6B8D305A52}" srcOrd="1" destOrd="0" presId="urn:microsoft.com/office/officeart/2005/8/layout/venn1"/>
    <dgm:cxn modelId="{1D50CBB3-1AA0-4233-A431-4F76BC3F59F7}" srcId="{15221842-5096-409A-97B4-AB08F36DCA27}" destId="{F3D59EE9-00F5-4824-86D0-E31968CD9B4D}" srcOrd="2" destOrd="0" parTransId="{35032541-2A97-4A5E-8136-26484E0B6011}" sibTransId="{16C68DEA-A255-4598-8C99-205CF18F997E}"/>
    <dgm:cxn modelId="{19BB41B5-86FB-48D3-9646-DB5983BC9828}" type="presOf" srcId="{F3D59EE9-00F5-4824-86D0-E31968CD9B4D}" destId="{50D1BB85-1F32-4B45-82D6-DBA9172228A1}" srcOrd="0" destOrd="0" presId="urn:microsoft.com/office/officeart/2005/8/layout/venn1"/>
    <dgm:cxn modelId="{7DCAB2D0-0A42-4598-8606-E6C8C218EF6E}" srcId="{15221842-5096-409A-97B4-AB08F36DCA27}" destId="{1DDF76EE-809D-4B90-90E6-4D1427EAF9A3}" srcOrd="1" destOrd="0" parTransId="{85F1B0FE-C3E6-4C94-9DB9-17CA832612F9}" sibTransId="{32889209-8B47-462C-858F-205750A64438}"/>
    <dgm:cxn modelId="{008CC2D3-58B7-42C0-8D6C-17D31390130C}" type="presOf" srcId="{1DDF76EE-809D-4B90-90E6-4D1427EAF9A3}" destId="{1509AB95-EE24-430A-9FB8-BF0AE455B01B}" srcOrd="0" destOrd="0" presId="urn:microsoft.com/office/officeart/2005/8/layout/venn1"/>
    <dgm:cxn modelId="{077408E0-F99E-488F-806B-0131F27FAFC6}" type="presOf" srcId="{D66A8D5B-3B04-48CE-A764-45857CB1CC8A}" destId="{39AA1700-60D2-4749-BE8E-06365D01F6EB}" srcOrd="0" destOrd="0" presId="urn:microsoft.com/office/officeart/2005/8/layout/venn1"/>
    <dgm:cxn modelId="{FCA2D815-E740-4FEC-80AD-4C9E448B051F}" type="presParOf" srcId="{BAAB744F-EB2F-47AF-B84C-3F5DD6A44EB9}" destId="{39AA1700-60D2-4749-BE8E-06365D01F6EB}" srcOrd="0" destOrd="0" presId="urn:microsoft.com/office/officeart/2005/8/layout/venn1"/>
    <dgm:cxn modelId="{ADF74A19-228A-4CC2-B62D-8A11D60E1FFD}" type="presParOf" srcId="{BAAB744F-EB2F-47AF-B84C-3F5DD6A44EB9}" destId="{629EB6CB-6574-4630-ABF4-0A3EA86E7893}" srcOrd="1" destOrd="0" presId="urn:microsoft.com/office/officeart/2005/8/layout/venn1"/>
    <dgm:cxn modelId="{A699C928-C322-41C7-BE5A-CA8086BDAB05}" type="presParOf" srcId="{BAAB744F-EB2F-47AF-B84C-3F5DD6A44EB9}" destId="{1509AB95-EE24-430A-9FB8-BF0AE455B01B}" srcOrd="2" destOrd="0" presId="urn:microsoft.com/office/officeart/2005/8/layout/venn1"/>
    <dgm:cxn modelId="{B1FF4D3B-4FD1-4897-9A2F-AA2C774514E6}" type="presParOf" srcId="{BAAB744F-EB2F-47AF-B84C-3F5DD6A44EB9}" destId="{B2C2A610-9B68-444D-88BB-6317799D8CE6}" srcOrd="3" destOrd="0" presId="urn:microsoft.com/office/officeart/2005/8/layout/venn1"/>
    <dgm:cxn modelId="{F3DE809E-5402-4EF5-987C-2B9B361AFE95}" type="presParOf" srcId="{BAAB744F-EB2F-47AF-B84C-3F5DD6A44EB9}" destId="{50D1BB85-1F32-4B45-82D6-DBA9172228A1}" srcOrd="4" destOrd="0" presId="urn:microsoft.com/office/officeart/2005/8/layout/venn1"/>
    <dgm:cxn modelId="{D0FB0B05-34C3-4F6E-BAAA-2F4CFCE6B151}" type="presParOf" srcId="{BAAB744F-EB2F-47AF-B84C-3F5DD6A44EB9}" destId="{2504A98F-EE5C-4B54-ADEB-6C6B8D305A52}"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5D38E2-917A-45ED-8574-8FCB7240D145}" type="doc">
      <dgm:prSet loTypeId="urn:microsoft.com/office/officeart/2008/layout/TitledPictureBlocks" loCatId="picture" qsTypeId="urn:microsoft.com/office/officeart/2005/8/quickstyle/simple1" qsCatId="simple" csTypeId="urn:microsoft.com/office/officeart/2005/8/colors/colorful3" csCatId="colorful" phldr="1"/>
      <dgm:spPr/>
      <dgm:t>
        <a:bodyPr/>
        <a:lstStyle/>
        <a:p>
          <a:endParaRPr lang="es-CO"/>
        </a:p>
      </dgm:t>
    </dgm:pt>
    <dgm:pt modelId="{EC98189B-177E-463C-9665-9938D374B4B9}">
      <dgm:prSet phldrT="[Texto]" custT="1"/>
      <dgm:spPr/>
      <dgm:t>
        <a:bodyPr/>
        <a:lstStyle/>
        <a:p>
          <a:r>
            <a:rPr lang="es-ES" sz="2400" dirty="0">
              <a:latin typeface="Arial Narrow" panose="020B0606020202030204" pitchFamily="34" charset="0"/>
            </a:rPr>
            <a:t>Malla</a:t>
          </a:r>
          <a:endParaRPr lang="es-CO" sz="2400" dirty="0">
            <a:latin typeface="Arial Narrow" panose="020B0606020202030204" pitchFamily="34" charset="0"/>
          </a:endParaRPr>
        </a:p>
      </dgm:t>
    </dgm:pt>
    <dgm:pt modelId="{E8025018-106B-46DD-AA5A-CC193292F2EF}" type="parTrans" cxnId="{033DCCBA-8C22-4A59-A75A-7F6FA52D5F72}">
      <dgm:prSet/>
      <dgm:spPr/>
      <dgm:t>
        <a:bodyPr/>
        <a:lstStyle/>
        <a:p>
          <a:endParaRPr lang="es-CO"/>
        </a:p>
      </dgm:t>
    </dgm:pt>
    <dgm:pt modelId="{40249262-B42E-48BB-9623-752ADDA9BE34}" type="sibTrans" cxnId="{033DCCBA-8C22-4A59-A75A-7F6FA52D5F72}">
      <dgm:prSet/>
      <dgm:spPr/>
      <dgm:t>
        <a:bodyPr/>
        <a:lstStyle/>
        <a:p>
          <a:endParaRPr lang="es-CO"/>
        </a:p>
      </dgm:t>
    </dgm:pt>
    <dgm:pt modelId="{BC3B997B-292B-4A10-B075-8427A87A36B7}">
      <dgm:prSet phldrT="[Texto]"/>
      <dgm:spPr/>
      <dgm:t>
        <a:bodyPr/>
        <a:lstStyle/>
        <a:p>
          <a:r>
            <a:rPr lang="es-ES" dirty="0">
              <a:latin typeface="Calibri"/>
              <a:cs typeface="Calibri"/>
            </a:rPr>
            <a:t>Una</a:t>
          </a:r>
          <a:r>
            <a:rPr lang="es-ES" spc="-10" dirty="0">
              <a:latin typeface="Calibri"/>
              <a:cs typeface="Calibri"/>
            </a:rPr>
            <a:t> red</a:t>
          </a:r>
          <a:r>
            <a:rPr lang="es-ES" spc="10" dirty="0">
              <a:latin typeface="Calibri"/>
              <a:cs typeface="Calibri"/>
            </a:rPr>
            <a:t> </a:t>
          </a:r>
          <a:r>
            <a:rPr lang="es-ES" spc="-5" dirty="0">
              <a:latin typeface="Calibri"/>
              <a:cs typeface="Calibri"/>
            </a:rPr>
            <a:t>en</a:t>
          </a:r>
          <a:r>
            <a:rPr lang="es-ES" dirty="0">
              <a:latin typeface="Calibri"/>
              <a:cs typeface="Calibri"/>
            </a:rPr>
            <a:t> </a:t>
          </a:r>
          <a:r>
            <a:rPr lang="es-ES" spc="-5" dirty="0">
              <a:latin typeface="Calibri"/>
              <a:cs typeface="Calibri"/>
            </a:rPr>
            <a:t>malla</a:t>
          </a:r>
          <a:r>
            <a:rPr lang="es-ES" spc="25" dirty="0">
              <a:latin typeface="Calibri"/>
              <a:cs typeface="Calibri"/>
            </a:rPr>
            <a:t> </a:t>
          </a:r>
          <a:r>
            <a:rPr lang="es-ES" spc="-10" dirty="0">
              <a:latin typeface="Calibri"/>
              <a:cs typeface="Calibri"/>
            </a:rPr>
            <a:t>completamente</a:t>
          </a:r>
          <a:r>
            <a:rPr lang="es-ES" spc="25" dirty="0">
              <a:latin typeface="Calibri"/>
              <a:cs typeface="Calibri"/>
            </a:rPr>
            <a:t> </a:t>
          </a:r>
          <a:r>
            <a:rPr lang="es-ES" spc="-5" dirty="0">
              <a:latin typeface="Calibri"/>
              <a:cs typeface="Calibri"/>
            </a:rPr>
            <a:t>conectada,</a:t>
          </a:r>
          <a:r>
            <a:rPr lang="es-ES" spc="-10" dirty="0">
              <a:latin typeface="Calibri"/>
              <a:cs typeface="Calibri"/>
            </a:rPr>
            <a:t> </a:t>
          </a:r>
          <a:r>
            <a:rPr lang="es-ES" spc="-5" dirty="0">
              <a:latin typeface="Calibri"/>
              <a:cs typeface="Calibri"/>
            </a:rPr>
            <a:t>se</a:t>
          </a:r>
          <a:r>
            <a:rPr lang="es-ES" spc="5" dirty="0">
              <a:latin typeface="Calibri"/>
              <a:cs typeface="Calibri"/>
            </a:rPr>
            <a:t> </a:t>
          </a:r>
          <a:r>
            <a:rPr lang="es-ES" spc="-5" dirty="0">
              <a:latin typeface="Calibri"/>
              <a:cs typeface="Calibri"/>
            </a:rPr>
            <a:t>necesitan</a:t>
          </a:r>
          <a:r>
            <a:rPr lang="es-ES" spc="10" dirty="0">
              <a:latin typeface="Calibri"/>
              <a:cs typeface="Calibri"/>
            </a:rPr>
            <a:t> </a:t>
          </a:r>
          <a:r>
            <a:rPr lang="es-ES" b="1" dirty="0">
              <a:latin typeface="Calibri"/>
              <a:cs typeface="Calibri"/>
            </a:rPr>
            <a:t>n(n-1)/2</a:t>
          </a:r>
          <a:r>
            <a:rPr lang="es-ES" b="1" spc="-15" dirty="0">
              <a:latin typeface="Calibri"/>
              <a:cs typeface="Calibri"/>
            </a:rPr>
            <a:t> </a:t>
          </a:r>
          <a:r>
            <a:rPr lang="es-ES" dirty="0">
              <a:latin typeface="Calibri"/>
              <a:cs typeface="Calibri"/>
            </a:rPr>
            <a:t>enlaces </a:t>
          </a:r>
          <a:r>
            <a:rPr lang="es-ES" spc="-5" dirty="0">
              <a:latin typeface="Calibri"/>
              <a:cs typeface="Calibri"/>
            </a:rPr>
            <a:t>físicos</a:t>
          </a:r>
          <a:endParaRPr lang="es-CO" dirty="0"/>
        </a:p>
      </dgm:t>
    </dgm:pt>
    <dgm:pt modelId="{29EFE6E6-198E-492C-82E6-9FA2F9A46B22}" type="parTrans" cxnId="{6A0A8FEB-6A5E-4EDB-A1DE-E9C3BD5E63F8}">
      <dgm:prSet/>
      <dgm:spPr/>
      <dgm:t>
        <a:bodyPr/>
        <a:lstStyle/>
        <a:p>
          <a:endParaRPr lang="es-CO"/>
        </a:p>
      </dgm:t>
    </dgm:pt>
    <dgm:pt modelId="{B9F63480-38F6-42A9-A015-9FC65B3D9676}" type="sibTrans" cxnId="{6A0A8FEB-6A5E-4EDB-A1DE-E9C3BD5E63F8}">
      <dgm:prSet/>
      <dgm:spPr/>
      <dgm:t>
        <a:bodyPr/>
        <a:lstStyle/>
        <a:p>
          <a:endParaRPr lang="es-CO"/>
        </a:p>
      </dgm:t>
    </dgm:pt>
    <dgm:pt modelId="{C9B782EA-1C22-4B0D-85EA-609B4832E555}">
      <dgm:prSet phldrT="[Texto]"/>
      <dgm:spPr/>
      <dgm:t>
        <a:bodyPr/>
        <a:lstStyle/>
        <a:p>
          <a:r>
            <a:rPr lang="es-ES" dirty="0"/>
            <a:t>Estrella</a:t>
          </a:r>
          <a:endParaRPr lang="es-CO" dirty="0"/>
        </a:p>
      </dgm:t>
    </dgm:pt>
    <dgm:pt modelId="{AE061FB0-9C54-41EA-B619-15EABCA4D92D}" type="parTrans" cxnId="{EF3427A6-437D-4CA9-8015-F5CC2206CD40}">
      <dgm:prSet/>
      <dgm:spPr/>
      <dgm:t>
        <a:bodyPr/>
        <a:lstStyle/>
        <a:p>
          <a:endParaRPr lang="es-CO"/>
        </a:p>
      </dgm:t>
    </dgm:pt>
    <dgm:pt modelId="{0ED910B4-3A15-46EF-AAE1-6AC7572AA0E8}" type="sibTrans" cxnId="{EF3427A6-437D-4CA9-8015-F5CC2206CD40}">
      <dgm:prSet/>
      <dgm:spPr/>
      <dgm:t>
        <a:bodyPr/>
        <a:lstStyle/>
        <a:p>
          <a:endParaRPr lang="es-CO"/>
        </a:p>
      </dgm:t>
    </dgm:pt>
    <dgm:pt modelId="{13CB197F-0D98-4EA4-B4D3-D73DB479F428}">
      <dgm:prSet phldrT="[Texto]"/>
      <dgm:spPr/>
      <dgm:t>
        <a:bodyPr/>
        <a:lstStyle/>
        <a:p>
          <a:r>
            <a:rPr lang="es-ES" dirty="0"/>
            <a:t>Anillo</a:t>
          </a:r>
          <a:endParaRPr lang="es-CO" dirty="0"/>
        </a:p>
      </dgm:t>
    </dgm:pt>
    <dgm:pt modelId="{6A9ACA43-B715-428C-85BE-A70952CEB2FD}" type="parTrans" cxnId="{17ADC0A0-4E44-4A33-8BD4-5E753D85307C}">
      <dgm:prSet/>
      <dgm:spPr/>
      <dgm:t>
        <a:bodyPr/>
        <a:lstStyle/>
        <a:p>
          <a:endParaRPr lang="es-CO"/>
        </a:p>
      </dgm:t>
    </dgm:pt>
    <dgm:pt modelId="{9A4CC496-0AB6-4AAB-BD07-CB6BE2047C69}" type="sibTrans" cxnId="{17ADC0A0-4E44-4A33-8BD4-5E753D85307C}">
      <dgm:prSet/>
      <dgm:spPr/>
      <dgm:t>
        <a:bodyPr/>
        <a:lstStyle/>
        <a:p>
          <a:endParaRPr lang="es-CO"/>
        </a:p>
      </dgm:t>
    </dgm:pt>
    <dgm:pt modelId="{EE6C1FB9-A4C1-4207-B6FB-05BFCF50112E}">
      <dgm:prSet phldrT="[Texto]"/>
      <dgm:spPr/>
      <dgm:t>
        <a:bodyPr/>
        <a:lstStyle/>
        <a:p>
          <a:r>
            <a:rPr lang="es-ES" dirty="0"/>
            <a:t>Bus</a:t>
          </a:r>
          <a:endParaRPr lang="es-CO" dirty="0"/>
        </a:p>
      </dgm:t>
    </dgm:pt>
    <dgm:pt modelId="{CA4CA6E4-6C7C-401B-ABEB-96C230DDA46A}" type="parTrans" cxnId="{722DAF3C-46C6-44BA-900D-890EDB2E27B3}">
      <dgm:prSet/>
      <dgm:spPr/>
      <dgm:t>
        <a:bodyPr/>
        <a:lstStyle/>
        <a:p>
          <a:endParaRPr lang="es-CO"/>
        </a:p>
      </dgm:t>
    </dgm:pt>
    <dgm:pt modelId="{B1E7334C-E271-4D46-A94A-0FD9F5ECC5AA}" type="sibTrans" cxnId="{722DAF3C-46C6-44BA-900D-890EDB2E27B3}">
      <dgm:prSet/>
      <dgm:spPr/>
      <dgm:t>
        <a:bodyPr/>
        <a:lstStyle/>
        <a:p>
          <a:endParaRPr lang="es-CO"/>
        </a:p>
      </dgm:t>
    </dgm:pt>
    <dgm:pt modelId="{C6A6D35C-B55B-46E6-894C-DE31D1A5EBE1}">
      <dgm:prSet phldrT="[Texto]"/>
      <dgm:spPr/>
      <dgm:t>
        <a:bodyPr/>
        <a:lstStyle/>
        <a:p>
          <a:r>
            <a:rPr lang="es-ES" dirty="0"/>
            <a:t>Hibrido</a:t>
          </a:r>
          <a:endParaRPr lang="es-CO" dirty="0"/>
        </a:p>
      </dgm:t>
    </dgm:pt>
    <dgm:pt modelId="{AEDBC449-3BE0-4F2E-9010-BA97DEE777F4}" type="parTrans" cxnId="{8541214A-15FF-4BD5-ACD5-331CCA992A4E}">
      <dgm:prSet/>
      <dgm:spPr/>
      <dgm:t>
        <a:bodyPr/>
        <a:lstStyle/>
        <a:p>
          <a:endParaRPr lang="es-CO"/>
        </a:p>
      </dgm:t>
    </dgm:pt>
    <dgm:pt modelId="{6CCE9E91-4BFC-45A5-8B3D-78B98B4AAF30}" type="sibTrans" cxnId="{8541214A-15FF-4BD5-ACD5-331CCA992A4E}">
      <dgm:prSet/>
      <dgm:spPr/>
      <dgm:t>
        <a:bodyPr/>
        <a:lstStyle/>
        <a:p>
          <a:endParaRPr lang="es-CO"/>
        </a:p>
      </dgm:t>
    </dgm:pt>
    <dgm:pt modelId="{964187E2-84C2-4E7E-BA22-A8148691852F}" type="pres">
      <dgm:prSet presAssocID="{015D38E2-917A-45ED-8574-8FCB7240D145}" presName="rootNode" presStyleCnt="0">
        <dgm:presLayoutVars>
          <dgm:chMax/>
          <dgm:chPref/>
          <dgm:dir/>
          <dgm:animLvl val="lvl"/>
        </dgm:presLayoutVars>
      </dgm:prSet>
      <dgm:spPr/>
    </dgm:pt>
    <dgm:pt modelId="{495AEAAE-9E3D-42C2-B4C1-60868DAC9435}" type="pres">
      <dgm:prSet presAssocID="{EC98189B-177E-463C-9665-9938D374B4B9}" presName="composite" presStyleCnt="0"/>
      <dgm:spPr/>
    </dgm:pt>
    <dgm:pt modelId="{6DF24B5D-150A-47C3-AB7E-BE21BBA1F8C0}" type="pres">
      <dgm:prSet presAssocID="{EC98189B-177E-463C-9665-9938D374B4B9}" presName="ParentText" presStyleLbl="node1" presStyleIdx="0" presStyleCnt="5" custLinFactY="-17639" custLinFactNeighborX="1144" custLinFactNeighborY="-100000">
        <dgm:presLayoutVars>
          <dgm:chMax val="1"/>
          <dgm:chPref val="1"/>
          <dgm:bulletEnabled val="1"/>
        </dgm:presLayoutVars>
      </dgm:prSet>
      <dgm:spPr/>
    </dgm:pt>
    <dgm:pt modelId="{2DD8A6BF-CA1C-4017-8066-CFD255E09BC3}" type="pres">
      <dgm:prSet presAssocID="{EC98189B-177E-463C-9665-9938D374B4B9}" presName="Image" presStyleLbl="bgImgPlace1" presStyleIdx="0" presStyleCnt="5" custScaleX="86479" custScaleY="90461" custLinFactNeighborX="-2841" custLinFactNeighborY="-2265"/>
      <dgm:spPr>
        <a:blipFill>
          <a:blip xmlns:r="http://schemas.openxmlformats.org/officeDocument/2006/relationships" r:embed="rId1">
            <a:extLst>
              <a:ext uri="{28A0092B-C50C-407E-A947-70E740481C1C}">
                <a14:useLocalDpi xmlns:a14="http://schemas.microsoft.com/office/drawing/2010/main" val="0"/>
              </a:ext>
            </a:extLst>
          </a:blip>
          <a:srcRect/>
          <a:stretch>
            <a:fillRect t="-4000" b="-4000"/>
          </a:stretch>
        </a:blipFill>
      </dgm:spPr>
    </dgm:pt>
    <dgm:pt modelId="{B7AB2AB7-0D41-4C19-A902-684EA9E762B0}" type="pres">
      <dgm:prSet presAssocID="{EC98189B-177E-463C-9665-9938D374B4B9}" presName="ChildText" presStyleLbl="fgAcc1" presStyleIdx="0" presStyleCnt="1" custScaleX="118562" custScaleY="88257">
        <dgm:presLayoutVars>
          <dgm:chMax val="0"/>
          <dgm:chPref val="0"/>
          <dgm:bulletEnabled val="1"/>
        </dgm:presLayoutVars>
      </dgm:prSet>
      <dgm:spPr/>
    </dgm:pt>
    <dgm:pt modelId="{3D89276F-F29F-44D9-BFB7-930433FEC15D}" type="pres">
      <dgm:prSet presAssocID="{40249262-B42E-48BB-9623-752ADDA9BE34}" presName="sibTrans" presStyleCnt="0"/>
      <dgm:spPr/>
    </dgm:pt>
    <dgm:pt modelId="{AA8698FD-705C-4EF7-8D9B-656E34814AF1}" type="pres">
      <dgm:prSet presAssocID="{C9B782EA-1C22-4B0D-85EA-609B4832E555}" presName="composite" presStyleCnt="0"/>
      <dgm:spPr/>
    </dgm:pt>
    <dgm:pt modelId="{04FE2787-A327-4510-8133-20841B596207}" type="pres">
      <dgm:prSet presAssocID="{C9B782EA-1C22-4B0D-85EA-609B4832E555}" presName="ParentText" presStyleLbl="node1" presStyleIdx="1" presStyleCnt="5" custLinFactY="-46077" custLinFactNeighborX="-1639" custLinFactNeighborY="-100000">
        <dgm:presLayoutVars>
          <dgm:chMax val="1"/>
          <dgm:chPref val="1"/>
          <dgm:bulletEnabled val="1"/>
        </dgm:presLayoutVars>
      </dgm:prSet>
      <dgm:spPr/>
    </dgm:pt>
    <dgm:pt modelId="{950DF30F-0C0D-4BA3-8C28-072158FB1CC0}" type="pres">
      <dgm:prSet presAssocID="{C9B782EA-1C22-4B0D-85EA-609B4832E555}" presName="Image" presStyleLbl="bgImgPlace1" presStyleIdx="1" presStyleCnt="5" custScaleX="91873" custScaleY="82826" custLinFactNeighborX="611" custLinFactNeighborY="-7865"/>
      <dgm:spPr>
        <a:blipFill>
          <a:blip xmlns:r="http://schemas.openxmlformats.org/officeDocument/2006/relationships" r:embed="rId2">
            <a:extLst>
              <a:ext uri="{28A0092B-C50C-407E-A947-70E740481C1C}">
                <a14:useLocalDpi xmlns:a14="http://schemas.microsoft.com/office/drawing/2010/main" val="0"/>
              </a:ext>
            </a:extLst>
          </a:blip>
          <a:srcRect/>
          <a:stretch>
            <a:fillRect t="-8000" b="-8000"/>
          </a:stretch>
        </a:blipFill>
      </dgm:spPr>
    </dgm:pt>
    <dgm:pt modelId="{EB2D57E0-E362-403B-90D6-1AFAD9041F63}" type="pres">
      <dgm:prSet presAssocID="{C9B782EA-1C22-4B0D-85EA-609B4832E555}" presName="ChildText" presStyleLbl="fgAcc1" presStyleIdx="0" presStyleCnt="1">
        <dgm:presLayoutVars>
          <dgm:chMax val="0"/>
          <dgm:chPref val="0"/>
          <dgm:bulletEnabled val="1"/>
        </dgm:presLayoutVars>
      </dgm:prSet>
      <dgm:spPr/>
    </dgm:pt>
    <dgm:pt modelId="{F8577770-3C61-42EA-A190-D1A3D9E4217F}" type="pres">
      <dgm:prSet presAssocID="{0ED910B4-3A15-46EF-AAE1-6AC7572AA0E8}" presName="sibTrans" presStyleCnt="0"/>
      <dgm:spPr/>
    </dgm:pt>
    <dgm:pt modelId="{003051A7-9CDF-45A7-8844-3F405BB8B3D5}" type="pres">
      <dgm:prSet presAssocID="{C6A6D35C-B55B-46E6-894C-DE31D1A5EBE1}" presName="composite" presStyleCnt="0"/>
      <dgm:spPr/>
    </dgm:pt>
    <dgm:pt modelId="{9B47E73F-21F8-4323-90DA-E957E8372AF7}" type="pres">
      <dgm:prSet presAssocID="{C6A6D35C-B55B-46E6-894C-DE31D1A5EBE1}" presName="ParentText" presStyleLbl="node1" presStyleIdx="2" presStyleCnt="5">
        <dgm:presLayoutVars>
          <dgm:chMax val="1"/>
          <dgm:chPref val="1"/>
          <dgm:bulletEnabled val="1"/>
        </dgm:presLayoutVars>
      </dgm:prSet>
      <dgm:spPr/>
    </dgm:pt>
    <dgm:pt modelId="{F562449E-6E38-46F1-86C5-438B57FA0F94}" type="pres">
      <dgm:prSet presAssocID="{C6A6D35C-B55B-46E6-894C-DE31D1A5EBE1}" presName="Image" presStyleLbl="bgImgPlace1" presStyleIdx="2" presStyleCnt="5"/>
      <dgm:spPr>
        <a:blipFill>
          <a:blip xmlns:r="http://schemas.openxmlformats.org/officeDocument/2006/relationships" r:embed="rId3">
            <a:extLst>
              <a:ext uri="{28A0092B-C50C-407E-A947-70E740481C1C}">
                <a14:useLocalDpi xmlns:a14="http://schemas.microsoft.com/office/drawing/2010/main" val="0"/>
              </a:ext>
            </a:extLst>
          </a:blip>
          <a:srcRect/>
          <a:stretch>
            <a:fillRect l="-4000" r="-4000"/>
          </a:stretch>
        </a:blipFill>
      </dgm:spPr>
    </dgm:pt>
    <dgm:pt modelId="{F22BBFC9-C083-480D-9066-037D992AAF9D}" type="pres">
      <dgm:prSet presAssocID="{C6A6D35C-B55B-46E6-894C-DE31D1A5EBE1}" presName="ChildText" presStyleLbl="fgAcc1" presStyleIdx="0" presStyleCnt="1">
        <dgm:presLayoutVars>
          <dgm:chMax val="0"/>
          <dgm:chPref val="0"/>
          <dgm:bulletEnabled val="1"/>
        </dgm:presLayoutVars>
      </dgm:prSet>
      <dgm:spPr/>
    </dgm:pt>
    <dgm:pt modelId="{F4EE2C98-380A-40E7-938C-1F646949251D}" type="pres">
      <dgm:prSet presAssocID="{6CCE9E91-4BFC-45A5-8B3D-78B98B4AAF30}" presName="sibTrans" presStyleCnt="0"/>
      <dgm:spPr/>
    </dgm:pt>
    <dgm:pt modelId="{AEF658F8-22E8-4E30-8573-F6E4A1828757}" type="pres">
      <dgm:prSet presAssocID="{EE6C1FB9-A4C1-4207-B6FB-05BFCF50112E}" presName="composite" presStyleCnt="0"/>
      <dgm:spPr/>
    </dgm:pt>
    <dgm:pt modelId="{786D1FE9-F9CE-4032-8F36-E64F9F813CCE}" type="pres">
      <dgm:prSet presAssocID="{EE6C1FB9-A4C1-4207-B6FB-05BFCF50112E}" presName="ParentText" presStyleLbl="node1" presStyleIdx="3" presStyleCnt="5">
        <dgm:presLayoutVars>
          <dgm:chMax val="1"/>
          <dgm:chPref val="1"/>
          <dgm:bulletEnabled val="1"/>
        </dgm:presLayoutVars>
      </dgm:prSet>
      <dgm:spPr/>
    </dgm:pt>
    <dgm:pt modelId="{9691C1B6-DD99-49C7-B0E5-280E6E3B9880}" type="pres">
      <dgm:prSet presAssocID="{EE6C1FB9-A4C1-4207-B6FB-05BFCF50112E}" presName="Image" presStyleLbl="bgImgPlace1" presStyleIdx="3" presStyleCnt="5" custScaleX="108308" custScaleY="77055" custLinFactNeighborX="2953" custLinFactNeighborY="-1615"/>
      <dgm:spPr>
        <a:blipFill>
          <a:blip xmlns:r="http://schemas.openxmlformats.org/officeDocument/2006/relationships" r:embed="rId4">
            <a:extLst>
              <a:ext uri="{28A0092B-C50C-407E-A947-70E740481C1C}">
                <a14:useLocalDpi xmlns:a14="http://schemas.microsoft.com/office/drawing/2010/main" val="0"/>
              </a:ext>
            </a:extLst>
          </a:blip>
          <a:srcRect/>
          <a:stretch>
            <a:fillRect l="-31000" r="-31000"/>
          </a:stretch>
        </a:blipFill>
      </dgm:spPr>
    </dgm:pt>
    <dgm:pt modelId="{2BD73C95-1DC5-4FAD-991A-7F107F49BB80}" type="pres">
      <dgm:prSet presAssocID="{EE6C1FB9-A4C1-4207-B6FB-05BFCF50112E}" presName="ChildText" presStyleLbl="fgAcc1" presStyleIdx="0" presStyleCnt="1">
        <dgm:presLayoutVars>
          <dgm:chMax val="0"/>
          <dgm:chPref val="0"/>
          <dgm:bulletEnabled val="1"/>
        </dgm:presLayoutVars>
      </dgm:prSet>
      <dgm:spPr/>
    </dgm:pt>
    <dgm:pt modelId="{1ACD1C49-ECE0-48A0-B6B9-242CC35DB75B}" type="pres">
      <dgm:prSet presAssocID="{B1E7334C-E271-4D46-A94A-0FD9F5ECC5AA}" presName="sibTrans" presStyleCnt="0"/>
      <dgm:spPr/>
    </dgm:pt>
    <dgm:pt modelId="{A92345A6-5A1F-45DF-BEB0-225069E8DB45}" type="pres">
      <dgm:prSet presAssocID="{13CB197F-0D98-4EA4-B4D3-D73DB479F428}" presName="composite" presStyleCnt="0"/>
      <dgm:spPr/>
    </dgm:pt>
    <dgm:pt modelId="{6FFC4102-8C39-48CF-B5D7-5DC195703BF2}" type="pres">
      <dgm:prSet presAssocID="{13CB197F-0D98-4EA4-B4D3-D73DB479F428}" presName="ParentText" presStyleLbl="node1" presStyleIdx="4" presStyleCnt="5">
        <dgm:presLayoutVars>
          <dgm:chMax val="1"/>
          <dgm:chPref val="1"/>
          <dgm:bulletEnabled val="1"/>
        </dgm:presLayoutVars>
      </dgm:prSet>
      <dgm:spPr/>
    </dgm:pt>
    <dgm:pt modelId="{18CDABA0-409D-418E-9934-9E7C2ACBAC2B}" type="pres">
      <dgm:prSet presAssocID="{13CB197F-0D98-4EA4-B4D3-D73DB479F428}" presName="Image" presStyleLbl="bgImgPlace1" presStyleIdx="4" presStyleCnt="5" custScaleX="74832" custScaleY="73889"/>
      <dgm:spPr>
        <a:blipFill>
          <a:blip xmlns:r="http://schemas.openxmlformats.org/officeDocument/2006/relationships" r:embed="rId5">
            <a:extLst>
              <a:ext uri="{28A0092B-C50C-407E-A947-70E740481C1C}">
                <a14:useLocalDpi xmlns:a14="http://schemas.microsoft.com/office/drawing/2010/main" val="0"/>
              </a:ext>
            </a:extLst>
          </a:blip>
          <a:srcRect/>
          <a:stretch>
            <a:fillRect t="-8000" b="-8000"/>
          </a:stretch>
        </a:blipFill>
      </dgm:spPr>
    </dgm:pt>
    <dgm:pt modelId="{DB002873-821F-443A-B782-95D95FE47DD3}" type="pres">
      <dgm:prSet presAssocID="{13CB197F-0D98-4EA4-B4D3-D73DB479F428}" presName="ChildText" presStyleLbl="fgAcc1" presStyleIdx="0" presStyleCnt="1">
        <dgm:presLayoutVars>
          <dgm:chMax val="0"/>
          <dgm:chPref val="0"/>
          <dgm:bulletEnabled val="1"/>
        </dgm:presLayoutVars>
      </dgm:prSet>
      <dgm:spPr/>
    </dgm:pt>
  </dgm:ptLst>
  <dgm:cxnLst>
    <dgm:cxn modelId="{1FB9F630-B778-46E8-945D-F7BD6F38AA04}" type="presOf" srcId="{C6A6D35C-B55B-46E6-894C-DE31D1A5EBE1}" destId="{9B47E73F-21F8-4323-90DA-E957E8372AF7}" srcOrd="0" destOrd="0" presId="urn:microsoft.com/office/officeart/2008/layout/TitledPictureBlocks"/>
    <dgm:cxn modelId="{722DAF3C-46C6-44BA-900D-890EDB2E27B3}" srcId="{015D38E2-917A-45ED-8574-8FCB7240D145}" destId="{EE6C1FB9-A4C1-4207-B6FB-05BFCF50112E}" srcOrd="3" destOrd="0" parTransId="{CA4CA6E4-6C7C-401B-ABEB-96C230DDA46A}" sibTransId="{B1E7334C-E271-4D46-A94A-0FD9F5ECC5AA}"/>
    <dgm:cxn modelId="{F559015F-1333-4F15-882D-573D8309A78E}" type="presOf" srcId="{EE6C1FB9-A4C1-4207-B6FB-05BFCF50112E}" destId="{786D1FE9-F9CE-4032-8F36-E64F9F813CCE}" srcOrd="0" destOrd="0" presId="urn:microsoft.com/office/officeart/2008/layout/TitledPictureBlocks"/>
    <dgm:cxn modelId="{8541214A-15FF-4BD5-ACD5-331CCA992A4E}" srcId="{015D38E2-917A-45ED-8574-8FCB7240D145}" destId="{C6A6D35C-B55B-46E6-894C-DE31D1A5EBE1}" srcOrd="2" destOrd="0" parTransId="{AEDBC449-3BE0-4F2E-9010-BA97DEE777F4}" sibTransId="{6CCE9E91-4BFC-45A5-8B3D-78B98B4AAF30}"/>
    <dgm:cxn modelId="{7A6E746C-39A9-4E0D-9169-9FEB6A498881}" type="presOf" srcId="{BC3B997B-292B-4A10-B075-8427A87A36B7}" destId="{B7AB2AB7-0D41-4C19-A902-684EA9E762B0}" srcOrd="0" destOrd="0" presId="urn:microsoft.com/office/officeart/2008/layout/TitledPictureBlocks"/>
    <dgm:cxn modelId="{21784F70-1DE2-4131-934E-6D469D1688FF}" type="presOf" srcId="{015D38E2-917A-45ED-8574-8FCB7240D145}" destId="{964187E2-84C2-4E7E-BA22-A8148691852F}" srcOrd="0" destOrd="0" presId="urn:microsoft.com/office/officeart/2008/layout/TitledPictureBlocks"/>
    <dgm:cxn modelId="{C8FDA152-2E42-4EC1-A63C-21A3A5E7EDEB}" type="presOf" srcId="{EC98189B-177E-463C-9665-9938D374B4B9}" destId="{6DF24B5D-150A-47C3-AB7E-BE21BBA1F8C0}" srcOrd="0" destOrd="0" presId="urn:microsoft.com/office/officeart/2008/layout/TitledPictureBlocks"/>
    <dgm:cxn modelId="{17ADC0A0-4E44-4A33-8BD4-5E753D85307C}" srcId="{015D38E2-917A-45ED-8574-8FCB7240D145}" destId="{13CB197F-0D98-4EA4-B4D3-D73DB479F428}" srcOrd="4" destOrd="0" parTransId="{6A9ACA43-B715-428C-85BE-A70952CEB2FD}" sibTransId="{9A4CC496-0AB6-4AAB-BD07-CB6BE2047C69}"/>
    <dgm:cxn modelId="{EF3427A6-437D-4CA9-8015-F5CC2206CD40}" srcId="{015D38E2-917A-45ED-8574-8FCB7240D145}" destId="{C9B782EA-1C22-4B0D-85EA-609B4832E555}" srcOrd="1" destOrd="0" parTransId="{AE061FB0-9C54-41EA-B619-15EABCA4D92D}" sibTransId="{0ED910B4-3A15-46EF-AAE1-6AC7572AA0E8}"/>
    <dgm:cxn modelId="{9E2C28B2-5B3A-43CD-9CBE-75716E2D3689}" type="presOf" srcId="{C9B782EA-1C22-4B0D-85EA-609B4832E555}" destId="{04FE2787-A327-4510-8133-20841B596207}" srcOrd="0" destOrd="0" presId="urn:microsoft.com/office/officeart/2008/layout/TitledPictureBlocks"/>
    <dgm:cxn modelId="{033DCCBA-8C22-4A59-A75A-7F6FA52D5F72}" srcId="{015D38E2-917A-45ED-8574-8FCB7240D145}" destId="{EC98189B-177E-463C-9665-9938D374B4B9}" srcOrd="0" destOrd="0" parTransId="{E8025018-106B-46DD-AA5A-CC193292F2EF}" sibTransId="{40249262-B42E-48BB-9623-752ADDA9BE34}"/>
    <dgm:cxn modelId="{346180D2-0E9E-4401-8389-AE13F39B381E}" type="presOf" srcId="{13CB197F-0D98-4EA4-B4D3-D73DB479F428}" destId="{6FFC4102-8C39-48CF-B5D7-5DC195703BF2}" srcOrd="0" destOrd="0" presId="urn:microsoft.com/office/officeart/2008/layout/TitledPictureBlocks"/>
    <dgm:cxn modelId="{6A0A8FEB-6A5E-4EDB-A1DE-E9C3BD5E63F8}" srcId="{EC98189B-177E-463C-9665-9938D374B4B9}" destId="{BC3B997B-292B-4A10-B075-8427A87A36B7}" srcOrd="0" destOrd="0" parTransId="{29EFE6E6-198E-492C-82E6-9FA2F9A46B22}" sibTransId="{B9F63480-38F6-42A9-A015-9FC65B3D9676}"/>
    <dgm:cxn modelId="{DACF9AD5-1198-4D7A-B0B0-8004DF2A6496}" type="presParOf" srcId="{964187E2-84C2-4E7E-BA22-A8148691852F}" destId="{495AEAAE-9E3D-42C2-B4C1-60868DAC9435}" srcOrd="0" destOrd="0" presId="urn:microsoft.com/office/officeart/2008/layout/TitledPictureBlocks"/>
    <dgm:cxn modelId="{C5FE22CD-4CE9-4586-92DC-7955D14F8981}" type="presParOf" srcId="{495AEAAE-9E3D-42C2-B4C1-60868DAC9435}" destId="{6DF24B5D-150A-47C3-AB7E-BE21BBA1F8C0}" srcOrd="0" destOrd="0" presId="urn:microsoft.com/office/officeart/2008/layout/TitledPictureBlocks"/>
    <dgm:cxn modelId="{BD233A75-B090-447D-87A0-EFA56B913B81}" type="presParOf" srcId="{495AEAAE-9E3D-42C2-B4C1-60868DAC9435}" destId="{2DD8A6BF-CA1C-4017-8066-CFD255E09BC3}" srcOrd="1" destOrd="0" presId="urn:microsoft.com/office/officeart/2008/layout/TitledPictureBlocks"/>
    <dgm:cxn modelId="{4995EB5E-9760-421D-8084-A0E752A84D18}" type="presParOf" srcId="{495AEAAE-9E3D-42C2-B4C1-60868DAC9435}" destId="{B7AB2AB7-0D41-4C19-A902-684EA9E762B0}" srcOrd="2" destOrd="0" presId="urn:microsoft.com/office/officeart/2008/layout/TitledPictureBlocks"/>
    <dgm:cxn modelId="{8BD37D74-0BEE-46A2-BB4F-1C45D1F30DDC}" type="presParOf" srcId="{964187E2-84C2-4E7E-BA22-A8148691852F}" destId="{3D89276F-F29F-44D9-BFB7-930433FEC15D}" srcOrd="1" destOrd="0" presId="urn:microsoft.com/office/officeart/2008/layout/TitledPictureBlocks"/>
    <dgm:cxn modelId="{6CE45798-9E05-4202-8A48-BCF88FA8E6D3}" type="presParOf" srcId="{964187E2-84C2-4E7E-BA22-A8148691852F}" destId="{AA8698FD-705C-4EF7-8D9B-656E34814AF1}" srcOrd="2" destOrd="0" presId="urn:microsoft.com/office/officeart/2008/layout/TitledPictureBlocks"/>
    <dgm:cxn modelId="{31D642C9-5137-4324-8F54-C63B5502EAFB}" type="presParOf" srcId="{AA8698FD-705C-4EF7-8D9B-656E34814AF1}" destId="{04FE2787-A327-4510-8133-20841B596207}" srcOrd="0" destOrd="0" presId="urn:microsoft.com/office/officeart/2008/layout/TitledPictureBlocks"/>
    <dgm:cxn modelId="{32A807E6-EBE9-41B3-8901-39FE538D467C}" type="presParOf" srcId="{AA8698FD-705C-4EF7-8D9B-656E34814AF1}" destId="{950DF30F-0C0D-4BA3-8C28-072158FB1CC0}" srcOrd="1" destOrd="0" presId="urn:microsoft.com/office/officeart/2008/layout/TitledPictureBlocks"/>
    <dgm:cxn modelId="{5BC3C69B-E3F7-4B5F-A9C8-9F8922BF3E84}" type="presParOf" srcId="{AA8698FD-705C-4EF7-8D9B-656E34814AF1}" destId="{EB2D57E0-E362-403B-90D6-1AFAD9041F63}" srcOrd="2" destOrd="0" presId="urn:microsoft.com/office/officeart/2008/layout/TitledPictureBlocks"/>
    <dgm:cxn modelId="{B4002DA4-9666-4F84-AAA8-5FDE1CA149CD}" type="presParOf" srcId="{964187E2-84C2-4E7E-BA22-A8148691852F}" destId="{F8577770-3C61-42EA-A190-D1A3D9E4217F}" srcOrd="3" destOrd="0" presId="urn:microsoft.com/office/officeart/2008/layout/TitledPictureBlocks"/>
    <dgm:cxn modelId="{FEE5031D-BAB7-4C8B-BD18-DBC5F38D0C27}" type="presParOf" srcId="{964187E2-84C2-4E7E-BA22-A8148691852F}" destId="{003051A7-9CDF-45A7-8844-3F405BB8B3D5}" srcOrd="4" destOrd="0" presId="urn:microsoft.com/office/officeart/2008/layout/TitledPictureBlocks"/>
    <dgm:cxn modelId="{F42BE1FF-AC3B-478A-B036-BFA6B867EAFE}" type="presParOf" srcId="{003051A7-9CDF-45A7-8844-3F405BB8B3D5}" destId="{9B47E73F-21F8-4323-90DA-E957E8372AF7}" srcOrd="0" destOrd="0" presId="urn:microsoft.com/office/officeart/2008/layout/TitledPictureBlocks"/>
    <dgm:cxn modelId="{DC734CC3-D700-4FD2-BA26-81F8664BC037}" type="presParOf" srcId="{003051A7-9CDF-45A7-8844-3F405BB8B3D5}" destId="{F562449E-6E38-46F1-86C5-438B57FA0F94}" srcOrd="1" destOrd="0" presId="urn:microsoft.com/office/officeart/2008/layout/TitledPictureBlocks"/>
    <dgm:cxn modelId="{59E38D96-F7FF-4BCF-898D-FB2ED5168275}" type="presParOf" srcId="{003051A7-9CDF-45A7-8844-3F405BB8B3D5}" destId="{F22BBFC9-C083-480D-9066-037D992AAF9D}" srcOrd="2" destOrd="0" presId="urn:microsoft.com/office/officeart/2008/layout/TitledPictureBlocks"/>
    <dgm:cxn modelId="{549DBA90-C7E5-41E4-A2CA-58EF7EA3E58C}" type="presParOf" srcId="{964187E2-84C2-4E7E-BA22-A8148691852F}" destId="{F4EE2C98-380A-40E7-938C-1F646949251D}" srcOrd="5" destOrd="0" presId="urn:microsoft.com/office/officeart/2008/layout/TitledPictureBlocks"/>
    <dgm:cxn modelId="{380FC355-6905-48E1-9432-1BA4E62CE489}" type="presParOf" srcId="{964187E2-84C2-4E7E-BA22-A8148691852F}" destId="{AEF658F8-22E8-4E30-8573-F6E4A1828757}" srcOrd="6" destOrd="0" presId="urn:microsoft.com/office/officeart/2008/layout/TitledPictureBlocks"/>
    <dgm:cxn modelId="{3EAFD1EB-349E-49D9-B0B1-F8BC23ABE5B2}" type="presParOf" srcId="{AEF658F8-22E8-4E30-8573-F6E4A1828757}" destId="{786D1FE9-F9CE-4032-8F36-E64F9F813CCE}" srcOrd="0" destOrd="0" presId="urn:microsoft.com/office/officeart/2008/layout/TitledPictureBlocks"/>
    <dgm:cxn modelId="{72CAB421-E106-48C8-876C-A2E19E4FE5CA}" type="presParOf" srcId="{AEF658F8-22E8-4E30-8573-F6E4A1828757}" destId="{9691C1B6-DD99-49C7-B0E5-280E6E3B9880}" srcOrd="1" destOrd="0" presId="urn:microsoft.com/office/officeart/2008/layout/TitledPictureBlocks"/>
    <dgm:cxn modelId="{7D29F76B-7E63-4F0B-8CDD-1B88340ECA0E}" type="presParOf" srcId="{AEF658F8-22E8-4E30-8573-F6E4A1828757}" destId="{2BD73C95-1DC5-4FAD-991A-7F107F49BB80}" srcOrd="2" destOrd="0" presId="urn:microsoft.com/office/officeart/2008/layout/TitledPictureBlocks"/>
    <dgm:cxn modelId="{F7FCA423-82DA-4D52-9EBA-638A41E3E375}" type="presParOf" srcId="{964187E2-84C2-4E7E-BA22-A8148691852F}" destId="{1ACD1C49-ECE0-48A0-B6B9-242CC35DB75B}" srcOrd="7" destOrd="0" presId="urn:microsoft.com/office/officeart/2008/layout/TitledPictureBlocks"/>
    <dgm:cxn modelId="{5DBF1D22-DAAC-446D-86D2-B7A01A4FCD1D}" type="presParOf" srcId="{964187E2-84C2-4E7E-BA22-A8148691852F}" destId="{A92345A6-5A1F-45DF-BEB0-225069E8DB45}" srcOrd="8" destOrd="0" presId="urn:microsoft.com/office/officeart/2008/layout/TitledPictureBlocks"/>
    <dgm:cxn modelId="{0D72AE8D-2FE6-43D1-87FE-1592A2C7E978}" type="presParOf" srcId="{A92345A6-5A1F-45DF-BEB0-225069E8DB45}" destId="{6FFC4102-8C39-48CF-B5D7-5DC195703BF2}" srcOrd="0" destOrd="0" presId="urn:microsoft.com/office/officeart/2008/layout/TitledPictureBlocks"/>
    <dgm:cxn modelId="{B6466D0B-9F46-4A09-91C7-7BC2EE1C3AE3}" type="presParOf" srcId="{A92345A6-5A1F-45DF-BEB0-225069E8DB45}" destId="{18CDABA0-409D-418E-9934-9E7C2ACBAC2B}" srcOrd="1" destOrd="0" presId="urn:microsoft.com/office/officeart/2008/layout/TitledPictureBlocks"/>
    <dgm:cxn modelId="{FC8AD8BC-8A97-42A3-8F98-F895371B2492}" type="presParOf" srcId="{A92345A6-5A1F-45DF-BEB0-225069E8DB45}" destId="{DB002873-821F-443A-B782-95D95FE47DD3}" srcOrd="2" destOrd="0" presId="urn:microsoft.com/office/officeart/2008/layout/Titled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A9CA0B-72E5-4946-98EF-E0A440F668A3}">
      <dsp:nvSpPr>
        <dsp:cNvPr id="0" name=""/>
        <dsp:cNvSpPr/>
      </dsp:nvSpPr>
      <dsp:spPr>
        <a:xfrm>
          <a:off x="3526" y="986804"/>
          <a:ext cx="3083311" cy="1233324"/>
        </a:xfrm>
        <a:prstGeom prst="homePlate">
          <a:avLst/>
        </a:prstGeom>
        <a:solidFill>
          <a:schemeClr val="accent6">
            <a:shade val="50000"/>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70688" tIns="85344" rIns="42672" bIns="85344" numCol="1" spcCol="1270" anchor="ctr" anchorCtr="0">
          <a:noAutofit/>
        </a:bodyPr>
        <a:lstStyle/>
        <a:p>
          <a:pPr marL="0" lvl="0" indent="0" algn="ctr" defTabSz="1422400">
            <a:lnSpc>
              <a:spcPct val="90000"/>
            </a:lnSpc>
            <a:spcBef>
              <a:spcPct val="0"/>
            </a:spcBef>
            <a:spcAft>
              <a:spcPct val="35000"/>
            </a:spcAft>
            <a:buNone/>
          </a:pPr>
          <a:r>
            <a:rPr lang="es-ES" sz="3200" kern="1200" dirty="0"/>
            <a:t>Rendimiento</a:t>
          </a:r>
          <a:endParaRPr lang="es-CO" sz="3200" kern="1200" dirty="0"/>
        </a:p>
      </dsp:txBody>
      <dsp:txXfrm>
        <a:off x="3526" y="986804"/>
        <a:ext cx="2774980" cy="1233324"/>
      </dsp:txXfrm>
    </dsp:sp>
    <dsp:sp modelId="{72BB5EB3-779C-47D5-B205-8B14D00BCD6E}">
      <dsp:nvSpPr>
        <dsp:cNvPr id="0" name=""/>
        <dsp:cNvSpPr/>
      </dsp:nvSpPr>
      <dsp:spPr>
        <a:xfrm>
          <a:off x="2470175" y="986804"/>
          <a:ext cx="3083311" cy="1233324"/>
        </a:xfrm>
        <a:prstGeom prst="chevron">
          <a:avLst/>
        </a:prstGeom>
        <a:solidFill>
          <a:schemeClr val="accent6">
            <a:shade val="50000"/>
            <a:hueOff val="245616"/>
            <a:satOff val="-10737"/>
            <a:lumOff val="29307"/>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85344" rIns="42672" bIns="85344" numCol="1" spcCol="1270" anchor="ctr" anchorCtr="0">
          <a:noAutofit/>
        </a:bodyPr>
        <a:lstStyle/>
        <a:p>
          <a:pPr marL="0" lvl="0" indent="0" algn="ctr" defTabSz="1422400">
            <a:lnSpc>
              <a:spcPct val="90000"/>
            </a:lnSpc>
            <a:spcBef>
              <a:spcPct val="0"/>
            </a:spcBef>
            <a:spcAft>
              <a:spcPct val="35000"/>
            </a:spcAft>
            <a:buNone/>
          </a:pPr>
          <a:r>
            <a:rPr lang="es-ES" sz="3200" kern="1200" dirty="0"/>
            <a:t>Fiabilidad</a:t>
          </a:r>
          <a:endParaRPr lang="es-CO" sz="3200" kern="1200" dirty="0"/>
        </a:p>
      </dsp:txBody>
      <dsp:txXfrm>
        <a:off x="3086837" y="986804"/>
        <a:ext cx="1849987" cy="1233324"/>
      </dsp:txXfrm>
    </dsp:sp>
    <dsp:sp modelId="{E0655284-A514-44EE-8A45-70159D9E22FD}">
      <dsp:nvSpPr>
        <dsp:cNvPr id="0" name=""/>
        <dsp:cNvSpPr/>
      </dsp:nvSpPr>
      <dsp:spPr>
        <a:xfrm>
          <a:off x="4936824" y="986804"/>
          <a:ext cx="3083311" cy="1233324"/>
        </a:xfrm>
        <a:prstGeom prst="chevron">
          <a:avLst/>
        </a:prstGeom>
        <a:solidFill>
          <a:schemeClr val="accent6">
            <a:shade val="50000"/>
            <a:hueOff val="245616"/>
            <a:satOff val="-10737"/>
            <a:lumOff val="29307"/>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85344" rIns="42672" bIns="85344" numCol="1" spcCol="1270" anchor="ctr" anchorCtr="0">
          <a:noAutofit/>
        </a:bodyPr>
        <a:lstStyle/>
        <a:p>
          <a:pPr marL="0" lvl="0" indent="0" algn="ctr" defTabSz="1422400">
            <a:lnSpc>
              <a:spcPct val="90000"/>
            </a:lnSpc>
            <a:spcBef>
              <a:spcPct val="0"/>
            </a:spcBef>
            <a:spcAft>
              <a:spcPct val="35000"/>
            </a:spcAft>
            <a:buNone/>
          </a:pPr>
          <a:r>
            <a:rPr lang="es-ES" sz="3200" kern="1200" dirty="0"/>
            <a:t>Seguridad</a:t>
          </a:r>
          <a:endParaRPr lang="es-CO" sz="3200" kern="1200" dirty="0"/>
        </a:p>
      </dsp:txBody>
      <dsp:txXfrm>
        <a:off x="5553486" y="986804"/>
        <a:ext cx="1849987" cy="12333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A1700-60D2-4749-BE8E-06365D01F6EB}">
      <dsp:nvSpPr>
        <dsp:cNvPr id="0" name=""/>
        <dsp:cNvSpPr/>
      </dsp:nvSpPr>
      <dsp:spPr>
        <a:xfrm>
          <a:off x="1172754" y="40367"/>
          <a:ext cx="1937656" cy="1937656"/>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s-ES" sz="2200" kern="1200" dirty="0"/>
            <a:t>Tipo de conexión</a:t>
          </a:r>
          <a:endParaRPr lang="es-CO" sz="2200" kern="1200" dirty="0"/>
        </a:p>
      </dsp:txBody>
      <dsp:txXfrm>
        <a:off x="1431108" y="379457"/>
        <a:ext cx="1420948" cy="871945"/>
      </dsp:txXfrm>
    </dsp:sp>
    <dsp:sp modelId="{1509AB95-EE24-430A-9FB8-BF0AE455B01B}">
      <dsp:nvSpPr>
        <dsp:cNvPr id="0" name=""/>
        <dsp:cNvSpPr/>
      </dsp:nvSpPr>
      <dsp:spPr>
        <a:xfrm>
          <a:off x="1871925" y="1251403"/>
          <a:ext cx="1937656" cy="1937656"/>
        </a:xfrm>
        <a:prstGeom prst="ellipse">
          <a:avLst/>
        </a:prstGeom>
        <a:solidFill>
          <a:schemeClr val="accent4">
            <a:alpha val="50000"/>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s-ES" sz="2200" kern="1200" dirty="0"/>
            <a:t>Cobertura</a:t>
          </a:r>
          <a:endParaRPr lang="es-CO" sz="2200" kern="1200" dirty="0"/>
        </a:p>
      </dsp:txBody>
      <dsp:txXfrm>
        <a:off x="2464525" y="1751964"/>
        <a:ext cx="1162594" cy="1065711"/>
      </dsp:txXfrm>
    </dsp:sp>
    <dsp:sp modelId="{50D1BB85-1F32-4B45-82D6-DBA9172228A1}">
      <dsp:nvSpPr>
        <dsp:cNvPr id="0" name=""/>
        <dsp:cNvSpPr/>
      </dsp:nvSpPr>
      <dsp:spPr>
        <a:xfrm>
          <a:off x="473582" y="1251403"/>
          <a:ext cx="1937656" cy="1937656"/>
        </a:xfrm>
        <a:prstGeom prst="ellipse">
          <a:avLst/>
        </a:prstGeom>
        <a:solidFill>
          <a:schemeClr val="accent4">
            <a:alpha val="50000"/>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s-ES" sz="2200" kern="1200" dirty="0"/>
            <a:t>Topología</a:t>
          </a:r>
          <a:endParaRPr lang="es-CO" sz="2200" kern="1200" dirty="0"/>
        </a:p>
      </dsp:txBody>
      <dsp:txXfrm>
        <a:off x="656045" y="1751964"/>
        <a:ext cx="1162594" cy="10657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D8A6BF-CA1C-4017-8066-CFD255E09BC3}">
      <dsp:nvSpPr>
        <dsp:cNvPr id="0" name=""/>
        <dsp:cNvSpPr/>
      </dsp:nvSpPr>
      <dsp:spPr>
        <a:xfrm>
          <a:off x="1364698" y="383348"/>
          <a:ext cx="1791733" cy="158802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4000" b="-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AB2AB7-0D41-4C19-A902-684EA9E762B0}">
      <dsp:nvSpPr>
        <dsp:cNvPr id="0" name=""/>
        <dsp:cNvSpPr/>
      </dsp:nvSpPr>
      <dsp:spPr>
        <a:xfrm>
          <a:off x="2988284" y="645079"/>
          <a:ext cx="1164813" cy="90246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ES" sz="1000" kern="1200" dirty="0">
              <a:latin typeface="Calibri"/>
              <a:cs typeface="Calibri"/>
            </a:rPr>
            <a:t>Una</a:t>
          </a:r>
          <a:r>
            <a:rPr lang="es-ES" sz="1000" kern="1200" spc="-10" dirty="0">
              <a:latin typeface="Calibri"/>
              <a:cs typeface="Calibri"/>
            </a:rPr>
            <a:t> red</a:t>
          </a:r>
          <a:r>
            <a:rPr lang="es-ES" sz="1000" kern="1200" spc="10" dirty="0">
              <a:latin typeface="Calibri"/>
              <a:cs typeface="Calibri"/>
            </a:rPr>
            <a:t> </a:t>
          </a:r>
          <a:r>
            <a:rPr lang="es-ES" sz="1000" kern="1200" spc="-5" dirty="0">
              <a:latin typeface="Calibri"/>
              <a:cs typeface="Calibri"/>
            </a:rPr>
            <a:t>en</a:t>
          </a:r>
          <a:r>
            <a:rPr lang="es-ES" sz="1000" kern="1200" dirty="0">
              <a:latin typeface="Calibri"/>
              <a:cs typeface="Calibri"/>
            </a:rPr>
            <a:t> </a:t>
          </a:r>
          <a:r>
            <a:rPr lang="es-ES" sz="1000" kern="1200" spc="-5" dirty="0">
              <a:latin typeface="Calibri"/>
              <a:cs typeface="Calibri"/>
            </a:rPr>
            <a:t>malla</a:t>
          </a:r>
          <a:r>
            <a:rPr lang="es-ES" sz="1000" kern="1200" spc="25" dirty="0">
              <a:latin typeface="Calibri"/>
              <a:cs typeface="Calibri"/>
            </a:rPr>
            <a:t> </a:t>
          </a:r>
          <a:r>
            <a:rPr lang="es-ES" sz="1000" kern="1200" spc="-10" dirty="0">
              <a:latin typeface="Calibri"/>
              <a:cs typeface="Calibri"/>
            </a:rPr>
            <a:t>completamente</a:t>
          </a:r>
          <a:r>
            <a:rPr lang="es-ES" sz="1000" kern="1200" spc="25" dirty="0">
              <a:latin typeface="Calibri"/>
              <a:cs typeface="Calibri"/>
            </a:rPr>
            <a:t> </a:t>
          </a:r>
          <a:r>
            <a:rPr lang="es-ES" sz="1000" kern="1200" spc="-5" dirty="0">
              <a:latin typeface="Calibri"/>
              <a:cs typeface="Calibri"/>
            </a:rPr>
            <a:t>conectada,</a:t>
          </a:r>
          <a:r>
            <a:rPr lang="es-ES" sz="1000" kern="1200" spc="-10" dirty="0">
              <a:latin typeface="Calibri"/>
              <a:cs typeface="Calibri"/>
            </a:rPr>
            <a:t> </a:t>
          </a:r>
          <a:r>
            <a:rPr lang="es-ES" sz="1000" kern="1200" spc="-5" dirty="0">
              <a:latin typeface="Calibri"/>
              <a:cs typeface="Calibri"/>
            </a:rPr>
            <a:t>se</a:t>
          </a:r>
          <a:r>
            <a:rPr lang="es-ES" sz="1000" kern="1200" spc="5" dirty="0">
              <a:latin typeface="Calibri"/>
              <a:cs typeface="Calibri"/>
            </a:rPr>
            <a:t> </a:t>
          </a:r>
          <a:r>
            <a:rPr lang="es-ES" sz="1000" kern="1200" spc="-5" dirty="0">
              <a:latin typeface="Calibri"/>
              <a:cs typeface="Calibri"/>
            </a:rPr>
            <a:t>necesitan</a:t>
          </a:r>
          <a:r>
            <a:rPr lang="es-ES" sz="1000" kern="1200" spc="10" dirty="0">
              <a:latin typeface="Calibri"/>
              <a:cs typeface="Calibri"/>
            </a:rPr>
            <a:t> </a:t>
          </a:r>
          <a:r>
            <a:rPr lang="es-ES" sz="1000" b="1" kern="1200" dirty="0">
              <a:latin typeface="Calibri"/>
              <a:cs typeface="Calibri"/>
            </a:rPr>
            <a:t>n(n-1)/2</a:t>
          </a:r>
          <a:r>
            <a:rPr lang="es-ES" sz="1000" b="1" kern="1200" spc="-15" dirty="0">
              <a:latin typeface="Calibri"/>
              <a:cs typeface="Calibri"/>
            </a:rPr>
            <a:t> </a:t>
          </a:r>
          <a:r>
            <a:rPr lang="es-ES" sz="1000" kern="1200" dirty="0">
              <a:latin typeface="Calibri"/>
              <a:cs typeface="Calibri"/>
            </a:rPr>
            <a:t>enlaces </a:t>
          </a:r>
          <a:r>
            <a:rPr lang="es-ES" sz="1000" kern="1200" spc="-5" dirty="0">
              <a:latin typeface="Calibri"/>
              <a:cs typeface="Calibri"/>
            </a:rPr>
            <a:t>físicos</a:t>
          </a:r>
          <a:endParaRPr lang="es-CO" sz="1000" kern="1200" dirty="0"/>
        </a:p>
      </dsp:txBody>
      <dsp:txXfrm>
        <a:off x="3014716" y="671511"/>
        <a:ext cx="1111949" cy="849597"/>
      </dsp:txXfrm>
    </dsp:sp>
    <dsp:sp modelId="{6DF24B5D-150A-47C3-AB7E-BE21BBA1F8C0}">
      <dsp:nvSpPr>
        <dsp:cNvPr id="0" name=""/>
        <dsp:cNvSpPr/>
      </dsp:nvSpPr>
      <dsp:spPr>
        <a:xfrm>
          <a:off x="1307193" y="0"/>
          <a:ext cx="2071871" cy="30228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latin typeface="Arial Narrow" panose="020B0606020202030204" pitchFamily="34" charset="0"/>
            </a:rPr>
            <a:t>Malla</a:t>
          </a:r>
          <a:endParaRPr lang="es-CO" sz="2400" kern="1200" dirty="0">
            <a:latin typeface="Arial Narrow" panose="020B0606020202030204" pitchFamily="34" charset="0"/>
          </a:endParaRPr>
        </a:p>
      </dsp:txBody>
      <dsp:txXfrm>
        <a:off x="1307193" y="0"/>
        <a:ext cx="2071871" cy="302287"/>
      </dsp:txXfrm>
    </dsp:sp>
    <dsp:sp modelId="{950DF30F-0C0D-4BA3-8C28-072158FB1CC0}">
      <dsp:nvSpPr>
        <dsp:cNvPr id="0" name=""/>
        <dsp:cNvSpPr/>
      </dsp:nvSpPr>
      <dsp:spPr>
        <a:xfrm>
          <a:off x="4527790" y="385564"/>
          <a:ext cx="1903490" cy="145399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8000" b="-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FE2787-A327-4510-8133-20841B596207}">
      <dsp:nvSpPr>
        <dsp:cNvPr id="0" name=""/>
        <dsp:cNvSpPr/>
      </dsp:nvSpPr>
      <dsp:spPr>
        <a:xfrm>
          <a:off x="4396982" y="0"/>
          <a:ext cx="2071871" cy="302287"/>
        </a:xfrm>
        <a:prstGeom prst="rect">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Estrella</a:t>
          </a:r>
          <a:endParaRPr lang="es-CO" sz="1400" kern="1200" dirty="0"/>
        </a:p>
      </dsp:txBody>
      <dsp:txXfrm>
        <a:off x="4396982" y="0"/>
        <a:ext cx="2071871" cy="302287"/>
      </dsp:txXfrm>
    </dsp:sp>
    <dsp:sp modelId="{F562449E-6E38-46F1-86C5-438B57FA0F94}">
      <dsp:nvSpPr>
        <dsp:cNvPr id="0" name=""/>
        <dsp:cNvSpPr/>
      </dsp:nvSpPr>
      <dsp:spPr>
        <a:xfrm>
          <a:off x="1286049" y="2623714"/>
          <a:ext cx="2071871" cy="175548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4000" r="-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47E73F-21F8-4323-90DA-E957E8372AF7}">
      <dsp:nvSpPr>
        <dsp:cNvPr id="0" name=""/>
        <dsp:cNvSpPr/>
      </dsp:nvSpPr>
      <dsp:spPr>
        <a:xfrm>
          <a:off x="1286049" y="2288981"/>
          <a:ext cx="2071871" cy="302287"/>
        </a:xfrm>
        <a:prstGeom prst="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Hibrido</a:t>
          </a:r>
          <a:endParaRPr lang="es-CO" sz="1400" kern="1200" dirty="0"/>
        </a:p>
      </dsp:txBody>
      <dsp:txXfrm>
        <a:off x="1286049" y="2288981"/>
        <a:ext cx="2071871" cy="302287"/>
      </dsp:txXfrm>
    </dsp:sp>
    <dsp:sp modelId="{9691C1B6-DD99-49C7-B0E5-280E6E3B9880}">
      <dsp:nvSpPr>
        <dsp:cNvPr id="0" name=""/>
        <dsp:cNvSpPr/>
      </dsp:nvSpPr>
      <dsp:spPr>
        <a:xfrm>
          <a:off x="4403499" y="2897459"/>
          <a:ext cx="2244002" cy="1352688"/>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31000" r="-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6D1FE9-F9CE-4032-8F36-E64F9F813CCE}">
      <dsp:nvSpPr>
        <dsp:cNvPr id="0" name=""/>
        <dsp:cNvSpPr/>
      </dsp:nvSpPr>
      <dsp:spPr>
        <a:xfrm>
          <a:off x="4428382" y="2389680"/>
          <a:ext cx="2071871" cy="302287"/>
        </a:xfrm>
        <a:prstGeom prst="rect">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Bus</a:t>
          </a:r>
          <a:endParaRPr lang="es-CO" sz="1400" kern="1200" dirty="0"/>
        </a:p>
      </dsp:txBody>
      <dsp:txXfrm>
        <a:off x="4428382" y="2389680"/>
        <a:ext cx="2071871" cy="302287"/>
      </dsp:txXfrm>
    </dsp:sp>
    <dsp:sp modelId="{18CDABA0-409D-418E-9934-9E7C2ACBAC2B}">
      <dsp:nvSpPr>
        <dsp:cNvPr id="0" name=""/>
        <dsp:cNvSpPr/>
      </dsp:nvSpPr>
      <dsp:spPr>
        <a:xfrm>
          <a:off x="3117940" y="5220960"/>
          <a:ext cx="1550422" cy="1297109"/>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8000" b="-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FC4102-8C39-48CF-B5D7-5DC195703BF2}">
      <dsp:nvSpPr>
        <dsp:cNvPr id="0" name=""/>
        <dsp:cNvSpPr/>
      </dsp:nvSpPr>
      <dsp:spPr>
        <a:xfrm>
          <a:off x="2857216" y="4657040"/>
          <a:ext cx="2071871" cy="302287"/>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Anillo</a:t>
          </a:r>
          <a:endParaRPr lang="es-CO" sz="1400" kern="1200" dirty="0"/>
        </a:p>
      </dsp:txBody>
      <dsp:txXfrm>
        <a:off x="2857216" y="4657040"/>
        <a:ext cx="2071871" cy="30228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a:p>
        </p:txBody>
      </p:sp>
      <p:sp>
        <p:nvSpPr>
          <p:cNvPr id="4" name="Marcador de fecha 3"/>
          <p:cNvSpPr>
            <a:spLocks noGrp="1"/>
          </p:cNvSpPr>
          <p:nvPr>
            <p:ph type="dt" sz="half" idx="10"/>
          </p:nvPr>
        </p:nvSpPr>
        <p:spPr/>
        <p:txBody>
          <a:bodyPr/>
          <a:lstStyle/>
          <a:p>
            <a:fld id="{5B840BA5-6807-4811-9B85-68812EC27EE2}" type="datetimeFigureOut">
              <a:rPr lang="es-CO" smtClean="0"/>
              <a:t>2026-09-30</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3867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5B840BA5-6807-4811-9B85-68812EC27EE2}" type="datetimeFigureOut">
              <a:rPr lang="es-CO" smtClean="0"/>
              <a:t>2026-09-30</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328438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5B840BA5-6807-4811-9B85-68812EC27EE2}" type="datetimeFigureOut">
              <a:rPr lang="es-CO" smtClean="0"/>
              <a:t>2026-09-30</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362632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5B840BA5-6807-4811-9B85-68812EC27EE2}" type="datetimeFigureOut">
              <a:rPr lang="es-CO" smtClean="0"/>
              <a:t>2026-09-30</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52417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5B840BA5-6807-4811-9B85-68812EC27EE2}" type="datetimeFigureOut">
              <a:rPr lang="es-CO" smtClean="0"/>
              <a:t>2026-09-30</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1495158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5B840BA5-6807-4811-9B85-68812EC27EE2}" type="datetimeFigureOut">
              <a:rPr lang="es-CO" smtClean="0"/>
              <a:t>2026-09-30</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82334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B840BA5-6807-4811-9B85-68812EC27EE2}" type="datetimeFigureOut">
              <a:rPr lang="es-CO" smtClean="0"/>
              <a:t>2026-09-30</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2519682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5B840BA5-6807-4811-9B85-68812EC27EE2}" type="datetimeFigureOut">
              <a:rPr lang="es-CO" smtClean="0"/>
              <a:t>2026-09-30</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273633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5B840BA5-6807-4811-9B85-68812EC27EE2}" type="datetimeFigureOut">
              <a:rPr lang="es-CO" smtClean="0"/>
              <a:t>2026-09-30</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2999761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5B840BA5-6807-4811-9B85-68812EC27EE2}" type="datetimeFigureOut">
              <a:rPr lang="es-CO" smtClean="0"/>
              <a:t>2026-09-30</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3025285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5B840BA5-6807-4811-9B85-68812EC27EE2}" type="datetimeFigureOut">
              <a:rPr lang="es-CO" smtClean="0"/>
              <a:t>2026-09-30</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29C911E7-C501-46F7-AFF1-39EBFB2974FB}" type="slidenum">
              <a:rPr lang="es-CO" smtClean="0"/>
              <a:t>‹Nº›</a:t>
            </a:fld>
            <a:endParaRPr lang="es-CO"/>
          </a:p>
        </p:txBody>
      </p:sp>
    </p:spTree>
    <p:extLst>
      <p:ext uri="{BB962C8B-B14F-4D97-AF65-F5344CB8AC3E}">
        <p14:creationId xmlns:p14="http://schemas.microsoft.com/office/powerpoint/2010/main" val="1836058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40BA5-6807-4811-9B85-68812EC27EE2}" type="datetimeFigureOut">
              <a:rPr lang="es-CO" smtClean="0"/>
              <a:t>2026-09-30</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C911E7-C501-46F7-AFF1-39EBFB2974FB}" type="slidenum">
              <a:rPr lang="es-CO" smtClean="0"/>
              <a:t>‹Nº›</a:t>
            </a:fld>
            <a:endParaRPr lang="es-CO"/>
          </a:p>
        </p:txBody>
      </p:sp>
    </p:spTree>
    <p:extLst>
      <p:ext uri="{BB962C8B-B14F-4D97-AF65-F5344CB8AC3E}">
        <p14:creationId xmlns:p14="http://schemas.microsoft.com/office/powerpoint/2010/main" val="1394185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tatistics.cepal.org/portal/cepalstat/index.html?lang=es" TargetMode="External"/><Relationship Id="rId7" Type="http://schemas.openxmlformats.org/officeDocument/2006/relationships/hyperlink" Target="https://sui.superservicios.gov.co/Datos-abiertos" TargetMode="Externa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hyperlink" Target="https://www.simem.co/" TargetMode="External"/><Relationship Id="rId5" Type="http://schemas.openxmlformats.org/officeDocument/2006/relationships/hyperlink" Target="https://www.datos.gov.co/" TargetMode="External"/><Relationship Id="rId4" Type="http://schemas.openxmlformats.org/officeDocument/2006/relationships/hyperlink" Target="https://datos.bancomundial.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datos.bancomundial.org/" TargetMode="External"/><Relationship Id="rId2" Type="http://schemas.openxmlformats.org/officeDocument/2006/relationships/hyperlink" Target="https://statistics.cepal.org/portal/cepalstat/index.html?lang=es" TargetMode="External"/><Relationship Id="rId1" Type="http://schemas.openxmlformats.org/officeDocument/2006/relationships/slideLayout" Target="../slideLayouts/slideLayout2.xml"/><Relationship Id="rId6" Type="http://schemas.openxmlformats.org/officeDocument/2006/relationships/hyperlink" Target="https://sui.superservicios.gov.co/Datos-abiertos" TargetMode="External"/><Relationship Id="rId5" Type="http://schemas.openxmlformats.org/officeDocument/2006/relationships/hyperlink" Target="https://www.simem.co/" TargetMode="External"/><Relationship Id="rId4" Type="http://schemas.openxmlformats.org/officeDocument/2006/relationships/hyperlink" Target="https://www.datos.gov.c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B6D6905B-780C-C67F-36CE-EE65C68CED93}"/>
              </a:ext>
            </a:extLst>
          </p:cNvPr>
          <p:cNvSpPr>
            <a:spLocks noGrp="1"/>
          </p:cNvSpPr>
          <p:nvPr/>
        </p:nvSpPr>
        <p:spPr>
          <a:xfrm>
            <a:off x="742208" y="375111"/>
            <a:ext cx="6158204" cy="1820311"/>
          </a:xfrm>
          <a:prstGeom prst="rect">
            <a:avLst/>
          </a:prstGeom>
          <a:solidFill>
            <a:schemeClr val="bg1"/>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b="1" dirty="0">
                <a:latin typeface="Agency FB" panose="020B0503020202020204" pitchFamily="34" charset="0"/>
              </a:rPr>
              <a:t>TRANSMISIÓN</a:t>
            </a:r>
            <a:br>
              <a:rPr lang="es-MX" b="1" dirty="0">
                <a:latin typeface="Agency FB" panose="020B0503020202020204" pitchFamily="34" charset="0"/>
              </a:rPr>
            </a:br>
            <a:r>
              <a:rPr lang="es-MX" b="1" dirty="0">
                <a:latin typeface="Agency FB" panose="020B0503020202020204" pitchFamily="34" charset="0"/>
              </a:rPr>
              <a:t>DE DATOS</a:t>
            </a:r>
            <a:endParaRPr lang="es-CO" b="1" dirty="0">
              <a:latin typeface="Agency FB" panose="020B0503020202020204" pitchFamily="34" charset="0"/>
            </a:endParaRPr>
          </a:p>
        </p:txBody>
      </p:sp>
      <p:sp>
        <p:nvSpPr>
          <p:cNvPr id="9" name="Subtítulo 2">
            <a:extLst>
              <a:ext uri="{FF2B5EF4-FFF2-40B4-BE49-F238E27FC236}">
                <a16:creationId xmlns:a16="http://schemas.microsoft.com/office/drawing/2014/main" id="{859ECAE4-33CA-47F0-72D7-C9177EFCBE16}"/>
              </a:ext>
            </a:extLst>
          </p:cNvPr>
          <p:cNvSpPr>
            <a:spLocks noGrp="1"/>
          </p:cNvSpPr>
          <p:nvPr/>
        </p:nvSpPr>
        <p:spPr>
          <a:xfrm>
            <a:off x="515017" y="2234321"/>
            <a:ext cx="4669458" cy="3812796"/>
          </a:xfrm>
          <a:prstGeom prst="rect">
            <a:avLst/>
          </a:prstGeom>
          <a:solidFill>
            <a:schemeClr val="bg1"/>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MX" dirty="0">
                <a:latin typeface="Arial Narrow" panose="020B0606020202030204" pitchFamily="34" charset="0"/>
              </a:rPr>
              <a:t>Sebastián López Arias</a:t>
            </a:r>
          </a:p>
          <a:p>
            <a:r>
              <a:rPr lang="es-MX" dirty="0">
                <a:latin typeface="Arial Narrow" panose="020B0606020202030204" pitchFamily="34" charset="0"/>
              </a:rPr>
              <a:t>Ingeniero Electricista</a:t>
            </a:r>
          </a:p>
          <a:p>
            <a:r>
              <a:rPr lang="es-MX" dirty="0">
                <a:latin typeface="Arial Narrow" panose="020B0606020202030204" pitchFamily="34" charset="0"/>
              </a:rPr>
              <a:t>Esp. Mercados de Energía</a:t>
            </a:r>
          </a:p>
          <a:p>
            <a:r>
              <a:rPr lang="es-MX" dirty="0">
                <a:latin typeface="Arial Narrow" panose="020B0606020202030204" pitchFamily="34" charset="0"/>
              </a:rPr>
              <a:t>Esp. </a:t>
            </a:r>
            <a:r>
              <a:rPr lang="es-MX" dirty="0" err="1">
                <a:latin typeface="Arial Narrow" panose="020B0606020202030204" pitchFamily="34" charset="0"/>
              </a:rPr>
              <a:t>Dir</a:t>
            </a:r>
            <a:r>
              <a:rPr lang="es-MX" dirty="0">
                <a:latin typeface="Arial Narrow" panose="020B0606020202030204" pitchFamily="34" charset="0"/>
              </a:rPr>
              <a:t> Producción y Operaciones</a:t>
            </a:r>
          </a:p>
          <a:p>
            <a:r>
              <a:rPr lang="es-MX" dirty="0">
                <a:latin typeface="Arial Narrow" panose="020B0606020202030204" pitchFamily="34" charset="0"/>
              </a:rPr>
              <a:t>Esp. Desarrollo de software</a:t>
            </a:r>
          </a:p>
          <a:p>
            <a:r>
              <a:rPr lang="es-MX" dirty="0">
                <a:latin typeface="Arial Narrow" panose="020B0606020202030204" pitchFamily="34" charset="0"/>
              </a:rPr>
              <a:t>Ms. Ingeniería eléctrica</a:t>
            </a:r>
          </a:p>
          <a:p>
            <a:r>
              <a:rPr lang="es-MX" dirty="0">
                <a:latin typeface="Arial Narrow" panose="020B0606020202030204" pitchFamily="34" charset="0"/>
              </a:rPr>
              <a:t>Ms. Sistemas Energéticos</a:t>
            </a:r>
          </a:p>
          <a:p>
            <a:r>
              <a:rPr lang="es-MX" dirty="0">
                <a:latin typeface="Arial Narrow" panose="020B0606020202030204" pitchFamily="34" charset="0"/>
              </a:rPr>
              <a:t>slopez@umanizales.edu.co</a:t>
            </a:r>
            <a:endParaRPr lang="es-CO" dirty="0">
              <a:latin typeface="Arial Narrow" panose="020B0606020202030204" pitchFamily="34" charset="0"/>
            </a:endParaRPr>
          </a:p>
        </p:txBody>
      </p:sp>
    </p:spTree>
    <p:extLst>
      <p:ext uri="{BB962C8B-B14F-4D97-AF65-F5344CB8AC3E}">
        <p14:creationId xmlns:p14="http://schemas.microsoft.com/office/powerpoint/2010/main" val="257614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156996" y="1735495"/>
            <a:ext cx="9881118" cy="1037545"/>
          </a:xfrm>
        </p:spPr>
        <p:txBody>
          <a:bodyPr/>
          <a:lstStyle/>
          <a:p>
            <a:pPr algn="ctr"/>
            <a:r>
              <a:rPr lang="es-CO" b="1" dirty="0"/>
              <a:t>Objetivo general</a:t>
            </a:r>
          </a:p>
        </p:txBody>
      </p:sp>
      <p:sp>
        <p:nvSpPr>
          <p:cNvPr id="3" name="Marcador de contenido 2"/>
          <p:cNvSpPr>
            <a:spLocks noGrp="1"/>
          </p:cNvSpPr>
          <p:nvPr>
            <p:ph idx="1"/>
          </p:nvPr>
        </p:nvSpPr>
        <p:spPr>
          <a:xfrm>
            <a:off x="1156996" y="3304281"/>
            <a:ext cx="9881118" cy="3116521"/>
          </a:xfrm>
        </p:spPr>
        <p:txBody>
          <a:bodyPr/>
          <a:lstStyle/>
          <a:p>
            <a:pPr algn="l"/>
            <a:endParaRPr lang="es-CO" sz="1800" b="0" i="0" u="none" strike="noStrike" baseline="0" dirty="0">
              <a:solidFill>
                <a:srgbClr val="000000"/>
              </a:solidFill>
              <a:latin typeface="Calibri" panose="020F0502020204030204" pitchFamily="34" charset="0"/>
            </a:endParaRPr>
          </a:p>
          <a:p>
            <a:pPr marL="0" indent="0" algn="just">
              <a:buNone/>
            </a:pPr>
            <a:r>
              <a:rPr lang="es-MX" sz="1800" b="0" i="0" u="none" strike="noStrike" baseline="0" dirty="0">
                <a:latin typeface="Calibri" panose="020F0502020204030204" pitchFamily="34" charset="0"/>
              </a:rPr>
              <a:t>El desarrollo de la informática ha significado cambios extraordinarios para los negocios, la industria, la ciencia y la educación. </a:t>
            </a:r>
            <a:r>
              <a:rPr lang="es-MX" sz="1800" dirty="0">
                <a:latin typeface="Calibri" panose="020F0502020204030204" pitchFamily="34" charset="0"/>
              </a:rPr>
              <a:t>L</a:t>
            </a:r>
            <a:r>
              <a:rPr lang="es-MX" sz="1800" b="0" i="0" u="none" strike="noStrike" baseline="0" dirty="0">
                <a:latin typeface="Calibri" panose="020F0502020204030204" pitchFamily="34" charset="0"/>
              </a:rPr>
              <a:t>os desarrollos tecnológicos han hecho posible que los enlaces de comunicaciones puedan transmitir señales rápidas, confiables y con mayores capacidades.</a:t>
            </a:r>
          </a:p>
          <a:p>
            <a:pPr marL="0" indent="0" algn="just">
              <a:buNone/>
            </a:pPr>
            <a:r>
              <a:rPr lang="es-MX" sz="1800" b="0" i="0" u="none" strike="noStrike" baseline="0" dirty="0">
                <a:latin typeface="Calibri" panose="020F0502020204030204" pitchFamily="34" charset="0"/>
              </a:rPr>
              <a:t>Brindar al alumno los conocimientos fundamentales de la lógica de funcionamiento de los sistemas de telecomunicación usados para transmisión de datos.</a:t>
            </a:r>
            <a:endParaRPr lang="es-CO" dirty="0"/>
          </a:p>
        </p:txBody>
      </p:sp>
    </p:spTree>
    <p:extLst>
      <p:ext uri="{BB962C8B-B14F-4D97-AF65-F5344CB8AC3E}">
        <p14:creationId xmlns:p14="http://schemas.microsoft.com/office/powerpoint/2010/main" val="1958326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E4E8D71-2717-0FF6-E288-9C4308DD3A96}"/>
              </a:ext>
            </a:extLst>
          </p:cNvPr>
          <p:cNvSpPr>
            <a:spLocks noGrp="1"/>
          </p:cNvSpPr>
          <p:nvPr>
            <p:ph type="title"/>
          </p:nvPr>
        </p:nvSpPr>
        <p:spPr>
          <a:xfrm>
            <a:off x="760756" y="437198"/>
            <a:ext cx="9881118" cy="1037545"/>
          </a:xfrm>
        </p:spPr>
        <p:txBody>
          <a:bodyPr/>
          <a:lstStyle/>
          <a:p>
            <a:pPr algn="ctr"/>
            <a:r>
              <a:rPr lang="es-CO" b="1" dirty="0"/>
              <a:t>Contenido</a:t>
            </a:r>
          </a:p>
        </p:txBody>
      </p:sp>
      <p:sp>
        <p:nvSpPr>
          <p:cNvPr id="5" name="Marcador de contenido 2">
            <a:extLst>
              <a:ext uri="{FF2B5EF4-FFF2-40B4-BE49-F238E27FC236}">
                <a16:creationId xmlns:a16="http://schemas.microsoft.com/office/drawing/2014/main" id="{669616D9-05D9-66EB-C0B7-8A7A50C87A5B}"/>
              </a:ext>
            </a:extLst>
          </p:cNvPr>
          <p:cNvSpPr>
            <a:spLocks noGrp="1"/>
          </p:cNvSpPr>
          <p:nvPr>
            <p:ph idx="1"/>
          </p:nvPr>
        </p:nvSpPr>
        <p:spPr>
          <a:xfrm>
            <a:off x="1075716" y="1474743"/>
            <a:ext cx="9881118" cy="4042137"/>
          </a:xfrm>
        </p:spPr>
        <p:txBody>
          <a:bodyPr/>
          <a:lstStyle/>
          <a:p>
            <a:pPr algn="l"/>
            <a:endParaRPr lang="es-CO" sz="1800" b="0" i="0" u="none" strike="noStrike" baseline="0" dirty="0">
              <a:solidFill>
                <a:srgbClr val="000000"/>
              </a:solidFill>
              <a:latin typeface="Calibri" panose="020F0502020204030204" pitchFamily="34" charset="0"/>
            </a:endParaRPr>
          </a:p>
          <a:p>
            <a:pPr marL="0" indent="0" algn="just">
              <a:buNone/>
            </a:pPr>
            <a:r>
              <a:rPr lang="es-MX" sz="1800" b="1" i="0" u="none" strike="noStrike" baseline="0" dirty="0">
                <a:latin typeface="Calibri" panose="020F0502020204030204" pitchFamily="34" charset="0"/>
              </a:rPr>
              <a:t>Unidad 1. Introducción a la transmisión de datos</a:t>
            </a:r>
          </a:p>
          <a:p>
            <a:pPr algn="just"/>
            <a:r>
              <a:rPr lang="es-CO" sz="1400" dirty="0"/>
              <a:t>Conceptos básicos y terminología</a:t>
            </a:r>
          </a:p>
          <a:p>
            <a:pPr algn="just"/>
            <a:r>
              <a:rPr lang="es-CO" sz="1400" dirty="0"/>
              <a:t>Componentes básicos</a:t>
            </a:r>
          </a:p>
          <a:p>
            <a:pPr algn="just"/>
            <a:r>
              <a:rPr lang="es-CO" sz="1400" dirty="0"/>
              <a:t>Tipos de transmisión de datos</a:t>
            </a:r>
          </a:p>
          <a:p>
            <a:pPr algn="just"/>
            <a:r>
              <a:rPr lang="es-CO" sz="1400" dirty="0"/>
              <a:t>Tipos de datos y codificación de datos</a:t>
            </a:r>
          </a:p>
          <a:p>
            <a:pPr algn="just"/>
            <a:r>
              <a:rPr lang="es-CO" sz="1400" dirty="0"/>
              <a:t>Analógico vs digital</a:t>
            </a:r>
          </a:p>
          <a:p>
            <a:pPr algn="just"/>
            <a:r>
              <a:rPr lang="es-CO" sz="1400" dirty="0"/>
              <a:t>Técnicas de codificación y modulación</a:t>
            </a:r>
          </a:p>
          <a:p>
            <a:pPr algn="just"/>
            <a:r>
              <a:rPr lang="es-CO" sz="1400" dirty="0"/>
              <a:t>Medios de transmisión</a:t>
            </a:r>
          </a:p>
          <a:p>
            <a:pPr algn="just"/>
            <a:r>
              <a:rPr lang="es-CO" sz="1400" dirty="0"/>
              <a:t>Anchos de banda</a:t>
            </a:r>
          </a:p>
          <a:p>
            <a:pPr algn="just"/>
            <a:r>
              <a:rPr lang="es-CO" sz="1400" b="1" dirty="0"/>
              <a:t>Detección y corrección de errores</a:t>
            </a:r>
          </a:p>
          <a:p>
            <a:pPr algn="just"/>
            <a:r>
              <a:rPr lang="es-CO" sz="1400" dirty="0"/>
              <a:t>Técnicas de control de flujo</a:t>
            </a:r>
          </a:p>
          <a:p>
            <a:pPr algn="just"/>
            <a:endParaRPr lang="es-CO" sz="1400" dirty="0"/>
          </a:p>
          <a:p>
            <a:pPr algn="just"/>
            <a:endParaRPr lang="es-CO" sz="1400" dirty="0"/>
          </a:p>
        </p:txBody>
      </p:sp>
    </p:spTree>
    <p:extLst>
      <p:ext uri="{BB962C8B-B14F-4D97-AF65-F5344CB8AC3E}">
        <p14:creationId xmlns:p14="http://schemas.microsoft.com/office/powerpoint/2010/main" val="43448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E4E8D71-2717-0FF6-E288-9C4308DD3A96}"/>
              </a:ext>
            </a:extLst>
          </p:cNvPr>
          <p:cNvSpPr>
            <a:spLocks noGrp="1"/>
          </p:cNvSpPr>
          <p:nvPr>
            <p:ph type="title"/>
          </p:nvPr>
        </p:nvSpPr>
        <p:spPr>
          <a:xfrm>
            <a:off x="760756" y="437198"/>
            <a:ext cx="9881118" cy="1037545"/>
          </a:xfrm>
        </p:spPr>
        <p:txBody>
          <a:bodyPr/>
          <a:lstStyle/>
          <a:p>
            <a:pPr algn="ctr"/>
            <a:r>
              <a:rPr lang="es-CO" b="1" dirty="0"/>
              <a:t>Contenido</a:t>
            </a:r>
          </a:p>
        </p:txBody>
      </p:sp>
      <p:sp>
        <p:nvSpPr>
          <p:cNvPr id="5" name="Marcador de contenido 2">
            <a:extLst>
              <a:ext uri="{FF2B5EF4-FFF2-40B4-BE49-F238E27FC236}">
                <a16:creationId xmlns:a16="http://schemas.microsoft.com/office/drawing/2014/main" id="{669616D9-05D9-66EB-C0B7-8A7A50C87A5B}"/>
              </a:ext>
            </a:extLst>
          </p:cNvPr>
          <p:cNvSpPr>
            <a:spLocks noGrp="1"/>
          </p:cNvSpPr>
          <p:nvPr>
            <p:ph idx="1"/>
          </p:nvPr>
        </p:nvSpPr>
        <p:spPr>
          <a:xfrm>
            <a:off x="1075716" y="1474743"/>
            <a:ext cx="9881118" cy="4042137"/>
          </a:xfrm>
        </p:spPr>
        <p:txBody>
          <a:bodyPr>
            <a:normAutofit/>
          </a:bodyPr>
          <a:lstStyle/>
          <a:p>
            <a:pPr algn="l"/>
            <a:endParaRPr lang="es-CO" sz="1800" b="0" i="0" u="none" strike="noStrike" baseline="0" dirty="0">
              <a:solidFill>
                <a:srgbClr val="000000"/>
              </a:solidFill>
              <a:latin typeface="Calibri" panose="020F0502020204030204" pitchFamily="34" charset="0"/>
            </a:endParaRPr>
          </a:p>
          <a:p>
            <a:pPr marL="0" indent="0" algn="just">
              <a:buNone/>
            </a:pPr>
            <a:r>
              <a:rPr lang="es-MX" sz="1800" b="1" i="0" u="none" strike="noStrike" baseline="0" dirty="0">
                <a:latin typeface="Calibri" panose="020F0502020204030204" pitchFamily="34" charset="0"/>
              </a:rPr>
              <a:t>Unidad 2. Transmisión de datos digitales</a:t>
            </a:r>
          </a:p>
          <a:p>
            <a:pPr algn="just"/>
            <a:r>
              <a:rPr lang="es-CO" sz="1400" dirty="0"/>
              <a:t>Modulación digital</a:t>
            </a:r>
          </a:p>
          <a:p>
            <a:pPr algn="just"/>
            <a:r>
              <a:rPr lang="es-CO" sz="1400" dirty="0"/>
              <a:t>Técnicas de multiplexación</a:t>
            </a:r>
          </a:p>
          <a:p>
            <a:pPr algn="just"/>
            <a:r>
              <a:rPr lang="es-CO" sz="1400" dirty="0"/>
              <a:t>Sincronización</a:t>
            </a:r>
          </a:p>
          <a:p>
            <a:pPr algn="just"/>
            <a:r>
              <a:rPr lang="es-CO" sz="1400" dirty="0"/>
              <a:t>Ethernet</a:t>
            </a:r>
          </a:p>
          <a:p>
            <a:pPr algn="just"/>
            <a:r>
              <a:rPr lang="es-CO" sz="1400" dirty="0"/>
              <a:t>Direccionamiento lógico</a:t>
            </a:r>
          </a:p>
          <a:p>
            <a:pPr algn="just"/>
            <a:r>
              <a:rPr lang="es-CO" sz="1400" dirty="0"/>
              <a:t>Entrega, reenvío, encaminamiento</a:t>
            </a:r>
          </a:p>
          <a:p>
            <a:pPr algn="just"/>
            <a:r>
              <a:rPr lang="es-CO" sz="1400" dirty="0"/>
              <a:t>Mecanismos de alta disponibilidad y tolerancia a fallas</a:t>
            </a:r>
          </a:p>
          <a:p>
            <a:pPr algn="just"/>
            <a:r>
              <a:rPr lang="es-CO" sz="1400" dirty="0"/>
              <a:t>Manejo de sesiones</a:t>
            </a:r>
          </a:p>
          <a:p>
            <a:pPr algn="just"/>
            <a:r>
              <a:rPr lang="es-CO" sz="1400" dirty="0"/>
              <a:t>Calidad de servicio</a:t>
            </a:r>
          </a:p>
          <a:p>
            <a:pPr algn="just"/>
            <a:endParaRPr lang="es-CO" sz="1400" dirty="0"/>
          </a:p>
          <a:p>
            <a:pPr algn="just"/>
            <a:endParaRPr lang="es-CO" sz="1400" dirty="0"/>
          </a:p>
          <a:p>
            <a:pPr algn="just"/>
            <a:endParaRPr lang="es-CO" sz="1400" dirty="0"/>
          </a:p>
        </p:txBody>
      </p:sp>
    </p:spTree>
    <p:extLst>
      <p:ext uri="{BB962C8B-B14F-4D97-AF65-F5344CB8AC3E}">
        <p14:creationId xmlns:p14="http://schemas.microsoft.com/office/powerpoint/2010/main" val="422953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E4E8D71-2717-0FF6-E288-9C4308DD3A96}"/>
              </a:ext>
            </a:extLst>
          </p:cNvPr>
          <p:cNvSpPr>
            <a:spLocks noGrp="1"/>
          </p:cNvSpPr>
          <p:nvPr>
            <p:ph type="title"/>
          </p:nvPr>
        </p:nvSpPr>
        <p:spPr>
          <a:xfrm>
            <a:off x="760756" y="437198"/>
            <a:ext cx="9881118" cy="1037545"/>
          </a:xfrm>
        </p:spPr>
        <p:txBody>
          <a:bodyPr/>
          <a:lstStyle/>
          <a:p>
            <a:pPr algn="ctr"/>
            <a:r>
              <a:rPr lang="es-CO" b="1" dirty="0"/>
              <a:t>Contenido</a:t>
            </a:r>
          </a:p>
        </p:txBody>
      </p:sp>
      <p:sp>
        <p:nvSpPr>
          <p:cNvPr id="5" name="Marcador de contenido 2">
            <a:extLst>
              <a:ext uri="{FF2B5EF4-FFF2-40B4-BE49-F238E27FC236}">
                <a16:creationId xmlns:a16="http://schemas.microsoft.com/office/drawing/2014/main" id="{669616D9-05D9-66EB-C0B7-8A7A50C87A5B}"/>
              </a:ext>
            </a:extLst>
          </p:cNvPr>
          <p:cNvSpPr>
            <a:spLocks noGrp="1"/>
          </p:cNvSpPr>
          <p:nvPr>
            <p:ph idx="1"/>
          </p:nvPr>
        </p:nvSpPr>
        <p:spPr>
          <a:xfrm>
            <a:off x="1075716" y="1474743"/>
            <a:ext cx="9881118" cy="4042137"/>
          </a:xfrm>
        </p:spPr>
        <p:txBody>
          <a:bodyPr>
            <a:normAutofit/>
          </a:bodyPr>
          <a:lstStyle/>
          <a:p>
            <a:pPr algn="l"/>
            <a:endParaRPr lang="es-CO" sz="1800" b="0" i="0" u="none" strike="noStrike" baseline="0" dirty="0">
              <a:solidFill>
                <a:srgbClr val="000000"/>
              </a:solidFill>
              <a:latin typeface="Calibri" panose="020F0502020204030204" pitchFamily="34" charset="0"/>
            </a:endParaRPr>
          </a:p>
          <a:p>
            <a:pPr marL="0" indent="0" algn="just">
              <a:buNone/>
            </a:pPr>
            <a:r>
              <a:rPr lang="es-MX" sz="1800" b="1" i="0" u="none" strike="noStrike" baseline="0" dirty="0">
                <a:latin typeface="Calibri" panose="020F0502020204030204" pitchFamily="34" charset="0"/>
              </a:rPr>
              <a:t>Unidad 3. Seguridad en la transmisión de datos</a:t>
            </a:r>
          </a:p>
          <a:p>
            <a:pPr algn="just"/>
            <a:r>
              <a:rPr lang="es-CO" sz="1400" dirty="0"/>
              <a:t>Amenazas a la seguridad de la transmisión de datos</a:t>
            </a:r>
          </a:p>
          <a:p>
            <a:pPr algn="just"/>
            <a:r>
              <a:rPr lang="es-CO" sz="1400" dirty="0"/>
              <a:t>Criptografía clásica</a:t>
            </a:r>
          </a:p>
          <a:p>
            <a:pPr algn="just"/>
            <a:r>
              <a:rPr lang="es-CO" sz="1400" dirty="0"/>
              <a:t>Criptografía moderna</a:t>
            </a:r>
          </a:p>
          <a:p>
            <a:pPr algn="just"/>
            <a:r>
              <a:rPr lang="es-CO" sz="1400" dirty="0"/>
              <a:t>Cifrado simétrico</a:t>
            </a:r>
          </a:p>
          <a:p>
            <a:pPr algn="just"/>
            <a:r>
              <a:rPr lang="es-CO" sz="1400" dirty="0"/>
              <a:t>Cifrado asimétrico</a:t>
            </a:r>
          </a:p>
          <a:p>
            <a:pPr algn="just"/>
            <a:r>
              <a:rPr lang="es-CO" sz="1400" dirty="0"/>
              <a:t>Funciones hash</a:t>
            </a:r>
          </a:p>
          <a:p>
            <a:pPr algn="just"/>
            <a:r>
              <a:rPr lang="es-CO" sz="1400" dirty="0"/>
              <a:t>Infraestructura PKI</a:t>
            </a:r>
          </a:p>
          <a:p>
            <a:pPr algn="just"/>
            <a:endParaRPr lang="es-CO" sz="1400" dirty="0"/>
          </a:p>
          <a:p>
            <a:pPr algn="just"/>
            <a:endParaRPr lang="es-CO" sz="1400" dirty="0"/>
          </a:p>
          <a:p>
            <a:pPr algn="just"/>
            <a:endParaRPr lang="es-CO" sz="1400" dirty="0"/>
          </a:p>
        </p:txBody>
      </p:sp>
    </p:spTree>
    <p:extLst>
      <p:ext uri="{BB962C8B-B14F-4D97-AF65-F5344CB8AC3E}">
        <p14:creationId xmlns:p14="http://schemas.microsoft.com/office/powerpoint/2010/main" val="237635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E4E8D71-2717-0FF6-E288-9C4308DD3A96}"/>
              </a:ext>
            </a:extLst>
          </p:cNvPr>
          <p:cNvSpPr>
            <a:spLocks noGrp="1"/>
          </p:cNvSpPr>
          <p:nvPr>
            <p:ph type="title"/>
          </p:nvPr>
        </p:nvSpPr>
        <p:spPr>
          <a:xfrm>
            <a:off x="760756" y="437198"/>
            <a:ext cx="9881118" cy="1037545"/>
          </a:xfrm>
        </p:spPr>
        <p:txBody>
          <a:bodyPr/>
          <a:lstStyle/>
          <a:p>
            <a:pPr algn="ctr"/>
            <a:r>
              <a:rPr lang="es-CO" b="1" dirty="0"/>
              <a:t>Contenido</a:t>
            </a:r>
          </a:p>
        </p:txBody>
      </p:sp>
      <p:sp>
        <p:nvSpPr>
          <p:cNvPr id="5" name="Marcador de contenido 2">
            <a:extLst>
              <a:ext uri="{FF2B5EF4-FFF2-40B4-BE49-F238E27FC236}">
                <a16:creationId xmlns:a16="http://schemas.microsoft.com/office/drawing/2014/main" id="{669616D9-05D9-66EB-C0B7-8A7A50C87A5B}"/>
              </a:ext>
            </a:extLst>
          </p:cNvPr>
          <p:cNvSpPr>
            <a:spLocks noGrp="1"/>
          </p:cNvSpPr>
          <p:nvPr>
            <p:ph idx="1"/>
          </p:nvPr>
        </p:nvSpPr>
        <p:spPr>
          <a:xfrm>
            <a:off x="1075716" y="1474743"/>
            <a:ext cx="9881118" cy="4042137"/>
          </a:xfrm>
        </p:spPr>
        <p:txBody>
          <a:bodyPr>
            <a:normAutofit/>
          </a:bodyPr>
          <a:lstStyle/>
          <a:p>
            <a:pPr algn="l"/>
            <a:endParaRPr lang="es-CO" sz="1800" b="0" i="0" u="none" strike="noStrike" baseline="0" dirty="0">
              <a:solidFill>
                <a:srgbClr val="000000"/>
              </a:solidFill>
              <a:latin typeface="Calibri" panose="020F0502020204030204" pitchFamily="34" charset="0"/>
            </a:endParaRPr>
          </a:p>
          <a:p>
            <a:pPr marL="0" indent="0" algn="just">
              <a:buNone/>
            </a:pPr>
            <a:r>
              <a:rPr lang="es-MX" sz="1800" b="1" i="0" u="none" strike="noStrike" baseline="0" dirty="0">
                <a:latin typeface="Calibri" panose="020F0502020204030204" pitchFamily="34" charset="0"/>
              </a:rPr>
              <a:t>Unidad 4. Aplicaciones y tendencias futuras</a:t>
            </a:r>
          </a:p>
          <a:p>
            <a:pPr algn="just"/>
            <a:r>
              <a:rPr lang="es-CO" sz="1400" dirty="0"/>
              <a:t>Aplicaciones prácticas de la transmisión de datos</a:t>
            </a:r>
          </a:p>
          <a:p>
            <a:pPr algn="just"/>
            <a:r>
              <a:rPr lang="es-CO" sz="1400" dirty="0"/>
              <a:t>Transmisión de voz, datos y video</a:t>
            </a:r>
          </a:p>
          <a:p>
            <a:pPr algn="just"/>
            <a:r>
              <a:rPr lang="es-CO" sz="1400" dirty="0"/>
              <a:t>Redes de sensores </a:t>
            </a:r>
            <a:r>
              <a:rPr lang="es-CO" sz="1400" dirty="0" err="1"/>
              <a:t>IoT</a:t>
            </a:r>
            <a:endParaRPr lang="es-CO" sz="1400" dirty="0"/>
          </a:p>
          <a:p>
            <a:pPr algn="just"/>
            <a:r>
              <a:rPr lang="es-CO" sz="1400" dirty="0"/>
              <a:t>Fundamentos de IPv6</a:t>
            </a:r>
          </a:p>
          <a:p>
            <a:pPr algn="just"/>
            <a:r>
              <a:rPr lang="es-CO" sz="1400" dirty="0"/>
              <a:t>Tendencias futuras en transmisión de datos</a:t>
            </a:r>
          </a:p>
          <a:p>
            <a:pPr algn="just"/>
            <a:endParaRPr lang="es-CO" sz="1400" dirty="0"/>
          </a:p>
          <a:p>
            <a:pPr algn="just"/>
            <a:endParaRPr lang="es-CO" sz="1400" dirty="0"/>
          </a:p>
          <a:p>
            <a:pPr algn="just"/>
            <a:endParaRPr lang="es-CO" sz="1400" dirty="0"/>
          </a:p>
        </p:txBody>
      </p:sp>
    </p:spTree>
    <p:extLst>
      <p:ext uri="{BB962C8B-B14F-4D97-AF65-F5344CB8AC3E}">
        <p14:creationId xmlns:p14="http://schemas.microsoft.com/office/powerpoint/2010/main" val="3247524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E4E8D71-2717-0FF6-E288-9C4308DD3A96}"/>
              </a:ext>
            </a:extLst>
          </p:cNvPr>
          <p:cNvSpPr>
            <a:spLocks noGrp="1"/>
          </p:cNvSpPr>
          <p:nvPr>
            <p:ph type="title"/>
          </p:nvPr>
        </p:nvSpPr>
        <p:spPr>
          <a:xfrm>
            <a:off x="760756" y="437198"/>
            <a:ext cx="9881118" cy="1037545"/>
          </a:xfrm>
        </p:spPr>
        <p:txBody>
          <a:bodyPr/>
          <a:lstStyle/>
          <a:p>
            <a:pPr algn="ctr"/>
            <a:r>
              <a:rPr lang="es-CO" b="1" dirty="0"/>
              <a:t>Contenido</a:t>
            </a:r>
          </a:p>
        </p:txBody>
      </p:sp>
      <p:sp>
        <p:nvSpPr>
          <p:cNvPr id="5" name="Marcador de contenido 2">
            <a:extLst>
              <a:ext uri="{FF2B5EF4-FFF2-40B4-BE49-F238E27FC236}">
                <a16:creationId xmlns:a16="http://schemas.microsoft.com/office/drawing/2014/main" id="{669616D9-05D9-66EB-C0B7-8A7A50C87A5B}"/>
              </a:ext>
            </a:extLst>
          </p:cNvPr>
          <p:cNvSpPr>
            <a:spLocks noGrp="1"/>
          </p:cNvSpPr>
          <p:nvPr>
            <p:ph idx="1"/>
          </p:nvPr>
        </p:nvSpPr>
        <p:spPr>
          <a:xfrm>
            <a:off x="1075716" y="1474743"/>
            <a:ext cx="9881118" cy="1954257"/>
          </a:xfrm>
        </p:spPr>
        <p:txBody>
          <a:bodyPr>
            <a:normAutofit/>
          </a:bodyPr>
          <a:lstStyle/>
          <a:p>
            <a:pPr algn="l"/>
            <a:endParaRPr lang="es-CO" sz="1800" b="0" i="0" u="none" strike="noStrike" baseline="0" dirty="0">
              <a:solidFill>
                <a:srgbClr val="000000"/>
              </a:solidFill>
              <a:latin typeface="Calibri" panose="020F0502020204030204" pitchFamily="34" charset="0"/>
            </a:endParaRPr>
          </a:p>
          <a:p>
            <a:pPr marL="0" indent="0" algn="just">
              <a:buNone/>
            </a:pPr>
            <a:r>
              <a:rPr lang="es-MX" sz="1800" b="1" i="0" u="none" strike="noStrike" baseline="0" dirty="0">
                <a:latin typeface="Calibri" panose="020F0502020204030204" pitchFamily="34" charset="0"/>
              </a:rPr>
              <a:t>Unidad 2. Aplicaciones y tendencias futuras</a:t>
            </a:r>
          </a:p>
          <a:p>
            <a:pPr algn="just"/>
            <a:r>
              <a:rPr lang="es-CO" sz="1400" dirty="0"/>
              <a:t>Aplicaciones prácticas de la transmisión de datos</a:t>
            </a:r>
          </a:p>
          <a:p>
            <a:pPr algn="just"/>
            <a:r>
              <a:rPr lang="es-CO" sz="1400" dirty="0"/>
              <a:t>Tendencias futuras en transmisión de datos</a:t>
            </a:r>
          </a:p>
          <a:p>
            <a:pPr algn="just"/>
            <a:r>
              <a:rPr lang="es-CO" sz="1400" dirty="0"/>
              <a:t>Transformación digital</a:t>
            </a:r>
          </a:p>
          <a:p>
            <a:pPr algn="just"/>
            <a:endParaRPr lang="es-CO" sz="1400" dirty="0"/>
          </a:p>
          <a:p>
            <a:pPr algn="just"/>
            <a:endParaRPr lang="es-CO" sz="1400" dirty="0"/>
          </a:p>
          <a:p>
            <a:pPr algn="just"/>
            <a:endParaRPr lang="es-CO" sz="1400" dirty="0"/>
          </a:p>
        </p:txBody>
      </p:sp>
    </p:spTree>
    <p:extLst>
      <p:ext uri="{BB962C8B-B14F-4D97-AF65-F5344CB8AC3E}">
        <p14:creationId xmlns:p14="http://schemas.microsoft.com/office/powerpoint/2010/main" val="189047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156996" y="1735495"/>
            <a:ext cx="9881118" cy="1037545"/>
          </a:xfrm>
        </p:spPr>
        <p:txBody>
          <a:bodyPr/>
          <a:lstStyle/>
          <a:p>
            <a:pPr algn="ctr"/>
            <a:r>
              <a:rPr lang="es-CO" b="1" dirty="0"/>
              <a:t>Objetivos específicos</a:t>
            </a:r>
          </a:p>
        </p:txBody>
      </p:sp>
      <p:sp>
        <p:nvSpPr>
          <p:cNvPr id="3" name="Marcador de contenido 2"/>
          <p:cNvSpPr>
            <a:spLocks noGrp="1"/>
          </p:cNvSpPr>
          <p:nvPr>
            <p:ph idx="1"/>
          </p:nvPr>
        </p:nvSpPr>
        <p:spPr>
          <a:xfrm>
            <a:off x="1155441" y="2773040"/>
            <a:ext cx="9881118" cy="3116521"/>
          </a:xfrm>
        </p:spPr>
        <p:txBody>
          <a:bodyPr/>
          <a:lstStyle/>
          <a:p>
            <a:r>
              <a:rPr lang="es-CO" sz="1800" b="0" i="0" u="none" strike="noStrike" baseline="0" dirty="0">
                <a:solidFill>
                  <a:srgbClr val="000000"/>
                </a:solidFill>
                <a:latin typeface="Calibri" panose="020F0502020204030204" pitchFamily="34" charset="0"/>
              </a:rPr>
              <a:t>Comprender los principios fundamentales de la transmisión de datos aplicado al análisis y diseño de soluciones de telecomunicaciones</a:t>
            </a:r>
          </a:p>
          <a:p>
            <a:endParaRPr lang="es-CO" sz="1800" b="0" i="0" u="none" strike="noStrike" baseline="0" dirty="0">
              <a:solidFill>
                <a:srgbClr val="000000"/>
              </a:solidFill>
              <a:latin typeface="Calibri" panose="020F0502020204030204" pitchFamily="34" charset="0"/>
            </a:endParaRPr>
          </a:p>
          <a:p>
            <a:r>
              <a:rPr lang="es-CO" sz="1800" dirty="0">
                <a:solidFill>
                  <a:srgbClr val="000000"/>
                </a:solidFill>
                <a:latin typeface="Calibri" panose="020F0502020204030204" pitchFamily="34" charset="0"/>
              </a:rPr>
              <a:t>Entender los conceptos de codificación, digitalización y modulación, aplicados a sistemas de transmisión de datos</a:t>
            </a:r>
          </a:p>
          <a:p>
            <a:endParaRPr lang="es-CO" sz="1800" dirty="0">
              <a:solidFill>
                <a:srgbClr val="000000"/>
              </a:solidFill>
              <a:latin typeface="Calibri" panose="020F0502020204030204" pitchFamily="34" charset="0"/>
            </a:endParaRPr>
          </a:p>
          <a:p>
            <a:r>
              <a:rPr lang="es-CO" sz="1800" dirty="0">
                <a:solidFill>
                  <a:srgbClr val="000000"/>
                </a:solidFill>
                <a:latin typeface="Calibri" panose="020F0502020204030204" pitchFamily="34" charset="0"/>
              </a:rPr>
              <a:t>Diseñar infraestructura de telecomunicaciones basadas en la aplicación de estándares</a:t>
            </a:r>
          </a:p>
          <a:p>
            <a:endParaRPr lang="es-CO" sz="1800" dirty="0">
              <a:solidFill>
                <a:srgbClr val="000000"/>
              </a:solidFill>
              <a:latin typeface="Calibri" panose="020F0502020204030204" pitchFamily="34" charset="0"/>
            </a:endParaRPr>
          </a:p>
          <a:p>
            <a:r>
              <a:rPr lang="es-CO" sz="1800" b="0" i="0" u="none" strike="noStrike" baseline="0" dirty="0">
                <a:solidFill>
                  <a:srgbClr val="000000"/>
                </a:solidFill>
                <a:latin typeface="Calibri" panose="020F0502020204030204" pitchFamily="34" charset="0"/>
              </a:rPr>
              <a:t>Identificar</a:t>
            </a:r>
            <a:r>
              <a:rPr lang="es-CO" sz="1800" dirty="0">
                <a:solidFill>
                  <a:srgbClr val="000000"/>
                </a:solidFill>
                <a:latin typeface="Calibri" panose="020F0502020204030204" pitchFamily="34" charset="0"/>
              </a:rPr>
              <a:t> </a:t>
            </a:r>
            <a:r>
              <a:rPr lang="es-CO" sz="1800" b="0" i="0" u="none" strike="noStrike" baseline="0" dirty="0">
                <a:solidFill>
                  <a:srgbClr val="000000"/>
                </a:solidFill>
                <a:latin typeface="Calibri" panose="020F0502020204030204" pitchFamily="34" charset="0"/>
              </a:rPr>
              <a:t>y corregir problemas típicos presentes en transmisión de datos</a:t>
            </a:r>
          </a:p>
        </p:txBody>
      </p:sp>
    </p:spTree>
    <p:extLst>
      <p:ext uri="{BB962C8B-B14F-4D97-AF65-F5344CB8AC3E}">
        <p14:creationId xmlns:p14="http://schemas.microsoft.com/office/powerpoint/2010/main" val="349350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156996" y="1735495"/>
            <a:ext cx="9881118" cy="1037545"/>
          </a:xfrm>
        </p:spPr>
        <p:txBody>
          <a:bodyPr/>
          <a:lstStyle/>
          <a:p>
            <a:pPr algn="ctr"/>
            <a:r>
              <a:rPr lang="es-CO" b="1" dirty="0"/>
              <a:t>Objetivos específicos</a:t>
            </a:r>
          </a:p>
        </p:txBody>
      </p:sp>
      <p:sp>
        <p:nvSpPr>
          <p:cNvPr id="3" name="Marcador de contenido 2"/>
          <p:cNvSpPr>
            <a:spLocks noGrp="1"/>
          </p:cNvSpPr>
          <p:nvPr>
            <p:ph idx="1"/>
          </p:nvPr>
        </p:nvSpPr>
        <p:spPr>
          <a:xfrm>
            <a:off x="1155441" y="2773040"/>
            <a:ext cx="9881118" cy="3116521"/>
          </a:xfrm>
        </p:spPr>
        <p:txBody>
          <a:bodyPr>
            <a:normAutofit/>
          </a:bodyPr>
          <a:lstStyle/>
          <a:p>
            <a:r>
              <a:rPr lang="es-CO" sz="1800" b="0" i="0" u="none" strike="noStrike" baseline="0" dirty="0">
                <a:solidFill>
                  <a:srgbClr val="000000"/>
                </a:solidFill>
                <a:latin typeface="Calibri" panose="020F0502020204030204" pitchFamily="34" charset="0"/>
              </a:rPr>
              <a:t>Aplicar conceptos de transmisión de datos para garantizar sistemas de red eficientes a través de estrategias de calidad del servicio, detección y corrección de errores y garantía de ancho de banda</a:t>
            </a:r>
          </a:p>
          <a:p>
            <a:endParaRPr lang="es-CO" sz="1800" b="0" i="0" u="none" strike="noStrike" baseline="0" dirty="0">
              <a:solidFill>
                <a:srgbClr val="000000"/>
              </a:solidFill>
              <a:latin typeface="Calibri" panose="020F0502020204030204" pitchFamily="34" charset="0"/>
            </a:endParaRPr>
          </a:p>
          <a:p>
            <a:r>
              <a:rPr lang="es-CO" sz="1800" dirty="0">
                <a:solidFill>
                  <a:srgbClr val="000000"/>
                </a:solidFill>
                <a:latin typeface="Calibri" panose="020F0502020204030204" pitchFamily="34" charset="0"/>
              </a:rPr>
              <a:t>Analizar el concepto de </a:t>
            </a:r>
            <a:r>
              <a:rPr lang="es-CO" sz="1800" dirty="0" err="1">
                <a:solidFill>
                  <a:srgbClr val="000000"/>
                </a:solidFill>
                <a:latin typeface="Calibri" panose="020F0502020204030204" pitchFamily="34" charset="0"/>
              </a:rPr>
              <a:t>socktes</a:t>
            </a:r>
            <a:r>
              <a:rPr lang="es-CO" sz="1800" dirty="0">
                <a:solidFill>
                  <a:srgbClr val="000000"/>
                </a:solidFill>
                <a:latin typeface="Calibri" panose="020F0502020204030204" pitchFamily="34" charset="0"/>
              </a:rPr>
              <a:t> (intercambio de información entre procesos no relacionados) para garantizar entornos de comunicación multiusuario y multiproceso</a:t>
            </a:r>
          </a:p>
          <a:p>
            <a:endParaRPr lang="es-CO" sz="1800" dirty="0">
              <a:solidFill>
                <a:srgbClr val="000000"/>
              </a:solidFill>
              <a:latin typeface="Calibri" panose="020F0502020204030204" pitchFamily="34" charset="0"/>
            </a:endParaRPr>
          </a:p>
          <a:p>
            <a:r>
              <a:rPr lang="es-CO" sz="1800" dirty="0">
                <a:solidFill>
                  <a:srgbClr val="000000"/>
                </a:solidFill>
                <a:latin typeface="Calibri" panose="020F0502020204030204" pitchFamily="34" charset="0"/>
              </a:rPr>
              <a:t>Aplicar estrategias que garanticen sistemas de comunicaciones seguras a través de la confidencialidad e integridad</a:t>
            </a:r>
          </a:p>
          <a:p>
            <a:r>
              <a:rPr lang="es-CO" sz="1800" dirty="0">
                <a:solidFill>
                  <a:srgbClr val="000000"/>
                </a:solidFill>
                <a:latin typeface="Calibri" panose="020F0502020204030204" pitchFamily="34" charset="0"/>
              </a:rPr>
              <a:t>Transformación digital</a:t>
            </a:r>
          </a:p>
          <a:p>
            <a:endParaRPr lang="es-CO" sz="18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14214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156996" y="1735495"/>
            <a:ext cx="9881118" cy="1037545"/>
          </a:xfrm>
        </p:spPr>
        <p:txBody>
          <a:bodyPr/>
          <a:lstStyle/>
          <a:p>
            <a:pPr algn="ctr"/>
            <a:r>
              <a:rPr lang="es-CO" b="1" dirty="0"/>
              <a:t>Evaluación</a:t>
            </a:r>
          </a:p>
        </p:txBody>
      </p:sp>
      <p:graphicFrame>
        <p:nvGraphicFramePr>
          <p:cNvPr id="7" name="Tabla 6">
            <a:extLst>
              <a:ext uri="{FF2B5EF4-FFF2-40B4-BE49-F238E27FC236}">
                <a16:creationId xmlns:a16="http://schemas.microsoft.com/office/drawing/2014/main" id="{11F72DD2-02B9-F403-ECBB-C6F2A48D861A}"/>
              </a:ext>
            </a:extLst>
          </p:cNvPr>
          <p:cNvGraphicFramePr>
            <a:graphicFrameLocks noGrp="1"/>
          </p:cNvGraphicFramePr>
          <p:nvPr>
            <p:extLst>
              <p:ext uri="{D42A27DB-BD31-4B8C-83A1-F6EECF244321}">
                <p14:modId xmlns:p14="http://schemas.microsoft.com/office/powerpoint/2010/main" val="3656836118"/>
              </p:ext>
            </p:extLst>
          </p:nvPr>
        </p:nvGraphicFramePr>
        <p:xfrm>
          <a:off x="3566160" y="2844800"/>
          <a:ext cx="5405120" cy="2854960"/>
        </p:xfrm>
        <a:graphic>
          <a:graphicData uri="http://schemas.openxmlformats.org/drawingml/2006/table">
            <a:tbl>
              <a:tblPr/>
              <a:tblGrid>
                <a:gridCol w="3002844">
                  <a:extLst>
                    <a:ext uri="{9D8B030D-6E8A-4147-A177-3AD203B41FA5}">
                      <a16:colId xmlns:a16="http://schemas.microsoft.com/office/drawing/2014/main" val="3144929770"/>
                    </a:ext>
                  </a:extLst>
                </a:gridCol>
                <a:gridCol w="2402276">
                  <a:extLst>
                    <a:ext uri="{9D8B030D-6E8A-4147-A177-3AD203B41FA5}">
                      <a16:colId xmlns:a16="http://schemas.microsoft.com/office/drawing/2014/main" val="2718349774"/>
                    </a:ext>
                  </a:extLst>
                </a:gridCol>
              </a:tblGrid>
              <a:tr h="567081">
                <a:tc>
                  <a:txBody>
                    <a:bodyPr/>
                    <a:lstStyle/>
                    <a:p>
                      <a:pPr algn="ctr" fontAlgn="ctr"/>
                      <a:r>
                        <a:rPr lang="es-CO" sz="1100" b="1" i="0" u="none" strike="noStrike">
                          <a:solidFill>
                            <a:srgbClr val="000000"/>
                          </a:solidFill>
                          <a:effectLst/>
                          <a:latin typeface="Calibri" panose="020F0502020204030204" pitchFamily="34" charset="0"/>
                        </a:rPr>
                        <a:t>Actividad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s-CO" sz="1100" b="1" i="0" u="none" strike="noStrike">
                          <a:solidFill>
                            <a:srgbClr val="000000"/>
                          </a:solidFill>
                          <a:effectLst/>
                          <a:latin typeface="Calibri" panose="020F0502020204030204" pitchFamily="34" charset="0"/>
                        </a:rPr>
                        <a:t>Porcentaje %</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721752552"/>
                  </a:ext>
                </a:extLst>
              </a:tr>
              <a:tr h="567081">
                <a:tc>
                  <a:txBody>
                    <a:bodyPr/>
                    <a:lstStyle/>
                    <a:p>
                      <a:pPr algn="ctr" fontAlgn="ctr"/>
                      <a:r>
                        <a:rPr lang="es-CO" sz="1100" b="0" i="0" u="none" strike="noStrike" dirty="0">
                          <a:solidFill>
                            <a:srgbClr val="000000"/>
                          </a:solidFill>
                          <a:effectLst/>
                          <a:latin typeface="Calibri" panose="020F0502020204030204" pitchFamily="34" charset="0"/>
                        </a:rPr>
                        <a:t>Parcial 1</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100" b="0" i="0" u="none" strike="noStrike" dirty="0">
                          <a:solidFill>
                            <a:srgbClr val="000000"/>
                          </a:solidFill>
                          <a:effectLst/>
                          <a:latin typeface="Calibri" panose="020F0502020204030204" pitchFamily="34" charset="0"/>
                        </a:rPr>
                        <a:t>30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8528483"/>
                  </a:ext>
                </a:extLst>
              </a:tr>
              <a:tr h="567081">
                <a:tc>
                  <a:txBody>
                    <a:bodyPr/>
                    <a:lstStyle/>
                    <a:p>
                      <a:pPr algn="ctr" fontAlgn="ctr"/>
                      <a:r>
                        <a:rPr lang="es-CO" sz="1100" b="0" i="0" u="none" strike="noStrike" dirty="0">
                          <a:solidFill>
                            <a:srgbClr val="000000"/>
                          </a:solidFill>
                          <a:effectLst/>
                          <a:latin typeface="Calibri" panose="020F0502020204030204" pitchFamily="34" charset="0"/>
                        </a:rPr>
                        <a:t>trabajo preliminar</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100" b="0" i="0" u="none" strike="noStrike" dirty="0">
                          <a:solidFill>
                            <a:srgbClr val="000000"/>
                          </a:solidFill>
                          <a:effectLst/>
                          <a:latin typeface="Calibri" panose="020F0502020204030204" pitchFamily="34" charset="0"/>
                        </a:rPr>
                        <a:t>35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1617404"/>
                  </a:ext>
                </a:extLst>
              </a:tr>
              <a:tr h="567081">
                <a:tc>
                  <a:txBody>
                    <a:bodyPr/>
                    <a:lstStyle/>
                    <a:p>
                      <a:pPr algn="ctr" fontAlgn="ctr"/>
                      <a:r>
                        <a:rPr lang="es-CO" sz="1100" b="0" i="0" u="none" strike="noStrike" dirty="0">
                          <a:solidFill>
                            <a:srgbClr val="000000"/>
                          </a:solidFill>
                          <a:effectLst/>
                          <a:latin typeface="Calibri" panose="020F0502020204030204" pitchFamily="34" charset="0"/>
                        </a:rPr>
                        <a:t>Trabajo final</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100" b="0" i="0" u="none" strike="noStrike" dirty="0">
                          <a:solidFill>
                            <a:srgbClr val="000000"/>
                          </a:solidFill>
                          <a:effectLst/>
                          <a:latin typeface="Calibri" panose="020F0502020204030204" pitchFamily="34" charset="0"/>
                        </a:rPr>
                        <a:t>35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6248462"/>
                  </a:ext>
                </a:extLst>
              </a:tr>
              <a:tr h="586636">
                <a:tc>
                  <a:txBody>
                    <a:bodyPr/>
                    <a:lstStyle/>
                    <a:p>
                      <a:pPr algn="ctr" fontAlgn="ctr"/>
                      <a:r>
                        <a:rPr lang="es-CO" sz="1100" b="0" i="0" u="none" strike="noStrike">
                          <a:solidFill>
                            <a:srgbClr val="000000"/>
                          </a:solidFill>
                          <a:effectLst/>
                          <a:latin typeface="Calibri" panose="020F05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CO" sz="1100" b="0" i="0" u="none" strike="noStrike" dirty="0">
                          <a:solidFill>
                            <a:srgbClr val="000000"/>
                          </a:solidFill>
                          <a:effectLst/>
                          <a:latin typeface="Calibri" panose="020F0502020204030204" pitchFamily="34" charset="0"/>
                        </a:rPr>
                        <a:t>100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8625474"/>
                  </a:ext>
                </a:extLst>
              </a:tr>
            </a:tbl>
          </a:graphicData>
        </a:graphic>
      </p:graphicFrame>
    </p:spTree>
    <p:extLst>
      <p:ext uri="{BB962C8B-B14F-4D97-AF65-F5344CB8AC3E}">
        <p14:creationId xmlns:p14="http://schemas.microsoft.com/office/powerpoint/2010/main" val="189831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156996" y="1735495"/>
            <a:ext cx="9881118" cy="1037545"/>
          </a:xfrm>
        </p:spPr>
        <p:txBody>
          <a:bodyPr/>
          <a:lstStyle/>
          <a:p>
            <a:pPr algn="ctr"/>
            <a:r>
              <a:rPr lang="es-CO" b="1" dirty="0"/>
              <a:t>Bibliografía</a:t>
            </a:r>
          </a:p>
        </p:txBody>
      </p:sp>
      <p:sp>
        <p:nvSpPr>
          <p:cNvPr id="3" name="Rectángulo 2">
            <a:extLst>
              <a:ext uri="{FF2B5EF4-FFF2-40B4-BE49-F238E27FC236}">
                <a16:creationId xmlns:a16="http://schemas.microsoft.com/office/drawing/2014/main" id="{6425DE2C-4681-A9A2-04AF-9B706168E27A}"/>
              </a:ext>
            </a:extLst>
          </p:cNvPr>
          <p:cNvSpPr/>
          <p:nvPr/>
        </p:nvSpPr>
        <p:spPr>
          <a:xfrm>
            <a:off x="762000" y="2773040"/>
            <a:ext cx="10668000" cy="3757952"/>
          </a:xfrm>
          <a:prstGeom prst="rect">
            <a:avLst/>
          </a:prstGeom>
        </p:spPr>
        <p:txBody>
          <a:bodyPr wrap="square">
            <a:spAutoFit/>
          </a:bodyPr>
          <a:lstStyle/>
          <a:p>
            <a:pPr marL="742950" lvl="1" indent="-285750">
              <a:lnSpc>
                <a:spcPts val="2420"/>
              </a:lnSpc>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Transmisión</a:t>
            </a:r>
            <a:r>
              <a:rPr lang="es-ES" sz="2000" spc="-2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de</a:t>
            </a:r>
            <a:r>
              <a:rPr lang="es-ES" sz="2000" spc="-4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datos</a:t>
            </a:r>
            <a:r>
              <a:rPr lang="es-ES" sz="2000" spc="-3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y</a:t>
            </a:r>
            <a:r>
              <a:rPr lang="es-ES" sz="2000" spc="-4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redes</a:t>
            </a:r>
            <a:r>
              <a:rPr lang="es-ES" sz="2000" spc="-3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de</a:t>
            </a:r>
            <a:r>
              <a:rPr lang="es-ES" sz="2000" spc="-3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comunicaciones.</a:t>
            </a:r>
            <a:endParaRPr lang="es-CO" sz="2000" dirty="0">
              <a:ea typeface="Wingdings" panose="05000000000000000000" pitchFamily="2" charset="2"/>
              <a:cs typeface="Wingdings" panose="05000000000000000000" pitchFamily="2" charset="2"/>
            </a:endParaRPr>
          </a:p>
          <a:p>
            <a:pPr marL="953770">
              <a:lnSpc>
                <a:spcPts val="2420"/>
              </a:lnSpc>
              <a:spcAft>
                <a:spcPts val="0"/>
              </a:spcAft>
            </a:pPr>
            <a:r>
              <a:rPr lang="es-ES" sz="2000" dirty="0" err="1">
                <a:ea typeface="Calibri" panose="020F0502020204030204" pitchFamily="34" charset="0"/>
              </a:rPr>
              <a:t>Behrouz</a:t>
            </a:r>
            <a:r>
              <a:rPr lang="es-ES" sz="2000" spc="-40" dirty="0">
                <a:ea typeface="Calibri" panose="020F0502020204030204" pitchFamily="34" charset="0"/>
              </a:rPr>
              <a:t> </a:t>
            </a:r>
            <a:r>
              <a:rPr lang="es-ES" sz="2000" dirty="0" err="1">
                <a:ea typeface="Calibri" panose="020F0502020204030204" pitchFamily="34" charset="0"/>
              </a:rPr>
              <a:t>Forouzan</a:t>
            </a:r>
            <a:r>
              <a:rPr lang="es-ES" sz="2000" dirty="0">
                <a:ea typeface="Calibri" panose="020F0502020204030204" pitchFamily="34" charset="0"/>
              </a:rPr>
              <a:t>.</a:t>
            </a:r>
            <a:r>
              <a:rPr lang="es-ES" sz="2000" spc="-55" dirty="0">
                <a:ea typeface="Calibri" panose="020F0502020204030204" pitchFamily="34" charset="0"/>
              </a:rPr>
              <a:t> </a:t>
            </a:r>
            <a:r>
              <a:rPr lang="es-ES" sz="2000" dirty="0">
                <a:ea typeface="Calibri" panose="020F0502020204030204" pitchFamily="34" charset="0"/>
              </a:rPr>
              <a:t>Mc</a:t>
            </a:r>
            <a:r>
              <a:rPr lang="es-ES" sz="2000" spc="-25" dirty="0">
                <a:ea typeface="Calibri" panose="020F0502020204030204" pitchFamily="34" charset="0"/>
              </a:rPr>
              <a:t> </a:t>
            </a:r>
            <a:r>
              <a:rPr lang="es-ES" sz="2000" dirty="0">
                <a:ea typeface="Calibri" panose="020F0502020204030204" pitchFamily="34" charset="0"/>
              </a:rPr>
              <a:t>Graw</a:t>
            </a:r>
            <a:r>
              <a:rPr lang="es-ES" sz="2000" spc="-40" dirty="0">
                <a:ea typeface="Calibri" panose="020F0502020204030204" pitchFamily="34" charset="0"/>
              </a:rPr>
              <a:t> </a:t>
            </a:r>
            <a:r>
              <a:rPr lang="es-ES" sz="2000" dirty="0">
                <a:ea typeface="Calibri" panose="020F0502020204030204" pitchFamily="34" charset="0"/>
              </a:rPr>
              <a:t>Hill,</a:t>
            </a:r>
            <a:r>
              <a:rPr lang="es-ES" sz="2000" spc="-5" dirty="0">
                <a:ea typeface="Calibri" panose="020F0502020204030204" pitchFamily="34" charset="0"/>
              </a:rPr>
              <a:t> </a:t>
            </a:r>
            <a:r>
              <a:rPr lang="es-ES" sz="2000" dirty="0">
                <a:ea typeface="Calibri" panose="020F0502020204030204" pitchFamily="34" charset="0"/>
              </a:rPr>
              <a:t>2007</a:t>
            </a:r>
            <a:endParaRPr lang="es-CO" sz="2000" dirty="0">
              <a:ea typeface="Calibri" panose="020F0502020204030204" pitchFamily="34" charset="0"/>
            </a:endParaRPr>
          </a:p>
          <a:p>
            <a:pPr>
              <a:spcBef>
                <a:spcPts val="40"/>
              </a:spcBef>
              <a:spcAft>
                <a:spcPts val="0"/>
              </a:spcAft>
            </a:pPr>
            <a:r>
              <a:rPr lang="es-ES" sz="2000" dirty="0">
                <a:ea typeface="Calibri" panose="020F0502020204030204" pitchFamily="34" charset="0"/>
              </a:rPr>
              <a:t> </a:t>
            </a:r>
            <a:endParaRPr lang="es-CO" sz="2000" dirty="0">
              <a:ea typeface="Calibri" panose="020F0502020204030204" pitchFamily="34" charset="0"/>
            </a:endParaRPr>
          </a:p>
          <a:p>
            <a:pPr marL="742950" lvl="1" indent="-285750">
              <a:lnSpc>
                <a:spcPts val="2420"/>
              </a:lnSpc>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Redes</a:t>
            </a:r>
            <a:r>
              <a:rPr lang="es-ES" sz="2000" spc="-1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y</a:t>
            </a:r>
            <a:r>
              <a:rPr lang="es-ES" sz="2000" spc="-3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Seguridad.</a:t>
            </a:r>
            <a:endParaRPr lang="es-CO" sz="2000" dirty="0">
              <a:ea typeface="Wingdings" panose="05000000000000000000" pitchFamily="2" charset="2"/>
              <a:cs typeface="Wingdings" panose="05000000000000000000" pitchFamily="2" charset="2"/>
            </a:endParaRPr>
          </a:p>
          <a:p>
            <a:pPr marL="953770">
              <a:lnSpc>
                <a:spcPts val="2420"/>
              </a:lnSpc>
              <a:spcAft>
                <a:spcPts val="0"/>
              </a:spcAft>
            </a:pPr>
            <a:r>
              <a:rPr lang="es-ES" sz="2000" dirty="0">
                <a:ea typeface="Calibri" panose="020F0502020204030204" pitchFamily="34" charset="0"/>
              </a:rPr>
              <a:t>Matías</a:t>
            </a:r>
            <a:r>
              <a:rPr lang="es-ES" sz="2000" spc="-10" dirty="0">
                <a:ea typeface="Calibri" panose="020F0502020204030204" pitchFamily="34" charset="0"/>
              </a:rPr>
              <a:t> </a:t>
            </a:r>
            <a:r>
              <a:rPr lang="es-ES" sz="2000" dirty="0">
                <a:ea typeface="Calibri" panose="020F0502020204030204" pitchFamily="34" charset="0"/>
              </a:rPr>
              <a:t>Katz.</a:t>
            </a:r>
            <a:r>
              <a:rPr lang="es-ES" sz="2000" spc="-40" dirty="0">
                <a:ea typeface="Calibri" panose="020F0502020204030204" pitchFamily="34" charset="0"/>
              </a:rPr>
              <a:t> </a:t>
            </a:r>
            <a:r>
              <a:rPr lang="es-ES" sz="2000" dirty="0">
                <a:ea typeface="Calibri" panose="020F0502020204030204" pitchFamily="34" charset="0"/>
              </a:rPr>
              <a:t>Alfaomega,</a:t>
            </a:r>
            <a:r>
              <a:rPr lang="es-ES" sz="2000" spc="-30" dirty="0">
                <a:ea typeface="Calibri" panose="020F0502020204030204" pitchFamily="34" charset="0"/>
              </a:rPr>
              <a:t> </a:t>
            </a:r>
            <a:r>
              <a:rPr lang="es-ES" sz="2000" dirty="0">
                <a:ea typeface="Calibri" panose="020F0502020204030204" pitchFamily="34" charset="0"/>
              </a:rPr>
              <a:t>2013</a:t>
            </a:r>
            <a:endParaRPr lang="es-CO" sz="2000" dirty="0">
              <a:ea typeface="Calibri" panose="020F0502020204030204" pitchFamily="34" charset="0"/>
            </a:endParaRPr>
          </a:p>
          <a:p>
            <a:pPr>
              <a:spcBef>
                <a:spcPts val="40"/>
              </a:spcBef>
              <a:spcAft>
                <a:spcPts val="0"/>
              </a:spcAft>
            </a:pPr>
            <a:r>
              <a:rPr lang="es-ES" sz="2000" dirty="0">
                <a:ea typeface="Calibri" panose="020F0502020204030204" pitchFamily="34" charset="0"/>
              </a:rPr>
              <a:t> </a:t>
            </a:r>
            <a:endParaRPr lang="es-CO" sz="2000" dirty="0">
              <a:ea typeface="Calibri" panose="020F0502020204030204" pitchFamily="34" charset="0"/>
            </a:endParaRPr>
          </a:p>
          <a:p>
            <a:pPr marL="742950" lvl="1" indent="-285750">
              <a:lnSpc>
                <a:spcPts val="2420"/>
              </a:lnSpc>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Comunicaciones</a:t>
            </a:r>
            <a:r>
              <a:rPr lang="es-ES" sz="2000" spc="-4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y</a:t>
            </a:r>
            <a:r>
              <a:rPr lang="es-ES" sz="2000" spc="-1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redes</a:t>
            </a:r>
            <a:r>
              <a:rPr lang="es-ES" sz="2000" spc="-2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de</a:t>
            </a:r>
            <a:r>
              <a:rPr lang="es-ES" sz="2000" spc="-1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Computadores.</a:t>
            </a:r>
            <a:endParaRPr lang="es-CO" sz="2000" dirty="0">
              <a:ea typeface="Wingdings" panose="05000000000000000000" pitchFamily="2" charset="2"/>
              <a:cs typeface="Wingdings" panose="05000000000000000000" pitchFamily="2" charset="2"/>
            </a:endParaRPr>
          </a:p>
          <a:p>
            <a:pPr marL="953770">
              <a:lnSpc>
                <a:spcPts val="2420"/>
              </a:lnSpc>
              <a:spcAft>
                <a:spcPts val="0"/>
              </a:spcAft>
            </a:pPr>
            <a:r>
              <a:rPr lang="es-ES" sz="2000" dirty="0">
                <a:ea typeface="Calibri" panose="020F0502020204030204" pitchFamily="34" charset="0"/>
              </a:rPr>
              <a:t>William</a:t>
            </a:r>
            <a:r>
              <a:rPr lang="es-ES" sz="2000" spc="-5" dirty="0">
                <a:ea typeface="Calibri" panose="020F0502020204030204" pitchFamily="34" charset="0"/>
              </a:rPr>
              <a:t> </a:t>
            </a:r>
            <a:r>
              <a:rPr lang="es-ES" sz="2000" dirty="0" err="1">
                <a:ea typeface="Calibri" panose="020F0502020204030204" pitchFamily="34" charset="0"/>
              </a:rPr>
              <a:t>Stallings</a:t>
            </a:r>
            <a:r>
              <a:rPr lang="es-ES" sz="2000" dirty="0">
                <a:ea typeface="Calibri" panose="020F0502020204030204" pitchFamily="34" charset="0"/>
              </a:rPr>
              <a:t>.</a:t>
            </a:r>
            <a:r>
              <a:rPr lang="es-ES" sz="2000" spc="-15" dirty="0">
                <a:ea typeface="Calibri" panose="020F0502020204030204" pitchFamily="34" charset="0"/>
              </a:rPr>
              <a:t> </a:t>
            </a:r>
            <a:r>
              <a:rPr lang="es-ES" sz="2000" dirty="0">
                <a:ea typeface="Calibri" panose="020F0502020204030204" pitchFamily="34" charset="0"/>
              </a:rPr>
              <a:t>Prentice</a:t>
            </a:r>
            <a:r>
              <a:rPr lang="es-ES" sz="2000" spc="10" dirty="0">
                <a:ea typeface="Calibri" panose="020F0502020204030204" pitchFamily="34" charset="0"/>
              </a:rPr>
              <a:t> </a:t>
            </a:r>
            <a:r>
              <a:rPr lang="es-ES" sz="2000" dirty="0">
                <a:ea typeface="Calibri" panose="020F0502020204030204" pitchFamily="34" charset="0"/>
              </a:rPr>
              <a:t>Hall,</a:t>
            </a:r>
            <a:r>
              <a:rPr lang="es-ES" sz="2000" spc="-10" dirty="0">
                <a:ea typeface="Calibri" panose="020F0502020204030204" pitchFamily="34" charset="0"/>
              </a:rPr>
              <a:t> </a:t>
            </a:r>
            <a:r>
              <a:rPr lang="es-ES" sz="2000" dirty="0">
                <a:ea typeface="Calibri" panose="020F0502020204030204" pitchFamily="34" charset="0"/>
              </a:rPr>
              <a:t>2004</a:t>
            </a:r>
            <a:endParaRPr lang="es-CO" sz="2000" dirty="0">
              <a:ea typeface="Calibri" panose="020F0502020204030204" pitchFamily="34" charset="0"/>
            </a:endParaRPr>
          </a:p>
          <a:p>
            <a:pPr>
              <a:spcBef>
                <a:spcPts val="15"/>
              </a:spcBef>
              <a:spcAft>
                <a:spcPts val="0"/>
              </a:spcAft>
            </a:pPr>
            <a:r>
              <a:rPr lang="es-ES" sz="2000" dirty="0">
                <a:ea typeface="Calibri" panose="020F0502020204030204" pitchFamily="34" charset="0"/>
              </a:rPr>
              <a:t> </a:t>
            </a:r>
            <a:endParaRPr lang="es-CO" sz="2000" dirty="0">
              <a:ea typeface="Calibri" panose="020F0502020204030204" pitchFamily="34" charset="0"/>
            </a:endParaRPr>
          </a:p>
          <a:p>
            <a:pPr marL="742950" marR="4817110" lvl="1" indent="-285750">
              <a:lnSpc>
                <a:spcPct val="97000"/>
              </a:lnSpc>
              <a:spcBef>
                <a:spcPts val="5"/>
              </a:spcBef>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Telecomunicaciones,</a:t>
            </a:r>
            <a:r>
              <a:rPr lang="es-ES" sz="2000" spc="-10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Tecnologías,</a:t>
            </a:r>
            <a:r>
              <a:rPr lang="es-ES" sz="2000" spc="-10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redes</a:t>
            </a:r>
            <a:r>
              <a:rPr lang="es-ES" sz="2000" spc="-10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y</a:t>
            </a:r>
            <a:r>
              <a:rPr lang="es-ES" sz="2000" spc="-10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servicios.</a:t>
            </a:r>
            <a:r>
              <a:rPr lang="es-ES" sz="2000" spc="-440" dirty="0">
                <a:ea typeface="Wingdings" panose="05000000000000000000" pitchFamily="2" charset="2"/>
                <a:cs typeface="Wingdings" panose="05000000000000000000" pitchFamily="2" charset="2"/>
              </a:rPr>
              <a:t> </a:t>
            </a:r>
          </a:p>
          <a:p>
            <a:pPr marR="4817110" lvl="1">
              <a:lnSpc>
                <a:spcPct val="97000"/>
              </a:lnSpc>
              <a:spcBef>
                <a:spcPts val="5"/>
              </a:spcBef>
              <a:spcAft>
                <a:spcPts val="0"/>
              </a:spcAft>
              <a:buSzPts val="2000"/>
              <a:tabLst>
                <a:tab pos="955675" algn="l"/>
              </a:tabLst>
            </a:pPr>
            <a:r>
              <a:rPr lang="es-ES" sz="2000" spc="-44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José</a:t>
            </a:r>
            <a:r>
              <a:rPr lang="es-ES" sz="2000" spc="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Manuel</a:t>
            </a:r>
            <a:r>
              <a:rPr lang="es-ES" sz="2000" spc="-10"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Huidobro.</a:t>
            </a:r>
            <a:r>
              <a:rPr lang="es-ES" sz="2000" spc="-25" dirty="0">
                <a:ea typeface="Wingdings" panose="05000000000000000000" pitchFamily="2" charset="2"/>
                <a:cs typeface="Wingdings" panose="05000000000000000000" pitchFamily="2" charset="2"/>
              </a:rPr>
              <a:t> </a:t>
            </a:r>
            <a:r>
              <a:rPr lang="es-ES" sz="2000" dirty="0" err="1">
                <a:ea typeface="Wingdings" panose="05000000000000000000" pitchFamily="2" charset="2"/>
                <a:cs typeface="Wingdings" panose="05000000000000000000" pitchFamily="2" charset="2"/>
              </a:rPr>
              <a:t>RaMa</a:t>
            </a:r>
            <a:r>
              <a:rPr lang="es-ES" sz="2000" dirty="0">
                <a:ea typeface="Wingdings" panose="05000000000000000000" pitchFamily="2" charset="2"/>
                <a:cs typeface="Wingdings" panose="05000000000000000000" pitchFamily="2" charset="2"/>
              </a:rPr>
              <a:t>,</a:t>
            </a:r>
            <a:r>
              <a:rPr lang="es-ES" sz="2000" spc="-5" dirty="0">
                <a:ea typeface="Wingdings" panose="05000000000000000000" pitchFamily="2" charset="2"/>
                <a:cs typeface="Wingdings" panose="05000000000000000000" pitchFamily="2" charset="2"/>
              </a:rPr>
              <a:t> </a:t>
            </a:r>
            <a:r>
              <a:rPr lang="es-ES" sz="2000" dirty="0">
                <a:ea typeface="Wingdings" panose="05000000000000000000" pitchFamily="2" charset="2"/>
                <a:cs typeface="Wingdings" panose="05000000000000000000" pitchFamily="2" charset="2"/>
              </a:rPr>
              <a:t>2014</a:t>
            </a:r>
            <a:endParaRPr lang="es-CO" sz="2000" dirty="0">
              <a:effectLst/>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1203145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156996" y="1735495"/>
            <a:ext cx="9881118" cy="1037545"/>
          </a:xfrm>
        </p:spPr>
        <p:txBody>
          <a:bodyPr/>
          <a:lstStyle/>
          <a:p>
            <a:pPr algn="ctr"/>
            <a:r>
              <a:rPr lang="es-CO" b="1" dirty="0"/>
              <a:t>Bibliografía</a:t>
            </a:r>
          </a:p>
        </p:txBody>
      </p:sp>
      <p:sp>
        <p:nvSpPr>
          <p:cNvPr id="3" name="Rectángulo 2">
            <a:extLst>
              <a:ext uri="{FF2B5EF4-FFF2-40B4-BE49-F238E27FC236}">
                <a16:creationId xmlns:a16="http://schemas.microsoft.com/office/drawing/2014/main" id="{6425DE2C-4681-A9A2-04AF-9B706168E27A}"/>
              </a:ext>
            </a:extLst>
          </p:cNvPr>
          <p:cNvSpPr/>
          <p:nvPr/>
        </p:nvSpPr>
        <p:spPr>
          <a:xfrm>
            <a:off x="762000" y="2773040"/>
            <a:ext cx="10668000" cy="3459409"/>
          </a:xfrm>
          <a:prstGeom prst="rect">
            <a:avLst/>
          </a:prstGeom>
        </p:spPr>
        <p:txBody>
          <a:bodyPr wrap="square">
            <a:spAutoFit/>
          </a:bodyPr>
          <a:lstStyle/>
          <a:p>
            <a:pPr marL="742950" lvl="1" indent="-285750">
              <a:lnSpc>
                <a:spcPts val="2420"/>
              </a:lnSpc>
              <a:spcAft>
                <a:spcPts val="0"/>
              </a:spcAft>
              <a:buSzPts val="2000"/>
              <a:buFont typeface="Wingdings" panose="05000000000000000000" pitchFamily="2" charset="2"/>
              <a:buChar char=""/>
              <a:tabLst>
                <a:tab pos="955675" algn="l"/>
              </a:tabLst>
            </a:pPr>
            <a:r>
              <a:rPr lang="es-CO" sz="2000" dirty="0">
                <a:ea typeface="Wingdings" panose="05000000000000000000" pitchFamily="2" charset="2"/>
                <a:cs typeface="Wingdings" panose="05000000000000000000" pitchFamily="2" charset="2"/>
              </a:rPr>
              <a:t>Comunicaciones digitales.</a:t>
            </a:r>
          </a:p>
          <a:p>
            <a:pPr marL="953770">
              <a:lnSpc>
                <a:spcPts val="2420"/>
              </a:lnSpc>
              <a:spcAft>
                <a:spcPts val="0"/>
              </a:spcAft>
            </a:pPr>
            <a:r>
              <a:rPr lang="es-ES" sz="2000" dirty="0" err="1">
                <a:ea typeface="Calibri" panose="020F0502020204030204" pitchFamily="34" charset="0"/>
              </a:rPr>
              <a:t>Sarrablo</a:t>
            </a:r>
            <a:r>
              <a:rPr lang="es-ES" sz="2000" dirty="0">
                <a:ea typeface="Calibri" panose="020F0502020204030204" pitchFamily="34" charset="0"/>
              </a:rPr>
              <a:t> Ramírez,</a:t>
            </a:r>
            <a:r>
              <a:rPr lang="es-ES" sz="2000" spc="-5" dirty="0">
                <a:ea typeface="Calibri" panose="020F0502020204030204" pitchFamily="34" charset="0"/>
              </a:rPr>
              <a:t> </a:t>
            </a:r>
            <a:r>
              <a:rPr lang="es-ES" sz="2000" dirty="0">
                <a:ea typeface="Calibri" panose="020F0502020204030204" pitchFamily="34" charset="0"/>
              </a:rPr>
              <a:t>2016</a:t>
            </a:r>
            <a:endParaRPr lang="es-CO" sz="2000" dirty="0">
              <a:ea typeface="Calibri" panose="020F0502020204030204" pitchFamily="34" charset="0"/>
            </a:endParaRPr>
          </a:p>
          <a:p>
            <a:pPr>
              <a:spcBef>
                <a:spcPts val="40"/>
              </a:spcBef>
              <a:spcAft>
                <a:spcPts val="0"/>
              </a:spcAft>
            </a:pPr>
            <a:r>
              <a:rPr lang="es-ES" sz="2000" dirty="0">
                <a:ea typeface="Calibri" panose="020F0502020204030204" pitchFamily="34" charset="0"/>
              </a:rPr>
              <a:t> </a:t>
            </a:r>
            <a:endParaRPr lang="es-CO" sz="2000" dirty="0">
              <a:ea typeface="Calibri" panose="020F0502020204030204" pitchFamily="34" charset="0"/>
            </a:endParaRPr>
          </a:p>
          <a:p>
            <a:pPr marL="742950" lvl="1" indent="-285750">
              <a:lnSpc>
                <a:spcPts val="2420"/>
              </a:lnSpc>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La transmisión en las redes de datos.</a:t>
            </a:r>
            <a:endParaRPr lang="es-CO" sz="2000" dirty="0">
              <a:ea typeface="Wingdings" panose="05000000000000000000" pitchFamily="2" charset="2"/>
              <a:cs typeface="Wingdings" panose="05000000000000000000" pitchFamily="2" charset="2"/>
            </a:endParaRPr>
          </a:p>
          <a:p>
            <a:pPr marL="953770">
              <a:lnSpc>
                <a:spcPts val="2420"/>
              </a:lnSpc>
              <a:spcAft>
                <a:spcPts val="0"/>
              </a:spcAft>
            </a:pPr>
            <a:r>
              <a:rPr lang="es-ES" sz="2000" dirty="0">
                <a:ea typeface="Calibri" panose="020F0502020204030204" pitchFamily="34" charset="0"/>
              </a:rPr>
              <a:t>Castaño, C., Martín, M., &amp; Santos, 2016</a:t>
            </a:r>
            <a:endParaRPr lang="es-CO" sz="2000" dirty="0">
              <a:ea typeface="Calibri" panose="020F0502020204030204" pitchFamily="34" charset="0"/>
            </a:endParaRPr>
          </a:p>
          <a:p>
            <a:pPr>
              <a:spcBef>
                <a:spcPts val="40"/>
              </a:spcBef>
              <a:spcAft>
                <a:spcPts val="0"/>
              </a:spcAft>
            </a:pPr>
            <a:r>
              <a:rPr lang="es-ES" sz="2000" dirty="0">
                <a:ea typeface="Calibri" panose="020F0502020204030204" pitchFamily="34" charset="0"/>
              </a:rPr>
              <a:t> </a:t>
            </a:r>
            <a:endParaRPr lang="es-CO" sz="2000" dirty="0">
              <a:ea typeface="Calibri" panose="020F0502020204030204" pitchFamily="34" charset="0"/>
            </a:endParaRPr>
          </a:p>
          <a:p>
            <a:pPr marL="742950" lvl="1" indent="-285750">
              <a:lnSpc>
                <a:spcPts val="2420"/>
              </a:lnSpc>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Internet de las cosas.</a:t>
            </a:r>
            <a:endParaRPr lang="es-CO" sz="2000" dirty="0">
              <a:ea typeface="Wingdings" panose="05000000000000000000" pitchFamily="2" charset="2"/>
              <a:cs typeface="Wingdings" panose="05000000000000000000" pitchFamily="2" charset="2"/>
            </a:endParaRPr>
          </a:p>
          <a:p>
            <a:pPr marL="953770">
              <a:lnSpc>
                <a:spcPts val="2420"/>
              </a:lnSpc>
              <a:spcAft>
                <a:spcPts val="0"/>
              </a:spcAft>
            </a:pPr>
            <a:r>
              <a:rPr lang="es-ES" sz="2000" dirty="0">
                <a:ea typeface="Calibri" panose="020F0502020204030204" pitchFamily="34" charset="0"/>
              </a:rPr>
              <a:t>Guerrero, I.P.,</a:t>
            </a:r>
            <a:r>
              <a:rPr lang="es-ES" sz="2000" spc="-10" dirty="0">
                <a:ea typeface="Calibri" panose="020F0502020204030204" pitchFamily="34" charset="0"/>
              </a:rPr>
              <a:t> </a:t>
            </a:r>
            <a:r>
              <a:rPr lang="es-ES" sz="2000" dirty="0">
                <a:ea typeface="Calibri" panose="020F0502020204030204" pitchFamily="34" charset="0"/>
              </a:rPr>
              <a:t>2015</a:t>
            </a:r>
            <a:endParaRPr lang="es-CO" sz="2000" dirty="0">
              <a:ea typeface="Calibri" panose="020F0502020204030204" pitchFamily="34" charset="0"/>
            </a:endParaRPr>
          </a:p>
          <a:p>
            <a:pPr>
              <a:spcBef>
                <a:spcPts val="15"/>
              </a:spcBef>
              <a:spcAft>
                <a:spcPts val="0"/>
              </a:spcAft>
            </a:pPr>
            <a:r>
              <a:rPr lang="es-ES" sz="2000" dirty="0">
                <a:ea typeface="Calibri" panose="020F0502020204030204" pitchFamily="34" charset="0"/>
              </a:rPr>
              <a:t> </a:t>
            </a:r>
            <a:endParaRPr lang="es-CO" sz="2000" dirty="0">
              <a:ea typeface="Calibri" panose="020F0502020204030204" pitchFamily="34" charset="0"/>
            </a:endParaRPr>
          </a:p>
          <a:p>
            <a:pPr marL="742950" marR="4817110" lvl="1" indent="-285750">
              <a:lnSpc>
                <a:spcPct val="97000"/>
              </a:lnSpc>
              <a:spcBef>
                <a:spcPts val="5"/>
              </a:spcBef>
              <a:spcAft>
                <a:spcPts val="0"/>
              </a:spcAft>
              <a:buSzPts val="2000"/>
              <a:buFont typeface="Wingdings" panose="05000000000000000000" pitchFamily="2" charset="2"/>
              <a:buChar char=""/>
              <a:tabLst>
                <a:tab pos="955675" algn="l"/>
              </a:tabLst>
            </a:pPr>
            <a:r>
              <a:rPr lang="es-ES" sz="2000" dirty="0">
                <a:ea typeface="Wingdings" panose="05000000000000000000" pitchFamily="2" charset="2"/>
                <a:cs typeface="Wingdings" panose="05000000000000000000" pitchFamily="2" charset="2"/>
              </a:rPr>
              <a:t>Redes de computadoras.</a:t>
            </a:r>
          </a:p>
          <a:p>
            <a:pPr marR="4817110" lvl="2">
              <a:lnSpc>
                <a:spcPct val="97000"/>
              </a:lnSpc>
              <a:spcBef>
                <a:spcPts val="5"/>
              </a:spcBef>
              <a:buSzPts val="2000"/>
              <a:tabLst>
                <a:tab pos="955675" algn="l"/>
              </a:tabLst>
            </a:pPr>
            <a:r>
              <a:rPr lang="es-ES" sz="2000" dirty="0">
                <a:effectLst/>
                <a:ea typeface="Wingdings" panose="05000000000000000000" pitchFamily="2" charset="2"/>
                <a:cs typeface="Wingdings" panose="05000000000000000000" pitchFamily="2" charset="2"/>
              </a:rPr>
              <a:t>	</a:t>
            </a:r>
            <a:r>
              <a:rPr lang="es-ES" sz="2000" dirty="0" err="1">
                <a:effectLst/>
                <a:ea typeface="Wingdings" panose="05000000000000000000" pitchFamily="2" charset="2"/>
                <a:cs typeface="Wingdings" panose="05000000000000000000" pitchFamily="2" charset="2"/>
              </a:rPr>
              <a:t>Tenembaum</a:t>
            </a:r>
            <a:r>
              <a:rPr lang="es-ES" sz="2000" dirty="0">
                <a:effectLst/>
                <a:ea typeface="Wingdings" panose="05000000000000000000" pitchFamily="2" charset="2"/>
                <a:cs typeface="Wingdings" panose="05000000000000000000" pitchFamily="2" charset="2"/>
              </a:rPr>
              <a:t> Wetherall., 2012</a:t>
            </a:r>
            <a:endParaRPr lang="es-CO" sz="2000" dirty="0">
              <a:effectLst/>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46429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Ejercicio Preliminar</a:t>
            </a:r>
          </a:p>
        </p:txBody>
      </p:sp>
      <p:sp>
        <p:nvSpPr>
          <p:cNvPr id="5" name="CuadroTexto 4">
            <a:extLst>
              <a:ext uri="{FF2B5EF4-FFF2-40B4-BE49-F238E27FC236}">
                <a16:creationId xmlns:a16="http://schemas.microsoft.com/office/drawing/2014/main" id="{9BDDD2D3-44B2-D3CF-1864-5F3FC0374F29}"/>
              </a:ext>
            </a:extLst>
          </p:cNvPr>
          <p:cNvSpPr txBox="1"/>
          <p:nvPr/>
        </p:nvSpPr>
        <p:spPr>
          <a:xfrm>
            <a:off x="493862" y="1582816"/>
            <a:ext cx="9892342" cy="5355312"/>
          </a:xfrm>
          <a:prstGeom prst="rect">
            <a:avLst/>
          </a:prstGeom>
          <a:noFill/>
        </p:spPr>
        <p:txBody>
          <a:bodyPr wrap="square">
            <a:spAutoFit/>
          </a:bodyPr>
          <a:lstStyle/>
          <a:p>
            <a:pPr marL="285750" indent="-285750" algn="just">
              <a:buFont typeface="Wingdings" panose="05000000000000000000" pitchFamily="2" charset="2"/>
              <a:buChar char="v"/>
            </a:pPr>
            <a:r>
              <a:rPr lang="es-MX" dirty="0"/>
              <a:t>Presentación trabajo </a:t>
            </a:r>
            <a:r>
              <a:rPr lang="es-MX" dirty="0" err="1"/>
              <a:t>preliminiar</a:t>
            </a:r>
            <a:r>
              <a:rPr lang="es-MX" dirty="0"/>
              <a:t> 35%.</a:t>
            </a:r>
          </a:p>
          <a:p>
            <a:pPr marL="285750" indent="-285750" algn="just">
              <a:buFont typeface="Wingdings" panose="05000000000000000000" pitchFamily="2" charset="2"/>
              <a:buChar char="v"/>
            </a:pPr>
            <a:endParaRPr lang="es-MX" dirty="0"/>
          </a:p>
          <a:p>
            <a:pPr lvl="1" algn="just"/>
            <a:r>
              <a:rPr lang="es-MX" sz="1400" dirty="0"/>
              <a:t>Revisando, eligiendo y pensando estratégicamente en los desafíos de la transformación digital, así como el uso de herramientas digitales para la solución y/o incremento de la capacidad productiva empresarial, la toma de decisiones informadas, y demás aspectos relevantes en el mundo corporativo, va a tomar la base de datos seleccionada con algún tema de su interés, diseñe el plan de pruebas de usuario (preguntas de negocio) que le gustaría resolver.</a:t>
            </a:r>
          </a:p>
          <a:p>
            <a:pPr lvl="1" algn="just"/>
            <a:endParaRPr lang="es-MX" sz="1400" dirty="0"/>
          </a:p>
          <a:p>
            <a:pPr lvl="1" algn="just"/>
            <a:r>
              <a:rPr lang="es-MX" sz="1400" dirty="0"/>
              <a:t>Tome la pregunta de negocio que considere más relevante resolver (mínimo 5 atributos), defina el caso y presente la estructura de información y funcionamiento de la empresa.</a:t>
            </a:r>
          </a:p>
          <a:p>
            <a:pPr lvl="1" algn="just"/>
            <a:endParaRPr lang="es-MX" sz="1400" dirty="0"/>
          </a:p>
          <a:p>
            <a:pPr lvl="1" algn="just"/>
            <a:r>
              <a:rPr lang="es-MX" sz="1400" dirty="0"/>
              <a:t>Tiempo presentación preliminar: 15 minutos</a:t>
            </a:r>
          </a:p>
          <a:p>
            <a:pPr lvl="1" algn="just"/>
            <a:endParaRPr lang="es-MX" sz="1400" dirty="0"/>
          </a:p>
          <a:p>
            <a:pPr lvl="1" algn="just"/>
            <a:r>
              <a:rPr lang="es-MX" sz="1400" dirty="0"/>
              <a:t>Tiempo presentación definitiva: 15 minutos</a:t>
            </a:r>
          </a:p>
          <a:p>
            <a:pPr lvl="1" algn="just"/>
            <a:endParaRPr lang="es-MX" sz="1400" dirty="0"/>
          </a:p>
          <a:p>
            <a:pPr marL="742950" lvl="1" indent="-285750" algn="just">
              <a:buFont typeface="Arial" panose="020B0604020202020204" pitchFamily="34" charset="0"/>
              <a:buChar char="•"/>
            </a:pPr>
            <a:r>
              <a:rPr lang="es-MX" sz="1400" dirty="0">
                <a:hlinkClick r:id="rId3"/>
              </a:rPr>
              <a:t>https://statistics.cepal.org/portal/cepalstat/index.html?lang=es</a:t>
            </a:r>
            <a:endParaRPr lang="es-MX" sz="1400" dirty="0"/>
          </a:p>
          <a:p>
            <a:pPr marL="742950" lvl="1" indent="-285750" algn="just">
              <a:buFont typeface="Arial" panose="020B0604020202020204" pitchFamily="34" charset="0"/>
              <a:buChar char="•"/>
            </a:pPr>
            <a:r>
              <a:rPr lang="es-MX" sz="1400" dirty="0">
                <a:hlinkClick r:id="rId4"/>
              </a:rPr>
              <a:t>https://datos.bancomundial.org/</a:t>
            </a:r>
            <a:endParaRPr lang="es-MX" sz="1400" dirty="0"/>
          </a:p>
          <a:p>
            <a:pPr marL="742950" lvl="1" indent="-285750" algn="just">
              <a:buFont typeface="Arial" panose="020B0604020202020204" pitchFamily="34" charset="0"/>
              <a:buChar char="•"/>
            </a:pPr>
            <a:r>
              <a:rPr lang="es-MX" sz="1400" dirty="0">
                <a:hlinkClick r:id="rId5"/>
              </a:rPr>
              <a:t>https://www.datos.gov.co/</a:t>
            </a:r>
            <a:endParaRPr lang="es-MX" sz="1400" dirty="0"/>
          </a:p>
          <a:p>
            <a:pPr marL="742950" lvl="1" indent="-285750" algn="just">
              <a:buFont typeface="Arial" panose="020B0604020202020204" pitchFamily="34" charset="0"/>
              <a:buChar char="•"/>
            </a:pPr>
            <a:r>
              <a:rPr lang="es-MX" sz="1400" dirty="0">
                <a:hlinkClick r:id="rId6"/>
              </a:rPr>
              <a:t>https://www.simem.co/</a:t>
            </a:r>
            <a:endParaRPr lang="es-MX" sz="1400" dirty="0"/>
          </a:p>
          <a:p>
            <a:pPr marL="742950" lvl="1" indent="-285750" algn="just">
              <a:buFont typeface="Arial" panose="020B0604020202020204" pitchFamily="34" charset="0"/>
              <a:buChar char="•"/>
            </a:pPr>
            <a:r>
              <a:rPr lang="es-MX" sz="1400" dirty="0">
                <a:hlinkClick r:id="rId7"/>
              </a:rPr>
              <a:t>https://sui.superservicios.gov.co/Datos-abiertos</a:t>
            </a:r>
            <a:endParaRPr lang="es-MX" sz="1400" dirty="0"/>
          </a:p>
          <a:p>
            <a:pPr lvl="1" algn="just"/>
            <a:endParaRPr lang="es-MX" sz="1400" dirty="0"/>
          </a:p>
          <a:p>
            <a:pPr lvl="1" algn="just"/>
            <a:endParaRPr lang="es-MX" dirty="0"/>
          </a:p>
          <a:p>
            <a:pPr lvl="1" algn="just"/>
            <a:endParaRPr lang="es-MX" dirty="0"/>
          </a:p>
          <a:p>
            <a:pPr lvl="1" algn="just"/>
            <a:endParaRPr lang="es-MX" dirty="0"/>
          </a:p>
        </p:txBody>
      </p:sp>
    </p:spTree>
    <p:extLst>
      <p:ext uri="{BB962C8B-B14F-4D97-AF65-F5344CB8AC3E}">
        <p14:creationId xmlns:p14="http://schemas.microsoft.com/office/powerpoint/2010/main" val="3591310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C7B5D0F-677A-8ED6-F8BD-605A2E453A83}"/>
              </a:ext>
            </a:extLst>
          </p:cNvPr>
          <p:cNvSpPr/>
          <p:nvPr/>
        </p:nvSpPr>
        <p:spPr>
          <a:xfrm>
            <a:off x="614680" y="2323217"/>
            <a:ext cx="10962640" cy="2554545"/>
          </a:xfrm>
          <a:prstGeom prst="rect">
            <a:avLst/>
          </a:prstGeom>
        </p:spPr>
        <p:txBody>
          <a:bodyPr wrap="square">
            <a:spAutoFit/>
          </a:bodyPr>
          <a:lstStyle/>
          <a:p>
            <a:pPr marL="800100" lvl="1" indent="-342900">
              <a:lnSpc>
                <a:spcPts val="2420"/>
              </a:lnSpc>
              <a:spcAft>
                <a:spcPts val="0"/>
              </a:spcAft>
              <a:buSzPts val="2000"/>
              <a:buFont typeface="Arial" panose="020B0604020202020204" pitchFamily="34" charset="0"/>
              <a:buChar char="•"/>
              <a:tabLst>
                <a:tab pos="955675" algn="l"/>
              </a:tabLst>
            </a:pPr>
            <a:r>
              <a:rPr lang="es-CO" sz="2000" dirty="0">
                <a:ea typeface="Wingdings" panose="05000000000000000000" pitchFamily="2" charset="2"/>
                <a:cs typeface="Wingdings" panose="05000000000000000000" pitchFamily="2" charset="2"/>
              </a:rPr>
              <a:t>Transmisión de datos y las redes cambiando la forma de hacer negocios.</a:t>
            </a:r>
          </a:p>
          <a:p>
            <a:pPr marL="800100" lvl="1" indent="-342900">
              <a:lnSpc>
                <a:spcPts val="2420"/>
              </a:lnSpc>
              <a:spcAft>
                <a:spcPts val="0"/>
              </a:spcAft>
              <a:buSzPts val="2000"/>
              <a:buFont typeface="Arial" panose="020B0604020202020204" pitchFamily="34" charset="0"/>
              <a:buChar char="•"/>
              <a:tabLst>
                <a:tab pos="955675" algn="l"/>
              </a:tabLst>
            </a:pPr>
            <a:r>
              <a:rPr lang="es-CO" sz="2000" dirty="0">
                <a:ea typeface="Wingdings" panose="05000000000000000000" pitchFamily="2" charset="2"/>
                <a:cs typeface="Wingdings" panose="05000000000000000000" pitchFamily="2" charset="2"/>
              </a:rPr>
              <a:t>Toma de decisiones acertadas.</a:t>
            </a:r>
          </a:p>
          <a:p>
            <a:pPr marL="800100" lvl="1" indent="-342900">
              <a:lnSpc>
                <a:spcPts val="2420"/>
              </a:lnSpc>
              <a:spcAft>
                <a:spcPts val="0"/>
              </a:spcAft>
              <a:buSzPts val="2000"/>
              <a:buFont typeface="Arial" panose="020B0604020202020204" pitchFamily="34" charset="0"/>
              <a:buChar char="•"/>
              <a:tabLst>
                <a:tab pos="955675" algn="l"/>
              </a:tabLst>
            </a:pPr>
            <a:r>
              <a:rPr lang="es-CO" sz="2000" dirty="0">
                <a:ea typeface="Wingdings" panose="05000000000000000000" pitchFamily="2" charset="2"/>
                <a:cs typeface="Wingdings" panose="05000000000000000000" pitchFamily="2" charset="2"/>
              </a:rPr>
              <a:t>Tecnología permite transmitir señales rápidamente y con mayor capacidad.</a:t>
            </a:r>
          </a:p>
          <a:p>
            <a:pPr marL="800100" lvl="1" indent="-342900">
              <a:lnSpc>
                <a:spcPts val="2420"/>
              </a:lnSpc>
              <a:spcAft>
                <a:spcPts val="0"/>
              </a:spcAft>
              <a:buSzPts val="2000"/>
              <a:buFont typeface="Arial" panose="020B0604020202020204" pitchFamily="34" charset="0"/>
              <a:buChar char="•"/>
              <a:tabLst>
                <a:tab pos="955675" algn="l"/>
              </a:tabLst>
            </a:pPr>
            <a:r>
              <a:rPr lang="es-CO" sz="2000" dirty="0">
                <a:ea typeface="Wingdings" panose="05000000000000000000" pitchFamily="2" charset="2"/>
                <a:cs typeface="Wingdings" panose="05000000000000000000" pitchFamily="2" charset="2"/>
              </a:rPr>
              <a:t>Intercambio de texto, audio y video entre cualquier parte del mundo.</a:t>
            </a:r>
          </a:p>
          <a:p>
            <a:pPr marL="800100" lvl="1" indent="-342900">
              <a:lnSpc>
                <a:spcPts val="2420"/>
              </a:lnSpc>
              <a:spcAft>
                <a:spcPts val="0"/>
              </a:spcAft>
              <a:buSzPts val="2000"/>
              <a:buFont typeface="Arial" panose="020B0604020202020204" pitchFamily="34" charset="0"/>
              <a:buChar char="•"/>
              <a:tabLst>
                <a:tab pos="955675" algn="l"/>
              </a:tabLst>
            </a:pPr>
            <a:r>
              <a:rPr lang="es-CO" sz="2000" dirty="0">
                <a:ea typeface="Wingdings" panose="05000000000000000000" pitchFamily="2" charset="2"/>
                <a:cs typeface="Wingdings" panose="05000000000000000000" pitchFamily="2" charset="2"/>
              </a:rPr>
              <a:t>Acceso a internet para descargar y cargar información de forma rápida y exacta en cualquier momento.</a:t>
            </a:r>
          </a:p>
          <a:p>
            <a:pPr marL="800100" lvl="1" indent="-342900">
              <a:lnSpc>
                <a:spcPts val="2420"/>
              </a:lnSpc>
              <a:spcAft>
                <a:spcPts val="0"/>
              </a:spcAft>
              <a:buSzPts val="2000"/>
              <a:buFont typeface="Arial" panose="020B0604020202020204" pitchFamily="34" charset="0"/>
              <a:buChar char="•"/>
              <a:tabLst>
                <a:tab pos="955675" algn="l"/>
              </a:tabLst>
            </a:pPr>
            <a:r>
              <a:rPr lang="es-CO" sz="2000" dirty="0">
                <a:ea typeface="Wingdings" panose="05000000000000000000" pitchFamily="2" charset="2"/>
                <a:cs typeface="Wingdings" panose="05000000000000000000" pitchFamily="2" charset="2"/>
              </a:rPr>
              <a:t>Transmisión de datos, redes, internet, protocolos y estándares de comunicación.</a:t>
            </a:r>
          </a:p>
          <a:p>
            <a:pPr marL="800100" lvl="1" indent="-342900">
              <a:lnSpc>
                <a:spcPts val="2420"/>
              </a:lnSpc>
              <a:spcAft>
                <a:spcPts val="0"/>
              </a:spcAft>
              <a:buSzPts val="2000"/>
              <a:buFont typeface="Arial" panose="020B0604020202020204" pitchFamily="34" charset="0"/>
              <a:buChar char="•"/>
              <a:tabLst>
                <a:tab pos="955675" algn="l"/>
              </a:tabLst>
            </a:pPr>
            <a:endParaRPr lang="es-CO" sz="2000" dirty="0">
              <a:ea typeface="Wingdings" panose="05000000000000000000" pitchFamily="2" charset="2"/>
              <a:cs typeface="Wingdings" panose="05000000000000000000" pitchFamily="2" charset="2"/>
            </a:endParaRPr>
          </a:p>
        </p:txBody>
      </p:sp>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164080" y="560826"/>
            <a:ext cx="7396480" cy="1325563"/>
          </a:xfrm>
        </p:spPr>
        <p:txBody>
          <a:bodyPr>
            <a:normAutofit fontScale="90000"/>
          </a:bodyPr>
          <a:lstStyle/>
          <a:p>
            <a:pPr algn="ctr"/>
            <a:r>
              <a:rPr lang="es-MX" sz="4800" b="1" dirty="0"/>
              <a:t>Unidad 1: Introducción a la transmisión de datos</a:t>
            </a:r>
            <a:endParaRPr lang="es-CO" sz="4800" b="1" dirty="0"/>
          </a:p>
        </p:txBody>
      </p:sp>
    </p:spTree>
    <p:extLst>
      <p:ext uri="{BB962C8B-B14F-4D97-AF65-F5344CB8AC3E}">
        <p14:creationId xmlns:p14="http://schemas.microsoft.com/office/powerpoint/2010/main" val="99461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CA5167B1-C3ED-4788-B806-C938A6C3AE2F}"/>
              </a:ext>
            </a:extLst>
          </p:cNvPr>
          <p:cNvSpPr>
            <a:spLocks noGrp="1"/>
          </p:cNvSpPr>
          <p:nvPr>
            <p:ph type="title"/>
          </p:nvPr>
        </p:nvSpPr>
        <p:spPr>
          <a:xfrm>
            <a:off x="2174240" y="733546"/>
            <a:ext cx="7396480" cy="1325563"/>
          </a:xfrm>
        </p:spPr>
        <p:txBody>
          <a:bodyPr>
            <a:normAutofit/>
          </a:bodyPr>
          <a:lstStyle/>
          <a:p>
            <a:pPr algn="ctr"/>
            <a:r>
              <a:rPr lang="es-MX" sz="4800" b="1" dirty="0"/>
              <a:t>Transmisión de datos</a:t>
            </a:r>
            <a:endParaRPr lang="es-CO" sz="4800" b="1" dirty="0"/>
          </a:p>
        </p:txBody>
      </p:sp>
      <p:sp>
        <p:nvSpPr>
          <p:cNvPr id="2" name="Rectángulo 1">
            <a:extLst>
              <a:ext uri="{FF2B5EF4-FFF2-40B4-BE49-F238E27FC236}">
                <a16:creationId xmlns:a16="http://schemas.microsoft.com/office/drawing/2014/main" id="{4BAA81E0-1E6F-431A-8391-10E43071CFB9}"/>
              </a:ext>
            </a:extLst>
          </p:cNvPr>
          <p:cNvSpPr/>
          <p:nvPr/>
        </p:nvSpPr>
        <p:spPr>
          <a:xfrm>
            <a:off x="782320" y="2059109"/>
            <a:ext cx="6096000" cy="400110"/>
          </a:xfrm>
          <a:prstGeom prst="rect">
            <a:avLst/>
          </a:prstGeom>
        </p:spPr>
        <p:txBody>
          <a:bodyPr>
            <a:spAutoFit/>
          </a:bodyPr>
          <a:lstStyle/>
          <a:p>
            <a:pPr marL="447040">
              <a:spcAft>
                <a:spcPts val="0"/>
              </a:spcAft>
            </a:pPr>
            <a:r>
              <a:rPr lang="es-ES" sz="2000" dirty="0">
                <a:ea typeface="Calibri" panose="020F0502020204030204" pitchFamily="34" charset="0"/>
              </a:rPr>
              <a:t>Comunicación:</a:t>
            </a:r>
            <a:r>
              <a:rPr lang="es-ES" sz="2000" spc="-50" dirty="0">
                <a:ea typeface="Calibri" panose="020F0502020204030204" pitchFamily="34" charset="0"/>
              </a:rPr>
              <a:t> </a:t>
            </a:r>
            <a:r>
              <a:rPr lang="es-ES" sz="2000" dirty="0">
                <a:ea typeface="Calibri" panose="020F0502020204030204" pitchFamily="34" charset="0"/>
              </a:rPr>
              <a:t>Local</a:t>
            </a:r>
            <a:r>
              <a:rPr lang="es-ES" sz="2000" spc="-40" dirty="0">
                <a:ea typeface="Calibri" panose="020F0502020204030204" pitchFamily="34" charset="0"/>
              </a:rPr>
              <a:t> </a:t>
            </a:r>
            <a:r>
              <a:rPr lang="es-ES" sz="2000" dirty="0">
                <a:ea typeface="Calibri" panose="020F0502020204030204" pitchFamily="34" charset="0"/>
              </a:rPr>
              <a:t>o</a:t>
            </a:r>
            <a:r>
              <a:rPr lang="es-ES" sz="2000" spc="-30" dirty="0">
                <a:ea typeface="Calibri" panose="020F0502020204030204" pitchFamily="34" charset="0"/>
              </a:rPr>
              <a:t> </a:t>
            </a:r>
            <a:r>
              <a:rPr lang="es-ES" sz="2000" dirty="0">
                <a:ea typeface="Calibri" panose="020F0502020204030204" pitchFamily="34" charset="0"/>
              </a:rPr>
              <a:t>Remota.</a:t>
            </a:r>
            <a:endParaRPr lang="es-CO" sz="2000" dirty="0">
              <a:ea typeface="Calibri" panose="020F0502020204030204" pitchFamily="34" charset="0"/>
            </a:endParaRPr>
          </a:p>
        </p:txBody>
      </p:sp>
      <p:pic>
        <p:nvPicPr>
          <p:cNvPr id="11266" name="Picture 2" descr="Voz del cliente y Voz del empleado | Realworld">
            <a:extLst>
              <a:ext uri="{FF2B5EF4-FFF2-40B4-BE49-F238E27FC236}">
                <a16:creationId xmlns:a16="http://schemas.microsoft.com/office/drawing/2014/main" id="{47E25865-E61C-4D8D-A971-8E3E55A296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5549" y="3521333"/>
            <a:ext cx="3878468" cy="2908851"/>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Redes WAN">
            <a:extLst>
              <a:ext uri="{FF2B5EF4-FFF2-40B4-BE49-F238E27FC236}">
                <a16:creationId xmlns:a16="http://schemas.microsoft.com/office/drawing/2014/main" id="{0681D1CA-8263-47C5-87A5-2C801FCC4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270" y="3366471"/>
            <a:ext cx="4502128" cy="2757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781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B7943419-1B2A-4B50-89A8-3FE6BCB67F16}"/>
              </a:ext>
            </a:extLst>
          </p:cNvPr>
          <p:cNvSpPr txBox="1">
            <a:spLocks/>
          </p:cNvSpPr>
          <p:nvPr/>
        </p:nvSpPr>
        <p:spPr>
          <a:xfrm>
            <a:off x="2266895" y="733546"/>
            <a:ext cx="765821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Fundamentos transmisión</a:t>
            </a:r>
            <a:endParaRPr lang="es-CO" sz="4800" b="1" dirty="0"/>
          </a:p>
        </p:txBody>
      </p:sp>
      <p:sp>
        <p:nvSpPr>
          <p:cNvPr id="2" name="Rectángulo 1">
            <a:extLst>
              <a:ext uri="{FF2B5EF4-FFF2-40B4-BE49-F238E27FC236}">
                <a16:creationId xmlns:a16="http://schemas.microsoft.com/office/drawing/2014/main" id="{11C560B5-2EA4-4A9F-A646-83AC16981885}"/>
              </a:ext>
            </a:extLst>
          </p:cNvPr>
          <p:cNvSpPr/>
          <p:nvPr/>
        </p:nvSpPr>
        <p:spPr>
          <a:xfrm>
            <a:off x="1605507" y="2954903"/>
            <a:ext cx="4609763" cy="2554545"/>
          </a:xfrm>
          <a:prstGeom prst="rect">
            <a:avLst/>
          </a:prstGeom>
        </p:spPr>
        <p:txBody>
          <a:bodyPr wrap="square">
            <a:spAutoFit/>
          </a:bodyPr>
          <a:lstStyle/>
          <a:p>
            <a:pPr>
              <a:spcBef>
                <a:spcPts val="35"/>
              </a:spcBef>
              <a:spcAft>
                <a:spcPts val="0"/>
              </a:spcAft>
            </a:pPr>
            <a:r>
              <a:rPr lang="es-ES" sz="2000" b="1" dirty="0">
                <a:ea typeface="Calibri" panose="020F0502020204030204" pitchFamily="34" charset="0"/>
              </a:rPr>
              <a:t>Datos:</a:t>
            </a:r>
            <a:r>
              <a:rPr lang="es-ES" sz="2000" b="1" spc="40" dirty="0">
                <a:ea typeface="Calibri" panose="020F0502020204030204" pitchFamily="34" charset="0"/>
              </a:rPr>
              <a:t> </a:t>
            </a:r>
            <a:r>
              <a:rPr lang="es-ES" sz="2000" dirty="0">
                <a:ea typeface="Calibri" panose="020F0502020204030204" pitchFamily="34" charset="0"/>
              </a:rPr>
              <a:t>Se</a:t>
            </a:r>
            <a:r>
              <a:rPr lang="es-ES" sz="2000" spc="40" dirty="0">
                <a:ea typeface="Calibri" panose="020F0502020204030204" pitchFamily="34" charset="0"/>
              </a:rPr>
              <a:t> </a:t>
            </a:r>
            <a:r>
              <a:rPr lang="es-ES" sz="2000" dirty="0">
                <a:ea typeface="Calibri" panose="020F0502020204030204" pitchFamily="34" charset="0"/>
              </a:rPr>
              <a:t>refiere</a:t>
            </a:r>
            <a:r>
              <a:rPr lang="es-ES" sz="2000" spc="40" dirty="0">
                <a:ea typeface="Calibri" panose="020F0502020204030204" pitchFamily="34" charset="0"/>
              </a:rPr>
              <a:t> </a:t>
            </a:r>
            <a:r>
              <a:rPr lang="es-ES" sz="2000" dirty="0">
                <a:ea typeface="Calibri" panose="020F0502020204030204" pitchFamily="34" charset="0"/>
              </a:rPr>
              <a:t>a</a:t>
            </a:r>
            <a:r>
              <a:rPr lang="es-ES" sz="2000" spc="30" dirty="0">
                <a:ea typeface="Calibri" panose="020F0502020204030204" pitchFamily="34" charset="0"/>
              </a:rPr>
              <a:t> </a:t>
            </a:r>
            <a:r>
              <a:rPr lang="es-ES" sz="2000" dirty="0">
                <a:ea typeface="Calibri" panose="020F0502020204030204" pitchFamily="34" charset="0"/>
              </a:rPr>
              <a:t>hechos,</a:t>
            </a:r>
            <a:r>
              <a:rPr lang="es-ES" sz="2000" spc="40" dirty="0">
                <a:ea typeface="Calibri" panose="020F0502020204030204" pitchFamily="34" charset="0"/>
              </a:rPr>
              <a:t> </a:t>
            </a:r>
            <a:r>
              <a:rPr lang="es-ES" sz="2000" dirty="0">
                <a:ea typeface="Calibri" panose="020F0502020204030204" pitchFamily="34" charset="0"/>
              </a:rPr>
              <a:t>conceptos</a:t>
            </a:r>
            <a:r>
              <a:rPr lang="es-ES" sz="2000" spc="25" dirty="0">
                <a:ea typeface="Calibri" panose="020F0502020204030204" pitchFamily="34" charset="0"/>
              </a:rPr>
              <a:t> </a:t>
            </a:r>
            <a:r>
              <a:rPr lang="es-ES" sz="2000" dirty="0">
                <a:ea typeface="Calibri" panose="020F0502020204030204" pitchFamily="34" charset="0"/>
              </a:rPr>
              <a:t>o</a:t>
            </a:r>
            <a:r>
              <a:rPr lang="es-ES" sz="2000" spc="30" dirty="0">
                <a:ea typeface="Calibri" panose="020F0502020204030204" pitchFamily="34" charset="0"/>
              </a:rPr>
              <a:t> </a:t>
            </a:r>
            <a:r>
              <a:rPr lang="es-ES" sz="2000" dirty="0">
                <a:ea typeface="Calibri" panose="020F0502020204030204" pitchFamily="34" charset="0"/>
              </a:rPr>
              <a:t>instrucciones</a:t>
            </a:r>
            <a:r>
              <a:rPr lang="es-ES" sz="2000" spc="35" dirty="0">
                <a:ea typeface="Calibri" panose="020F0502020204030204" pitchFamily="34" charset="0"/>
              </a:rPr>
              <a:t> </a:t>
            </a:r>
            <a:r>
              <a:rPr lang="es-ES" sz="2000" dirty="0">
                <a:ea typeface="Calibri" panose="020F0502020204030204" pitchFamily="34" charset="0"/>
              </a:rPr>
              <a:t>presentados</a:t>
            </a:r>
            <a:r>
              <a:rPr lang="es-ES" sz="2000" spc="40" dirty="0">
                <a:ea typeface="Calibri" panose="020F0502020204030204" pitchFamily="34" charset="0"/>
              </a:rPr>
              <a:t> </a:t>
            </a:r>
            <a:r>
              <a:rPr lang="es-ES" sz="2000" b="1" dirty="0">
                <a:ea typeface="Calibri" panose="020F0502020204030204" pitchFamily="34" charset="0"/>
              </a:rPr>
              <a:t>en</a:t>
            </a:r>
            <a:r>
              <a:rPr lang="es-ES" sz="2000" b="1" spc="45" dirty="0">
                <a:ea typeface="Calibri" panose="020F0502020204030204" pitchFamily="34" charset="0"/>
              </a:rPr>
              <a:t> </a:t>
            </a:r>
            <a:r>
              <a:rPr lang="es-ES" sz="2000" b="1" dirty="0">
                <a:ea typeface="Calibri" panose="020F0502020204030204" pitchFamily="34" charset="0"/>
              </a:rPr>
              <a:t>cualquier</a:t>
            </a:r>
            <a:r>
              <a:rPr lang="es-ES" sz="2000" b="1" spc="20" dirty="0">
                <a:ea typeface="Calibri" panose="020F0502020204030204" pitchFamily="34" charset="0"/>
              </a:rPr>
              <a:t> </a:t>
            </a:r>
            <a:r>
              <a:rPr lang="es-ES" sz="2000" b="1" dirty="0">
                <a:ea typeface="Calibri" panose="020F0502020204030204" pitchFamily="34" charset="0"/>
              </a:rPr>
              <a:t>formato</a:t>
            </a:r>
            <a:r>
              <a:rPr lang="es-ES" sz="2000" b="1" spc="40" dirty="0">
                <a:ea typeface="Calibri" panose="020F0502020204030204" pitchFamily="34" charset="0"/>
              </a:rPr>
              <a:t> </a:t>
            </a:r>
            <a:r>
              <a:rPr lang="es-ES" sz="2000" b="1" dirty="0">
                <a:ea typeface="Calibri" panose="020F0502020204030204" pitchFamily="34" charset="0"/>
              </a:rPr>
              <a:t>acordado</a:t>
            </a:r>
            <a:r>
              <a:rPr lang="es-CO" sz="2000" dirty="0">
                <a:ea typeface="Calibri" panose="020F0502020204030204" pitchFamily="34" charset="0"/>
              </a:rPr>
              <a:t> </a:t>
            </a:r>
            <a:r>
              <a:rPr lang="es-ES" sz="2000" dirty="0">
                <a:ea typeface="Calibri" panose="020F0502020204030204" pitchFamily="34" charset="0"/>
              </a:rPr>
              <a:t>entre</a:t>
            </a:r>
            <a:r>
              <a:rPr lang="es-ES" sz="2000" spc="-25" dirty="0">
                <a:ea typeface="Calibri" panose="020F0502020204030204" pitchFamily="34" charset="0"/>
              </a:rPr>
              <a:t> </a:t>
            </a:r>
            <a:r>
              <a:rPr lang="es-ES" sz="2000" dirty="0">
                <a:ea typeface="Calibri" panose="020F0502020204030204" pitchFamily="34" charset="0"/>
              </a:rPr>
              <a:t>las</a:t>
            </a:r>
            <a:r>
              <a:rPr lang="es-ES" sz="2000" spc="-15" dirty="0">
                <a:ea typeface="Calibri" panose="020F0502020204030204" pitchFamily="34" charset="0"/>
              </a:rPr>
              <a:t> </a:t>
            </a:r>
            <a:r>
              <a:rPr lang="es-ES" sz="2000" dirty="0">
                <a:ea typeface="Calibri" panose="020F0502020204030204" pitchFamily="34" charset="0"/>
              </a:rPr>
              <a:t>partes.</a:t>
            </a:r>
          </a:p>
          <a:p>
            <a:pPr>
              <a:spcBef>
                <a:spcPts val="35"/>
              </a:spcBef>
              <a:spcAft>
                <a:spcPts val="0"/>
              </a:spcAft>
            </a:pPr>
            <a:endParaRPr lang="es-CO" sz="2000" dirty="0">
              <a:ea typeface="Calibri" panose="020F0502020204030204" pitchFamily="34" charset="0"/>
            </a:endParaRPr>
          </a:p>
          <a:p>
            <a:pPr>
              <a:spcBef>
                <a:spcPts val="20"/>
              </a:spcBef>
              <a:spcAft>
                <a:spcPts val="0"/>
              </a:spcAft>
            </a:pPr>
            <a:r>
              <a:rPr lang="es-ES" sz="2000" b="1" dirty="0">
                <a:ea typeface="Calibri" panose="020F0502020204030204" pitchFamily="34" charset="0"/>
              </a:rPr>
              <a:t>Transmisión de Datos: </a:t>
            </a:r>
            <a:r>
              <a:rPr lang="es-ES" sz="2000" dirty="0">
                <a:ea typeface="Calibri" panose="020F0502020204030204" pitchFamily="34" charset="0"/>
              </a:rPr>
              <a:t>Intercambio de datos a través de un sistema de comunicación, formado por </a:t>
            </a:r>
            <a:r>
              <a:rPr lang="es-ES" sz="2000" spc="-440" dirty="0">
                <a:ea typeface="Calibri" panose="020F0502020204030204" pitchFamily="34" charset="0"/>
              </a:rPr>
              <a:t>   </a:t>
            </a:r>
            <a:r>
              <a:rPr lang="es-ES" sz="2000" dirty="0">
                <a:ea typeface="Calibri" panose="020F0502020204030204" pitchFamily="34" charset="0"/>
              </a:rPr>
              <a:t>hardware</a:t>
            </a:r>
            <a:r>
              <a:rPr lang="es-ES" sz="2000" spc="-10" dirty="0">
                <a:ea typeface="Calibri" panose="020F0502020204030204" pitchFamily="34" charset="0"/>
              </a:rPr>
              <a:t> </a:t>
            </a:r>
            <a:r>
              <a:rPr lang="es-ES" sz="2000" dirty="0">
                <a:ea typeface="Calibri" panose="020F0502020204030204" pitchFamily="34" charset="0"/>
              </a:rPr>
              <a:t>y</a:t>
            </a:r>
            <a:r>
              <a:rPr lang="es-ES" sz="2000" spc="-5" dirty="0">
                <a:ea typeface="Calibri" panose="020F0502020204030204" pitchFamily="34" charset="0"/>
              </a:rPr>
              <a:t> </a:t>
            </a:r>
            <a:r>
              <a:rPr lang="es-ES" sz="2000" dirty="0">
                <a:ea typeface="Calibri" panose="020F0502020204030204" pitchFamily="34" charset="0"/>
              </a:rPr>
              <a:t>software.</a:t>
            </a:r>
            <a:endParaRPr lang="es-CO" sz="2000" dirty="0">
              <a:ea typeface="Calibri" panose="020F0502020204030204" pitchFamily="34" charset="0"/>
            </a:endParaRPr>
          </a:p>
        </p:txBody>
      </p:sp>
      <p:sp>
        <p:nvSpPr>
          <p:cNvPr id="4" name="CuadroTexto 3">
            <a:extLst>
              <a:ext uri="{FF2B5EF4-FFF2-40B4-BE49-F238E27FC236}">
                <a16:creationId xmlns:a16="http://schemas.microsoft.com/office/drawing/2014/main" id="{68780462-B37F-483D-9CBD-3747A85378E5}"/>
              </a:ext>
            </a:extLst>
          </p:cNvPr>
          <p:cNvSpPr txBox="1"/>
          <p:nvPr/>
        </p:nvSpPr>
        <p:spPr>
          <a:xfrm>
            <a:off x="1605507" y="2276173"/>
            <a:ext cx="3337554" cy="461665"/>
          </a:xfrm>
          <a:prstGeom prst="rect">
            <a:avLst/>
          </a:prstGeom>
          <a:solidFill>
            <a:schemeClr val="accent1">
              <a:lumMod val="60000"/>
              <a:lumOff val="40000"/>
            </a:schemeClr>
          </a:solidFill>
        </p:spPr>
        <p:txBody>
          <a:bodyPr wrap="square" rtlCol="0">
            <a:spAutoFit/>
          </a:bodyPr>
          <a:lstStyle/>
          <a:p>
            <a:r>
              <a:rPr lang="es-MX" sz="2400" b="1" dirty="0"/>
              <a:t>TRANSMISIÓN DE DATOS</a:t>
            </a:r>
            <a:endParaRPr lang="es-CO" sz="2400" b="1" dirty="0"/>
          </a:p>
        </p:txBody>
      </p:sp>
      <p:pic>
        <p:nvPicPr>
          <p:cNvPr id="13314" name="Picture 2" descr="Transmisión de Datos e Internet - A&amp;A Comunicaciones">
            <a:extLst>
              <a:ext uri="{FF2B5EF4-FFF2-40B4-BE49-F238E27FC236}">
                <a16:creationId xmlns:a16="http://schemas.microsoft.com/office/drawing/2014/main" id="{55053AF0-477B-4CF5-8FB1-FA54E74860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8461" y="2507005"/>
            <a:ext cx="4374463" cy="2848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8435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67D11C49-4F24-4056-A626-72FBE447E8BB}"/>
              </a:ext>
            </a:extLst>
          </p:cNvPr>
          <p:cNvSpPr>
            <a:spLocks noChangeArrowheads="1"/>
          </p:cNvSpPr>
          <p:nvPr/>
        </p:nvSpPr>
        <p:spPr bwMode="auto">
          <a:xfrm>
            <a:off x="447675" y="27630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ES" altLang="es-CO" sz="20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es-ES" altLang="es-CO" sz="1800" b="0" i="0" u="none" strike="noStrike" cap="none" normalizeH="0" baseline="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0DF9C8D5-15A7-4AAC-8A1C-6AAC7BBDC97E}"/>
              </a:ext>
            </a:extLst>
          </p:cNvPr>
          <p:cNvSpPr>
            <a:spLocks noChangeArrowheads="1"/>
          </p:cNvSpPr>
          <p:nvPr/>
        </p:nvSpPr>
        <p:spPr bwMode="auto">
          <a:xfrm>
            <a:off x="830431" y="1576697"/>
            <a:ext cx="63241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O" sz="2000" b="1" i="0" u="none" strike="noStrike" cap="none" normalizeH="0" baseline="0" dirty="0">
                <a:ln>
                  <a:noFill/>
                </a:ln>
                <a:solidFill>
                  <a:srgbClr val="FF0000"/>
                </a:solidFill>
                <a:effectLst/>
                <a:ea typeface="Calibri" panose="020F0502020204030204" pitchFamily="34" charset="0"/>
              </a:rPr>
              <a:t>Tele</a:t>
            </a:r>
            <a:r>
              <a:rPr kumimoji="0" lang="es-ES" altLang="es-CO" sz="2000" b="0" i="0" u="none" strike="noStrike" cap="none" normalizeH="0" baseline="0" dirty="0">
                <a:ln>
                  <a:noFill/>
                </a:ln>
                <a:solidFill>
                  <a:schemeClr val="tx1"/>
                </a:solidFill>
                <a:effectLst/>
                <a:ea typeface="Calibri" panose="020F0502020204030204" pitchFamily="34" charset="0"/>
              </a:rPr>
              <a:t>comunicación: Comunicación a distancia</a:t>
            </a:r>
            <a:endParaRPr kumimoji="0" lang="es-ES" altLang="es-CO" sz="2000" b="1" i="0" u="none" strike="noStrike" cap="none" normalizeH="0" baseline="0" dirty="0">
              <a:ln>
                <a:noFill/>
              </a:ln>
              <a:solidFill>
                <a:schemeClr val="tx1"/>
              </a:solidFill>
              <a:effectLst/>
              <a:ea typeface="Calibri" panose="020F0502020204030204" pitchFamily="34" charset="0"/>
            </a:endParaRPr>
          </a:p>
        </p:txBody>
      </p:sp>
      <p:cxnSp>
        <p:nvCxnSpPr>
          <p:cNvPr id="11" name="Conector recto de flecha 10">
            <a:extLst>
              <a:ext uri="{FF2B5EF4-FFF2-40B4-BE49-F238E27FC236}">
                <a16:creationId xmlns:a16="http://schemas.microsoft.com/office/drawing/2014/main" id="{5EB2C930-E6FA-4EFD-8F08-4772CB6085BA}"/>
              </a:ext>
            </a:extLst>
          </p:cNvPr>
          <p:cNvCxnSpPr/>
          <p:nvPr/>
        </p:nvCxnSpPr>
        <p:spPr>
          <a:xfrm>
            <a:off x="1064150" y="1976807"/>
            <a:ext cx="0" cy="4892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27F89E19-851D-4CFA-8F80-F671D1DFA298}"/>
              </a:ext>
            </a:extLst>
          </p:cNvPr>
          <p:cNvSpPr/>
          <p:nvPr/>
        </p:nvSpPr>
        <p:spPr>
          <a:xfrm>
            <a:off x="505284" y="2478289"/>
            <a:ext cx="1629036" cy="400110"/>
          </a:xfrm>
          <a:prstGeom prst="rect">
            <a:avLst/>
          </a:prstGeom>
        </p:spPr>
        <p:txBody>
          <a:bodyPr wrap="none">
            <a:spAutoFit/>
          </a:bodyPr>
          <a:lstStyle/>
          <a:p>
            <a:pPr marL="67310">
              <a:spcBef>
                <a:spcPts val="180"/>
              </a:spcBef>
              <a:spcAft>
                <a:spcPts val="0"/>
              </a:spcAft>
            </a:pPr>
            <a:r>
              <a:rPr lang="es-ES" sz="2000" b="1" dirty="0">
                <a:ea typeface="Calibri" panose="020F0502020204030204" pitchFamily="34" charset="0"/>
              </a:rPr>
              <a:t>Griego:</a:t>
            </a:r>
            <a:r>
              <a:rPr lang="es-ES" sz="2000" b="1" spc="-10" dirty="0">
                <a:ea typeface="Calibri" panose="020F0502020204030204" pitchFamily="34" charset="0"/>
              </a:rPr>
              <a:t> </a:t>
            </a:r>
            <a:r>
              <a:rPr lang="es-ES" sz="2000" b="1" dirty="0">
                <a:ea typeface="Calibri" panose="020F0502020204030204" pitchFamily="34" charset="0"/>
              </a:rPr>
              <a:t>Lejos</a:t>
            </a:r>
            <a:endParaRPr lang="es-CO" sz="2000" dirty="0">
              <a:effectLst/>
              <a:ea typeface="Calibri" panose="020F0502020204030204" pitchFamily="34" charset="0"/>
            </a:endParaRPr>
          </a:p>
        </p:txBody>
      </p:sp>
      <p:pic>
        <p:nvPicPr>
          <p:cNvPr id="10249" name="Picture 9" descr="☎️ Teléfono Emoji">
            <a:extLst>
              <a:ext uri="{FF2B5EF4-FFF2-40B4-BE49-F238E27FC236}">
                <a16:creationId xmlns:a16="http://schemas.microsoft.com/office/drawing/2014/main" id="{636EB98B-513C-474C-8554-1BA3205E29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01841" y="1171881"/>
            <a:ext cx="1996017" cy="1996017"/>
          </a:xfrm>
          <a:prstGeom prst="rect">
            <a:avLst/>
          </a:prstGeom>
          <a:noFill/>
          <a:extLst>
            <a:ext uri="{909E8E84-426E-40DD-AFC4-6F175D3DCCD1}">
              <a14:hiddenFill xmlns:a14="http://schemas.microsoft.com/office/drawing/2010/main">
                <a:solidFill>
                  <a:srgbClr val="FFFFFF"/>
                </a:solidFill>
              </a14:hiddenFill>
            </a:ext>
          </a:extLst>
        </p:spPr>
      </p:pic>
      <p:pic>
        <p:nvPicPr>
          <p:cNvPr id="10251" name="Picture 11" descr="Televisión Televisor Miedoso - Gráficos vectoriales gratis en Pixabay -  Pixabay">
            <a:extLst>
              <a:ext uri="{FF2B5EF4-FFF2-40B4-BE49-F238E27FC236}">
                <a16:creationId xmlns:a16="http://schemas.microsoft.com/office/drawing/2014/main" id="{B5A901B6-026D-41E2-A9D0-C5F8CB05D6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4606" y="2068250"/>
            <a:ext cx="2117235" cy="2688552"/>
          </a:xfrm>
          <a:prstGeom prst="rect">
            <a:avLst/>
          </a:prstGeom>
          <a:noFill/>
          <a:extLst>
            <a:ext uri="{909E8E84-426E-40DD-AFC4-6F175D3DCCD1}">
              <a14:hiddenFill xmlns:a14="http://schemas.microsoft.com/office/drawing/2010/main">
                <a:solidFill>
                  <a:srgbClr val="FFFFFF"/>
                </a:solidFill>
              </a14:hiddenFill>
            </a:ext>
          </a:extLst>
        </p:spPr>
      </p:pic>
      <p:pic>
        <p:nvPicPr>
          <p:cNvPr id="10253" name="Picture 13" descr="Internet - Iconos gratis de computadora">
            <a:extLst>
              <a:ext uri="{FF2B5EF4-FFF2-40B4-BE49-F238E27FC236}">
                <a16:creationId xmlns:a16="http://schemas.microsoft.com/office/drawing/2014/main" id="{B944FF20-3C0B-42E9-BF61-CE7E88CD3D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4842" y="3596593"/>
            <a:ext cx="2320418" cy="2320418"/>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D66EDD32-C3D6-44A6-4B4B-074FDDCDCC87}"/>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Características de la transmisión de datos</a:t>
            </a:r>
            <a:endParaRPr lang="es-CO" sz="4800" b="1" dirty="0"/>
          </a:p>
        </p:txBody>
      </p:sp>
      <p:sp>
        <p:nvSpPr>
          <p:cNvPr id="4" name="Rectangle 7">
            <a:extLst>
              <a:ext uri="{FF2B5EF4-FFF2-40B4-BE49-F238E27FC236}">
                <a16:creationId xmlns:a16="http://schemas.microsoft.com/office/drawing/2014/main" id="{A19BC193-45F6-35AD-E6DA-61DABA69F3DC}"/>
              </a:ext>
            </a:extLst>
          </p:cNvPr>
          <p:cNvSpPr>
            <a:spLocks noChangeArrowheads="1"/>
          </p:cNvSpPr>
          <p:nvPr/>
        </p:nvSpPr>
        <p:spPr bwMode="auto">
          <a:xfrm>
            <a:off x="1064150" y="3046092"/>
            <a:ext cx="632418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CO" sz="2000" b="1" i="0" u="none" strike="noStrike" cap="none" normalizeH="0" baseline="0" dirty="0">
                <a:ln>
                  <a:noFill/>
                </a:ln>
                <a:effectLst/>
                <a:ea typeface="Calibri" panose="020F0502020204030204" pitchFamily="34" charset="0"/>
              </a:rPr>
              <a:t>Entrega: </a:t>
            </a:r>
            <a:r>
              <a:rPr kumimoji="0" lang="es-ES" altLang="es-CO" sz="2000" i="0" u="none" strike="noStrike" cap="none" normalizeH="0" baseline="0" dirty="0">
                <a:ln>
                  <a:noFill/>
                </a:ln>
                <a:effectLst/>
                <a:ea typeface="Calibri" panose="020F0502020204030204" pitchFamily="34" charset="0"/>
              </a:rPr>
              <a:t>Destino correcto</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CO" sz="2000" b="1" dirty="0">
                <a:ea typeface="Calibri" panose="020F0502020204030204" pitchFamily="34" charset="0"/>
              </a:rPr>
              <a:t>Exactitud: </a:t>
            </a:r>
            <a:r>
              <a:rPr lang="es-ES" altLang="es-CO" sz="2000" dirty="0">
                <a:ea typeface="Calibri" panose="020F0502020204030204" pitchFamily="34" charset="0"/>
              </a:rPr>
              <a:t>Sin alteración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CO" sz="2000" b="1" i="0" u="none" strike="noStrike" cap="none" normalizeH="0" baseline="0" dirty="0">
                <a:ln>
                  <a:noFill/>
                </a:ln>
                <a:effectLst/>
                <a:ea typeface="Calibri" panose="020F0502020204030204" pitchFamily="34" charset="0"/>
              </a:rPr>
              <a:t>Puntualidad: </a:t>
            </a:r>
            <a:r>
              <a:rPr kumimoji="0" lang="es-ES" altLang="es-CO" sz="2000" i="0" u="none" strike="noStrike" cap="none" normalizeH="0" baseline="0" dirty="0">
                <a:ln>
                  <a:noFill/>
                </a:ln>
                <a:effectLst/>
                <a:ea typeface="Calibri" panose="020F0502020204030204" pitchFamily="34" charset="0"/>
              </a:rPr>
              <a:t>Transmisión en tiempo real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altLang="es-CO" sz="2000" b="1" dirty="0" err="1">
                <a:ea typeface="Calibri" panose="020F0502020204030204" pitchFamily="34" charset="0"/>
              </a:rPr>
              <a:t>Jitter</a:t>
            </a:r>
            <a:r>
              <a:rPr lang="es-ES" altLang="es-CO" sz="2000" b="1" dirty="0">
                <a:ea typeface="Calibri" panose="020F0502020204030204" pitchFamily="34" charset="0"/>
              </a:rPr>
              <a:t>: </a:t>
            </a:r>
            <a:r>
              <a:rPr lang="es-ES" altLang="es-CO" sz="2000" dirty="0">
                <a:ea typeface="Calibri" panose="020F0502020204030204" pitchFamily="34" charset="0"/>
              </a:rPr>
              <a:t>Retardo variable, retardos disparejos en datos (mala calidad)</a:t>
            </a:r>
            <a:endParaRPr kumimoji="0" lang="es-ES" altLang="es-CO" sz="2000" b="1" i="0" u="none" strike="noStrike" cap="none" normalizeH="0" baseline="0" dirty="0">
              <a:ln>
                <a:noFill/>
              </a:ln>
              <a:effectLst/>
              <a:ea typeface="Calibri" panose="020F0502020204030204" pitchFamily="34" charset="0"/>
            </a:endParaRPr>
          </a:p>
        </p:txBody>
      </p:sp>
    </p:spTree>
    <p:extLst>
      <p:ext uri="{BB962C8B-B14F-4D97-AF65-F5344CB8AC3E}">
        <p14:creationId xmlns:p14="http://schemas.microsoft.com/office/powerpoint/2010/main" val="1629846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B7CBFE-869A-4D50-BFDA-A948DA4334BB}"/>
              </a:ext>
            </a:extLst>
          </p:cNvPr>
          <p:cNvSpPr>
            <a:spLocks noChangeArrowheads="1"/>
          </p:cNvSpPr>
          <p:nvPr/>
        </p:nvSpPr>
        <p:spPr bwMode="auto">
          <a:xfrm>
            <a:off x="0" y="339256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pic>
        <p:nvPicPr>
          <p:cNvPr id="18433" name="image30.jpeg">
            <a:extLst>
              <a:ext uri="{FF2B5EF4-FFF2-40B4-BE49-F238E27FC236}">
                <a16:creationId xmlns:a16="http://schemas.microsoft.com/office/drawing/2014/main" id="{8E905612-C9C1-4A06-B451-2DB3B2153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7672" y="2308077"/>
            <a:ext cx="5142743" cy="30078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D2ACCBC8-700E-4969-BA63-50164A9D31D7}"/>
              </a:ext>
            </a:extLst>
          </p:cNvPr>
          <p:cNvSpPr>
            <a:spLocks noChangeArrowheads="1"/>
          </p:cNvSpPr>
          <p:nvPr/>
        </p:nvSpPr>
        <p:spPr bwMode="auto">
          <a:xfrm>
            <a:off x="712720" y="3346840"/>
            <a:ext cx="568808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90575" algn="l"/>
              </a:tabLst>
            </a:pP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ES" altLang="es-CO" sz="2000" b="0" i="0" u="none" strike="noStrike" cap="none" normalizeH="0" baseline="0" dirty="0">
                <a:ln>
                  <a:noFill/>
                </a:ln>
                <a:solidFill>
                  <a:schemeClr val="tx1"/>
                </a:solidFill>
                <a:effectLst/>
                <a:latin typeface="+mn-lt"/>
                <a:ea typeface="Calibri" panose="020F0502020204030204" pitchFamily="34" charset="0"/>
              </a:rPr>
              <a:t>Emisor</a:t>
            </a: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ES" altLang="es-CO" sz="2000" b="0" i="0" u="none" strike="noStrike" cap="none" normalizeH="0" baseline="0" dirty="0">
                <a:ln>
                  <a:noFill/>
                </a:ln>
                <a:solidFill>
                  <a:schemeClr val="tx1"/>
                </a:solidFill>
                <a:effectLst/>
                <a:latin typeface="+mn-lt"/>
                <a:ea typeface="Calibri" panose="020F0502020204030204" pitchFamily="34" charset="0"/>
              </a:rPr>
              <a:t>Receptor</a:t>
            </a: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ES" altLang="es-CO" sz="2000" b="0" i="0" u="none" strike="noStrike" cap="none" normalizeH="0" baseline="0" dirty="0">
                <a:ln>
                  <a:noFill/>
                </a:ln>
                <a:solidFill>
                  <a:schemeClr val="tx1"/>
                </a:solidFill>
                <a:effectLst/>
                <a:latin typeface="+mn-lt"/>
                <a:ea typeface="Calibri" panose="020F0502020204030204" pitchFamily="34" charset="0"/>
              </a:rPr>
              <a:t>Mensaje (texto, números, gráficos, audio y video)</a:t>
            </a: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ES" altLang="es-CO" sz="2000" b="0" i="0" u="none" strike="noStrike" cap="none" normalizeH="0" baseline="0" dirty="0">
                <a:ln>
                  <a:noFill/>
                </a:ln>
                <a:solidFill>
                  <a:schemeClr val="tx1"/>
                </a:solidFill>
                <a:effectLst/>
                <a:latin typeface="+mn-lt"/>
                <a:ea typeface="Calibri" panose="020F0502020204030204" pitchFamily="34" charset="0"/>
              </a:rPr>
              <a:t>Medio (cable par trenzado, cable coaxial, fibra óptica, ondas de radio)</a:t>
            </a: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ES" altLang="es-CO" sz="2000" b="0" i="0" u="none" strike="noStrike" cap="none" normalizeH="0" baseline="0" dirty="0">
                <a:ln>
                  <a:noFill/>
                </a:ln>
                <a:solidFill>
                  <a:schemeClr val="tx1"/>
                </a:solidFill>
                <a:effectLst/>
                <a:latin typeface="+mn-lt"/>
                <a:ea typeface="Calibri" panose="020F0502020204030204" pitchFamily="34" charset="0"/>
              </a:rPr>
              <a:t>Protocolo (idioma)</a:t>
            </a:r>
            <a:endParaRPr kumimoji="0" lang="es-ES" altLang="es-CO" sz="2000" b="0" i="0" u="none" strike="noStrike" cap="none" normalizeH="0" baseline="0" dirty="0">
              <a:ln>
                <a:noFill/>
              </a:ln>
              <a:solidFill>
                <a:schemeClr val="tx1"/>
              </a:solidFill>
              <a:effectLst/>
              <a:latin typeface="+mn-lt"/>
            </a:endParaRPr>
          </a:p>
        </p:txBody>
      </p:sp>
      <p:sp>
        <p:nvSpPr>
          <p:cNvPr id="9" name="CuadroTexto 8">
            <a:extLst>
              <a:ext uri="{FF2B5EF4-FFF2-40B4-BE49-F238E27FC236}">
                <a16:creationId xmlns:a16="http://schemas.microsoft.com/office/drawing/2014/main" id="{40F3D074-FFA7-44F2-BEE3-92A3A952CAFC}"/>
              </a:ext>
            </a:extLst>
          </p:cNvPr>
          <p:cNvSpPr txBox="1"/>
          <p:nvPr/>
        </p:nvSpPr>
        <p:spPr>
          <a:xfrm>
            <a:off x="1605508" y="2126213"/>
            <a:ext cx="3337554" cy="461665"/>
          </a:xfrm>
          <a:prstGeom prst="rect">
            <a:avLst/>
          </a:prstGeom>
          <a:solidFill>
            <a:schemeClr val="accent1">
              <a:lumMod val="60000"/>
              <a:lumOff val="40000"/>
            </a:schemeClr>
          </a:solidFill>
        </p:spPr>
        <p:txBody>
          <a:bodyPr wrap="square" rtlCol="0">
            <a:spAutoFit/>
          </a:bodyPr>
          <a:lstStyle/>
          <a:p>
            <a:r>
              <a:rPr lang="es-MX" sz="2400" b="1" dirty="0"/>
              <a:t>TRANSMISIÓN DE DATOS</a:t>
            </a:r>
            <a:endParaRPr lang="es-CO" sz="2400" b="1" dirty="0"/>
          </a:p>
        </p:txBody>
      </p:sp>
      <p:sp>
        <p:nvSpPr>
          <p:cNvPr id="10" name="CuadroTexto 9">
            <a:extLst>
              <a:ext uri="{FF2B5EF4-FFF2-40B4-BE49-F238E27FC236}">
                <a16:creationId xmlns:a16="http://schemas.microsoft.com/office/drawing/2014/main" id="{528F8DDA-5F4C-4AFD-B826-872D41DA126A}"/>
              </a:ext>
            </a:extLst>
          </p:cNvPr>
          <p:cNvSpPr txBox="1"/>
          <p:nvPr/>
        </p:nvSpPr>
        <p:spPr>
          <a:xfrm>
            <a:off x="1036663" y="2781628"/>
            <a:ext cx="2237622" cy="461665"/>
          </a:xfrm>
          <a:prstGeom prst="rect">
            <a:avLst/>
          </a:prstGeom>
          <a:solidFill>
            <a:schemeClr val="accent2">
              <a:lumMod val="60000"/>
              <a:lumOff val="40000"/>
            </a:schemeClr>
          </a:solidFill>
        </p:spPr>
        <p:txBody>
          <a:bodyPr wrap="square" rtlCol="0">
            <a:spAutoFit/>
          </a:bodyPr>
          <a:lstStyle/>
          <a:p>
            <a:r>
              <a:rPr lang="es-MX" sz="2400" b="1" dirty="0">
                <a:ea typeface="Calibri" panose="020F0502020204030204" pitchFamily="34" charset="0"/>
              </a:rPr>
              <a:t>COMPONENTES</a:t>
            </a:r>
            <a:endParaRPr lang="es-CO" sz="2400" b="1" dirty="0">
              <a:ea typeface="Calibri" panose="020F0502020204030204" pitchFamily="34" charset="0"/>
            </a:endParaRPr>
          </a:p>
        </p:txBody>
      </p:sp>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Características de la transmisión de datos</a:t>
            </a:r>
            <a:endParaRPr lang="es-CO" sz="4800" b="1" dirty="0"/>
          </a:p>
        </p:txBody>
      </p:sp>
    </p:spTree>
    <p:extLst>
      <p:ext uri="{BB962C8B-B14F-4D97-AF65-F5344CB8AC3E}">
        <p14:creationId xmlns:p14="http://schemas.microsoft.com/office/powerpoint/2010/main" val="3532046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B7CBFE-869A-4D50-BFDA-A948DA4334BB}"/>
              </a:ext>
            </a:extLst>
          </p:cNvPr>
          <p:cNvSpPr>
            <a:spLocks noChangeArrowheads="1"/>
          </p:cNvSpPr>
          <p:nvPr/>
        </p:nvSpPr>
        <p:spPr bwMode="auto">
          <a:xfrm>
            <a:off x="0" y="339256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pic>
        <p:nvPicPr>
          <p:cNvPr id="1026" name="Picture 2" descr="TECNOLÓGICO NACIONAL DE MÉXICO">
            <a:extLst>
              <a:ext uri="{FF2B5EF4-FFF2-40B4-BE49-F238E27FC236}">
                <a16:creationId xmlns:a16="http://schemas.microsoft.com/office/drawing/2014/main" id="{641DDFCC-423A-1040-BBA6-1292E0918F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6701" y="1573907"/>
            <a:ext cx="4537392" cy="22758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84A9F98-9493-139B-6EB9-786D6525C5CB}"/>
              </a:ext>
            </a:extLst>
          </p:cNvPr>
          <p:cNvSpPr>
            <a:spLocks noChangeArrowheads="1"/>
          </p:cNvSpPr>
          <p:nvPr/>
        </p:nvSpPr>
        <p:spPr bwMode="auto">
          <a:xfrm>
            <a:off x="5557054" y="3849760"/>
            <a:ext cx="161590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90575" algn="l"/>
              </a:tabLst>
            </a:pP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Texto</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lang="es-CO" altLang="es-CO" sz="2000" dirty="0">
                <a:latin typeface="+mn-lt"/>
              </a:rPr>
              <a:t>Números</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0" i="0" u="none" strike="noStrike" cap="none" normalizeH="0" baseline="0" dirty="0">
                <a:ln>
                  <a:noFill/>
                </a:ln>
                <a:solidFill>
                  <a:schemeClr val="tx1"/>
                </a:solidFill>
                <a:effectLst/>
                <a:latin typeface="+mn-lt"/>
              </a:rPr>
              <a:t>Imágenes</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lang="es-CO" altLang="es-CO" sz="2000" dirty="0">
                <a:latin typeface="+mn-lt"/>
              </a:rPr>
              <a:t>Audio</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0" i="0" u="none" strike="noStrike" cap="none" normalizeH="0" baseline="0" dirty="0">
                <a:ln>
                  <a:noFill/>
                </a:ln>
                <a:solidFill>
                  <a:schemeClr val="tx1"/>
                </a:solidFill>
                <a:effectLst/>
                <a:latin typeface="+mn-lt"/>
              </a:rPr>
              <a:t>Video</a:t>
            </a:r>
          </a:p>
        </p:txBody>
      </p:sp>
    </p:spTree>
    <p:extLst>
      <p:ext uri="{BB962C8B-B14F-4D97-AF65-F5344CB8AC3E}">
        <p14:creationId xmlns:p14="http://schemas.microsoft.com/office/powerpoint/2010/main" val="1628270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B7CBFE-869A-4D50-BFDA-A948DA4334BB}"/>
              </a:ext>
            </a:extLst>
          </p:cNvPr>
          <p:cNvSpPr>
            <a:spLocks noChangeArrowheads="1"/>
          </p:cNvSpPr>
          <p:nvPr/>
        </p:nvSpPr>
        <p:spPr bwMode="auto">
          <a:xfrm>
            <a:off x="0" y="339256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4" name="Rectangle 3">
            <a:extLst>
              <a:ext uri="{FF2B5EF4-FFF2-40B4-BE49-F238E27FC236}">
                <a16:creationId xmlns:a16="http://schemas.microsoft.com/office/drawing/2014/main" id="{E84A9F98-9493-139B-6EB9-786D6525C5CB}"/>
              </a:ext>
            </a:extLst>
          </p:cNvPr>
          <p:cNvSpPr>
            <a:spLocks noChangeArrowheads="1"/>
          </p:cNvSpPr>
          <p:nvPr/>
        </p:nvSpPr>
        <p:spPr bwMode="auto">
          <a:xfrm>
            <a:off x="760580" y="1187492"/>
            <a:ext cx="1081024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90575" algn="l"/>
              </a:tabLst>
            </a:pP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Texto: </a:t>
            </a:r>
          </a:p>
          <a:p>
            <a:pPr marL="800100" lvl="1" indent="-342900">
              <a:buFont typeface="Wingdings" panose="05000000000000000000" pitchFamily="2" charset="2"/>
              <a:buChar char="ü"/>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Patrón binario (0s y 1s) -----&gt; </a:t>
            </a:r>
            <a:r>
              <a:rPr lang="es-CO" sz="2000" dirty="0"/>
              <a:t>8 bits (1 byte)</a:t>
            </a: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a:p>
            <a:pPr marL="800100" lvl="1" indent="-342900">
              <a:buFont typeface="Wingdings" panose="05000000000000000000" pitchFamily="2" charset="2"/>
              <a:buChar char="ü"/>
            </a:pPr>
            <a:r>
              <a:rPr lang="es-CO" altLang="es-CO" sz="2000" dirty="0">
                <a:latin typeface="+mn-lt"/>
                <a:ea typeface="Calibri" panose="020F0502020204030204" pitchFamily="34" charset="0"/>
              </a:rPr>
              <a:t>Código: conjunto de patrones binarios</a:t>
            </a:r>
          </a:p>
          <a:p>
            <a:pPr marL="800100" lvl="1" indent="-342900">
              <a:buFont typeface="Wingdings" panose="05000000000000000000" pitchFamily="2" charset="2"/>
              <a:buChar char="ü"/>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Unicode: 32 bits para representar un símbolo</a:t>
            </a:r>
          </a:p>
          <a:p>
            <a:pPr marL="800100" lvl="1" indent="-342900">
              <a:buFont typeface="Wingdings" panose="05000000000000000000" pitchFamily="2" charset="2"/>
              <a:buChar char="ü"/>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Números: </a:t>
            </a:r>
          </a:p>
          <a:p>
            <a:pPr marL="800100" lvl="1" indent="-342900">
              <a:buFont typeface="Wingdings" panose="05000000000000000000" pitchFamily="2" charset="2"/>
              <a:buChar char="ü"/>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Se convierten directamente en binarios para operar matemáticamente</a:t>
            </a:r>
          </a:p>
          <a:p>
            <a:pPr lvl="1"/>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lang="es-CO" altLang="es-CO" sz="2000" b="1" dirty="0">
                <a:latin typeface="+mn-lt"/>
                <a:ea typeface="Calibri" panose="020F0502020204030204" pitchFamily="34" charset="0"/>
              </a:rPr>
              <a:t>Imágenes:</a:t>
            </a:r>
          </a:p>
          <a:p>
            <a:pPr lvl="1">
              <a:buFontTx/>
              <a:buChar char="•"/>
            </a:pPr>
            <a:r>
              <a:rPr lang="es-CO" altLang="es-CO" sz="2000" dirty="0">
                <a:latin typeface="+mn-lt"/>
                <a:ea typeface="Calibri" panose="020F0502020204030204" pitchFamily="34" charset="0"/>
              </a:rPr>
              <a:t>Representada como patrones de bits (0,1)</a:t>
            </a:r>
          </a:p>
          <a:p>
            <a:pPr lvl="1">
              <a:buFontTx/>
              <a:buChar char="•"/>
            </a:pPr>
            <a:r>
              <a:rPr lang="es-CO" altLang="es-CO" sz="2000" dirty="0">
                <a:latin typeface="+mn-lt"/>
                <a:ea typeface="Calibri" panose="020F0502020204030204" pitchFamily="34" charset="0"/>
              </a:rPr>
              <a:t>Compuesta por matriz de pixeles</a:t>
            </a:r>
          </a:p>
          <a:p>
            <a:pPr lvl="1">
              <a:buFontTx/>
              <a:buChar char="•"/>
            </a:pPr>
            <a:r>
              <a:rPr lang="es-CO" altLang="es-CO" sz="2000" dirty="0">
                <a:latin typeface="+mn-lt"/>
                <a:ea typeface="Calibri" panose="020F0502020204030204" pitchFamily="34" charset="0"/>
              </a:rPr>
              <a:t>Pixel = punto</a:t>
            </a:r>
          </a:p>
          <a:p>
            <a:pPr lvl="1">
              <a:buFontTx/>
              <a:buChar char="•"/>
            </a:pPr>
            <a:r>
              <a:rPr lang="es-CO" altLang="es-CO" sz="2000" dirty="0">
                <a:latin typeface="+mn-lt"/>
                <a:ea typeface="Calibri" panose="020F0502020204030204" pitchFamily="34" charset="0"/>
              </a:rPr>
              <a:t>A cada pixel se le asigna un patrón de bits – negro 00, gris claro 01, gris oscuro 10, blanco 11</a:t>
            </a:r>
          </a:p>
          <a:p>
            <a:pPr lvl="1">
              <a:buFontTx/>
              <a:buChar char="•"/>
            </a:pPr>
            <a:r>
              <a:rPr lang="es-CO" altLang="es-CO" sz="2000" dirty="0">
                <a:latin typeface="+mn-lt"/>
                <a:ea typeface="Calibri" panose="020F0502020204030204" pitchFamily="34" charset="0"/>
              </a:rPr>
              <a:t>Se pueden representar por RGB (rojo, verde, azul), YCM (amarillo, cian, magenta)</a:t>
            </a:r>
          </a:p>
          <a:p>
            <a:pPr lvl="1">
              <a:buFontTx/>
              <a:buChar char="•"/>
            </a:pPr>
            <a:r>
              <a:rPr lang="es-CO" altLang="es-CO" sz="2000" dirty="0">
                <a:latin typeface="+mn-lt"/>
                <a:ea typeface="Calibri" panose="020F0502020204030204" pitchFamily="34" charset="0"/>
              </a:rPr>
              <a:t>Se mide la intensidad de cada color y se asigna un patrón de bits</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p:txBody>
      </p:sp>
    </p:spTree>
    <p:extLst>
      <p:ext uri="{BB962C8B-B14F-4D97-AF65-F5344CB8AC3E}">
        <p14:creationId xmlns:p14="http://schemas.microsoft.com/office/powerpoint/2010/main" val="1292447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B7CBFE-869A-4D50-BFDA-A948DA4334BB}"/>
              </a:ext>
            </a:extLst>
          </p:cNvPr>
          <p:cNvSpPr>
            <a:spLocks noChangeArrowheads="1"/>
          </p:cNvSpPr>
          <p:nvPr/>
        </p:nvSpPr>
        <p:spPr bwMode="auto">
          <a:xfrm>
            <a:off x="0" y="339256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4" name="Rectangle 3">
            <a:extLst>
              <a:ext uri="{FF2B5EF4-FFF2-40B4-BE49-F238E27FC236}">
                <a16:creationId xmlns:a16="http://schemas.microsoft.com/office/drawing/2014/main" id="{E84A9F98-9493-139B-6EB9-786D6525C5CB}"/>
              </a:ext>
            </a:extLst>
          </p:cNvPr>
          <p:cNvSpPr>
            <a:spLocks noChangeArrowheads="1"/>
          </p:cNvSpPr>
          <p:nvPr/>
        </p:nvSpPr>
        <p:spPr bwMode="auto">
          <a:xfrm>
            <a:off x="656740" y="1207356"/>
            <a:ext cx="1081024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90575" algn="l"/>
              </a:tabLst>
            </a:pP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Audio: </a:t>
            </a:r>
          </a:p>
          <a:p>
            <a:pPr marL="800100" lvl="1" indent="-342900">
              <a:buFont typeface="Wingdings" panose="05000000000000000000" pitchFamily="2" charset="2"/>
              <a:buChar char="ü"/>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Señal continua, no discreta</a:t>
            </a:r>
          </a:p>
          <a:p>
            <a:pPr lvl="1"/>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Video: </a:t>
            </a:r>
          </a:p>
          <a:p>
            <a:pPr marL="800100" lvl="1" indent="-342900">
              <a:buFont typeface="Wingdings" panose="05000000000000000000" pitchFamily="2" charset="2"/>
              <a:buChar char="ü"/>
            </a:pPr>
            <a:r>
              <a:rPr lang="es-CO" altLang="es-CO" sz="2000" dirty="0">
                <a:latin typeface="+mn-lt"/>
                <a:ea typeface="Calibri" panose="020F0502020204030204" pitchFamily="34" charset="0"/>
              </a:rPr>
              <a:t>Continua: Cámara TV</a:t>
            </a:r>
          </a:p>
          <a:p>
            <a:pPr marL="800100" lvl="1" indent="-342900">
              <a:buFont typeface="Wingdings" panose="05000000000000000000" pitchFamily="2" charset="2"/>
              <a:buChar char="ü"/>
            </a:pPr>
            <a:r>
              <a:rPr lang="es-CO" altLang="es-CO" sz="2000" dirty="0">
                <a:latin typeface="+mn-lt"/>
                <a:ea typeface="Calibri" panose="020F0502020204030204" pitchFamily="34" charset="0"/>
              </a:rPr>
              <a:t>Discreta: Combinación de imágenes</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p:txBody>
      </p:sp>
      <p:pic>
        <p:nvPicPr>
          <p:cNvPr id="5" name="Imagen 4">
            <a:extLst>
              <a:ext uri="{FF2B5EF4-FFF2-40B4-BE49-F238E27FC236}">
                <a16:creationId xmlns:a16="http://schemas.microsoft.com/office/drawing/2014/main" id="{8AB52254-8971-9B60-1628-213C8B3723A6}"/>
              </a:ext>
            </a:extLst>
          </p:cNvPr>
          <p:cNvPicPr>
            <a:picLocks noChangeAspect="1"/>
          </p:cNvPicPr>
          <p:nvPr/>
        </p:nvPicPr>
        <p:blipFill>
          <a:blip r:embed="rId2"/>
          <a:stretch>
            <a:fillRect/>
          </a:stretch>
        </p:blipFill>
        <p:spPr>
          <a:xfrm>
            <a:off x="4016676" y="3658391"/>
            <a:ext cx="3206755" cy="1818596"/>
          </a:xfrm>
          <a:prstGeom prst="rect">
            <a:avLst/>
          </a:prstGeom>
        </p:spPr>
      </p:pic>
      <p:sp>
        <p:nvSpPr>
          <p:cNvPr id="6" name="CuadroTexto 5">
            <a:extLst>
              <a:ext uri="{FF2B5EF4-FFF2-40B4-BE49-F238E27FC236}">
                <a16:creationId xmlns:a16="http://schemas.microsoft.com/office/drawing/2014/main" id="{C5DA1CCA-6A9F-684C-C228-504D05567D6C}"/>
              </a:ext>
            </a:extLst>
          </p:cNvPr>
          <p:cNvSpPr txBox="1"/>
          <p:nvPr/>
        </p:nvSpPr>
        <p:spPr>
          <a:xfrm>
            <a:off x="8156292" y="3982914"/>
            <a:ext cx="2377439" cy="584775"/>
          </a:xfrm>
          <a:prstGeom prst="rect">
            <a:avLst/>
          </a:prstGeom>
          <a:noFill/>
        </p:spPr>
        <p:txBody>
          <a:bodyPr wrap="square" rtlCol="0">
            <a:spAutoFit/>
          </a:bodyPr>
          <a:lstStyle/>
          <a:p>
            <a:r>
              <a:rPr lang="es-ES" sz="3200" dirty="0">
                <a:latin typeface="Arial Narrow" panose="020B0606020202030204" pitchFamily="34" charset="0"/>
              </a:rPr>
              <a:t>Audio y Video</a:t>
            </a:r>
            <a:endParaRPr lang="es-CO" sz="3200" dirty="0">
              <a:latin typeface="Arial Narrow" panose="020B0606020202030204" pitchFamily="34" charset="0"/>
            </a:endParaRPr>
          </a:p>
        </p:txBody>
      </p:sp>
      <p:sp>
        <p:nvSpPr>
          <p:cNvPr id="7" name="Flecha derecha 9">
            <a:extLst>
              <a:ext uri="{FF2B5EF4-FFF2-40B4-BE49-F238E27FC236}">
                <a16:creationId xmlns:a16="http://schemas.microsoft.com/office/drawing/2014/main" id="{F6058001-899D-AB67-AD67-678AD115E802}"/>
              </a:ext>
            </a:extLst>
          </p:cNvPr>
          <p:cNvSpPr/>
          <p:nvPr/>
        </p:nvSpPr>
        <p:spPr>
          <a:xfrm>
            <a:off x="7395774" y="4084747"/>
            <a:ext cx="519193" cy="369332"/>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8" name="CuadroTexto 7">
            <a:extLst>
              <a:ext uri="{FF2B5EF4-FFF2-40B4-BE49-F238E27FC236}">
                <a16:creationId xmlns:a16="http://schemas.microsoft.com/office/drawing/2014/main" id="{674F8A00-230E-B389-A9FD-311D9B1E4464}"/>
              </a:ext>
            </a:extLst>
          </p:cNvPr>
          <p:cNvSpPr txBox="1"/>
          <p:nvPr/>
        </p:nvSpPr>
        <p:spPr>
          <a:xfrm>
            <a:off x="6921684" y="6148766"/>
            <a:ext cx="3845274" cy="584775"/>
          </a:xfrm>
          <a:prstGeom prst="rect">
            <a:avLst/>
          </a:prstGeom>
          <a:noFill/>
        </p:spPr>
        <p:txBody>
          <a:bodyPr wrap="square" rtlCol="0">
            <a:spAutoFit/>
          </a:bodyPr>
          <a:lstStyle/>
          <a:p>
            <a:r>
              <a:rPr lang="es-ES" sz="3200" dirty="0">
                <a:latin typeface="Arial Narrow" panose="020B0606020202030204" pitchFamily="34" charset="0"/>
              </a:rPr>
              <a:t>Naturaleza Continua</a:t>
            </a:r>
            <a:endParaRPr lang="es-CO" sz="3200" dirty="0">
              <a:latin typeface="Arial Narrow" panose="020B0606020202030204" pitchFamily="34" charset="0"/>
            </a:endParaRPr>
          </a:p>
        </p:txBody>
      </p:sp>
      <p:sp>
        <p:nvSpPr>
          <p:cNvPr id="9" name="Flecha derecha 11">
            <a:extLst>
              <a:ext uri="{FF2B5EF4-FFF2-40B4-BE49-F238E27FC236}">
                <a16:creationId xmlns:a16="http://schemas.microsoft.com/office/drawing/2014/main" id="{E97F2A55-3406-9A4B-9283-179A7730BC1F}"/>
              </a:ext>
            </a:extLst>
          </p:cNvPr>
          <p:cNvSpPr/>
          <p:nvPr/>
        </p:nvSpPr>
        <p:spPr>
          <a:xfrm rot="2899426">
            <a:off x="5957581" y="5841593"/>
            <a:ext cx="567897" cy="426854"/>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165039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443354" y="-307101"/>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97191" y="639595"/>
            <a:ext cx="11237708" cy="2862322"/>
          </a:xfrm>
          <a:prstGeom prst="rect">
            <a:avLst/>
          </a:prstGeom>
          <a:noFill/>
        </p:spPr>
        <p:txBody>
          <a:bodyPr wrap="square">
            <a:spAutoFit/>
          </a:bodyPr>
          <a:lstStyle/>
          <a:p>
            <a:r>
              <a:rPr lang="es-MX" sz="1200" b="1" dirty="0"/>
              <a:t>Unicode de 32 bits (UTF-32)</a:t>
            </a:r>
          </a:p>
          <a:p>
            <a:endParaRPr lang="es-MX" sz="1200" dirty="0"/>
          </a:p>
          <a:p>
            <a:r>
              <a:rPr lang="es-MX" sz="1200" dirty="0"/>
              <a:t>Unicode es un estándar de codificación diseñado para soportar el uso de texto y símbolos de todos los sistemas de escritura del mundo. Cada carácter en Unicode es asignado a un punto de código único. Los puntos de código se pueden representar en diferentes formatos de codificación, y una de las representaciones más comunes es UTF-32.</a:t>
            </a:r>
          </a:p>
          <a:p>
            <a:endParaRPr lang="es-MX" sz="1200" dirty="0"/>
          </a:p>
          <a:p>
            <a:r>
              <a:rPr lang="es-MX" sz="1200" dirty="0"/>
              <a:t>UTF-32 es una codificación de caracteres en la que cada carácter Unicode es representado por un valor fijo de 32 bits (4 bytes). Esto permite un acceso directo y simple a los caracteres, ya que cada punto de código tiene el mismo tamaño. Características claves:</a:t>
            </a:r>
          </a:p>
          <a:p>
            <a:endParaRPr lang="es-MX" sz="1200" dirty="0"/>
          </a:p>
          <a:p>
            <a:pPr lvl="1">
              <a:buFont typeface="+mj-lt"/>
              <a:buAutoNum type="arabicPeriod"/>
            </a:pPr>
            <a:r>
              <a:rPr lang="es-MX" sz="1200" b="1" dirty="0"/>
              <a:t>Tamaño Fijo</a:t>
            </a:r>
            <a:r>
              <a:rPr lang="es-MX" sz="1200" dirty="0"/>
              <a:t>: Cada carácter (característica) ocupa exactamente 4 bytes. Esto hace que la manipulación de cadenas sea más simple porque puedes calcular fácilmente la posición de un carácter basado en su índice.</a:t>
            </a:r>
          </a:p>
          <a:p>
            <a:pPr lvl="1">
              <a:buFont typeface="+mj-lt"/>
              <a:buAutoNum type="arabicPeriod"/>
            </a:pPr>
            <a:r>
              <a:rPr lang="es-MX" sz="1200" b="1" dirty="0"/>
              <a:t>Espacio</a:t>
            </a:r>
            <a:r>
              <a:rPr lang="es-MX" sz="1200" dirty="0"/>
              <a:t>: Debido a su tamaño fijo de 4 bytes por carácter, UTF-32 no es eficiente en términos de espacio comparado con otras codificaciones como UTF-8 y UTF-16, especialmente para textos que consisten principalmente en caracteres del alfabeto latino.</a:t>
            </a:r>
          </a:p>
          <a:p>
            <a:pPr lvl="1">
              <a:buFont typeface="+mj-lt"/>
              <a:buAutoNum type="arabicPeriod"/>
            </a:pPr>
            <a:r>
              <a:rPr lang="es-MX" sz="1200" b="1" dirty="0"/>
              <a:t>Simplicidad</a:t>
            </a:r>
            <a:r>
              <a:rPr lang="es-MX" sz="1200" dirty="0"/>
              <a:t>: La codificación fija simplifica el procesamiento de texto, ya que no requiere desambiguar entre diferentes tamaños de caracteres, como ocurre con UTF-8 y UTF-16.</a:t>
            </a:r>
          </a:p>
          <a:p>
            <a:pPr lvl="1">
              <a:buFont typeface="+mj-lt"/>
              <a:buAutoNum type="arabicPeriod"/>
            </a:pPr>
            <a:r>
              <a:rPr lang="es-MX" sz="1200" b="1" dirty="0"/>
              <a:t>Rango de Codificación</a:t>
            </a:r>
            <a:r>
              <a:rPr lang="es-MX" sz="1200" dirty="0"/>
              <a:t>: UTF-32 puede representar cualquier punto de código Unicode, que actualmente va desde U+0000 hasta U+10FFFF.</a:t>
            </a:r>
          </a:p>
        </p:txBody>
      </p:sp>
      <p:sp>
        <p:nvSpPr>
          <p:cNvPr id="7" name="Rectangle 1">
            <a:extLst>
              <a:ext uri="{FF2B5EF4-FFF2-40B4-BE49-F238E27FC236}">
                <a16:creationId xmlns:a16="http://schemas.microsoft.com/office/drawing/2014/main" id="{ED56D8D8-275E-4476-5907-1582C5660513}"/>
              </a:ext>
            </a:extLst>
          </p:cNvPr>
          <p:cNvSpPr>
            <a:spLocks noChangeArrowheads="1"/>
          </p:cNvSpPr>
          <p:nvPr/>
        </p:nvSpPr>
        <p:spPr bwMode="auto">
          <a:xfrm>
            <a:off x="524729" y="3875692"/>
            <a:ext cx="5288184"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CO" altLang="es-CO" sz="1400" b="1" dirty="0"/>
              <a:t>Ejemplo: Mínimo se usan dos ceros por byte</a:t>
            </a:r>
          </a:p>
          <a:p>
            <a:pPr marL="0" marR="0" lvl="0" indent="0" algn="l" defTabSz="914400" rtl="0" eaLnBrk="0" fontAlgn="base" latinLnBrk="0" hangingPunct="0">
              <a:lnSpc>
                <a:spcPct val="100000"/>
              </a:lnSpc>
              <a:spcBef>
                <a:spcPct val="0"/>
              </a:spcBef>
              <a:spcAft>
                <a:spcPct val="0"/>
              </a:spcAft>
              <a:buClrTx/>
              <a:buSzTx/>
              <a:buFontTx/>
              <a:buNone/>
              <a:tabLst/>
            </a:pPr>
            <a:endParaRPr lang="es-CO" altLang="es-CO" sz="1400" dirty="0"/>
          </a:p>
          <a:p>
            <a:pPr marL="0" marR="0" lvl="0" indent="0" algn="l" defTabSz="914400" rtl="0" eaLnBrk="0" fontAlgn="base" latinLnBrk="0" hangingPunct="0">
              <a:lnSpc>
                <a:spcPct val="100000"/>
              </a:lnSpc>
              <a:spcBef>
                <a:spcPct val="0"/>
              </a:spcBef>
              <a:spcAft>
                <a:spcPct val="0"/>
              </a:spcAft>
              <a:buClrTx/>
              <a:buSzTx/>
              <a:buFontTx/>
              <a:buNone/>
              <a:tabLst/>
            </a:pPr>
            <a:r>
              <a:rPr lang="es-CO" altLang="es-CO" sz="1400" dirty="0"/>
              <a:t>Codificar el carácter "A" (U+0041) en diferentes formatos Unicode:</a:t>
            </a:r>
          </a:p>
          <a:p>
            <a:pPr marL="0" marR="0" lvl="0" indent="0" algn="l" defTabSz="914400" rtl="0" eaLnBrk="0" fontAlgn="base" latinLnBrk="0" hangingPunct="0">
              <a:lnSpc>
                <a:spcPct val="100000"/>
              </a:lnSpc>
              <a:spcBef>
                <a:spcPct val="0"/>
              </a:spcBef>
              <a:spcAft>
                <a:spcPct val="0"/>
              </a:spcAft>
              <a:buClrTx/>
              <a:buSzTx/>
              <a:buFontTx/>
              <a:buChar char="•"/>
              <a:tabLst/>
            </a:pPr>
            <a:r>
              <a:rPr lang="es-CO" altLang="es-CO" sz="1400" dirty="0"/>
              <a:t>UTF-8: 0x41 (1 byte) </a:t>
            </a:r>
            <a:r>
              <a:rPr lang="es-MX" sz="1400" dirty="0"/>
              <a:t>Usa la cantidad mínima de bytes, 1 en este caso.</a:t>
            </a:r>
            <a:endParaRPr lang="es-CO" altLang="es-CO" sz="1400" dirty="0"/>
          </a:p>
          <a:p>
            <a:pPr marL="0" marR="0" lvl="0" indent="0" algn="l" defTabSz="914400" rtl="0" eaLnBrk="0" fontAlgn="base" latinLnBrk="0" hangingPunct="0">
              <a:lnSpc>
                <a:spcPct val="100000"/>
              </a:lnSpc>
              <a:spcBef>
                <a:spcPct val="0"/>
              </a:spcBef>
              <a:spcAft>
                <a:spcPct val="0"/>
              </a:spcAft>
              <a:buClrTx/>
              <a:buSzTx/>
              <a:buFontTx/>
              <a:buChar char="•"/>
              <a:tabLst/>
            </a:pPr>
            <a:r>
              <a:rPr lang="es-CO" altLang="es-CO" sz="1400" dirty="0"/>
              <a:t>UTF-16: 0x0041 (2 bytes)</a:t>
            </a:r>
            <a:r>
              <a:rPr lang="es-MX" sz="1400" dirty="0"/>
              <a:t> Siempre usa al menos 2 bytes.</a:t>
            </a:r>
            <a:endParaRPr lang="es-CO" altLang="es-CO" sz="1400" dirty="0"/>
          </a:p>
          <a:p>
            <a:pPr marL="0" marR="0" lvl="0" indent="0" algn="l" defTabSz="914400" rtl="0" eaLnBrk="0" fontAlgn="base" latinLnBrk="0" hangingPunct="0">
              <a:lnSpc>
                <a:spcPct val="100000"/>
              </a:lnSpc>
              <a:spcBef>
                <a:spcPct val="0"/>
              </a:spcBef>
              <a:spcAft>
                <a:spcPct val="0"/>
              </a:spcAft>
              <a:buClrTx/>
              <a:buSzTx/>
              <a:buFontTx/>
              <a:buChar char="•"/>
              <a:tabLst/>
            </a:pPr>
            <a:r>
              <a:rPr lang="es-CO" altLang="es-CO" sz="1400" dirty="0"/>
              <a:t>UTF-32: 0x00000041 (4 bytes)</a:t>
            </a:r>
            <a:r>
              <a:rPr lang="es-MX" sz="1400" dirty="0"/>
              <a:t> Usa 4 bytes para todos los caracteres.</a:t>
            </a:r>
            <a:endParaRPr lang="es-CO" altLang="es-CO" sz="1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pic>
        <p:nvPicPr>
          <p:cNvPr id="9" name="Imagen 8">
            <a:extLst>
              <a:ext uri="{FF2B5EF4-FFF2-40B4-BE49-F238E27FC236}">
                <a16:creationId xmlns:a16="http://schemas.microsoft.com/office/drawing/2014/main" id="{286E8648-1C78-632A-CC6A-25805BA63D21}"/>
              </a:ext>
            </a:extLst>
          </p:cNvPr>
          <p:cNvPicPr>
            <a:picLocks noChangeAspect="1"/>
          </p:cNvPicPr>
          <p:nvPr/>
        </p:nvPicPr>
        <p:blipFill>
          <a:blip r:embed="rId2"/>
          <a:stretch>
            <a:fillRect/>
          </a:stretch>
        </p:blipFill>
        <p:spPr>
          <a:xfrm>
            <a:off x="5957446" y="3610661"/>
            <a:ext cx="4812153" cy="3010055"/>
          </a:xfrm>
          <a:prstGeom prst="rect">
            <a:avLst/>
          </a:prstGeom>
        </p:spPr>
      </p:pic>
    </p:spTree>
    <p:extLst>
      <p:ext uri="{BB962C8B-B14F-4D97-AF65-F5344CB8AC3E}">
        <p14:creationId xmlns:p14="http://schemas.microsoft.com/office/powerpoint/2010/main" val="714534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77146" y="1472149"/>
            <a:ext cx="11237708" cy="4062651"/>
          </a:xfrm>
          <a:prstGeom prst="rect">
            <a:avLst/>
          </a:prstGeom>
          <a:noFill/>
        </p:spPr>
        <p:txBody>
          <a:bodyPr wrap="square">
            <a:spAutoFit/>
          </a:bodyPr>
          <a:lstStyle/>
          <a:p>
            <a:r>
              <a:rPr lang="es-MX" sz="2000" b="1" dirty="0"/>
              <a:t>Unicode de 32 bits (UTF-32) Ventajas y Desventajas</a:t>
            </a:r>
          </a:p>
          <a:p>
            <a:endParaRPr lang="es-MX" sz="1400" dirty="0"/>
          </a:p>
          <a:p>
            <a:r>
              <a:rPr lang="es-MX" sz="1400" b="1" dirty="0"/>
              <a:t>Ventajas</a:t>
            </a:r>
            <a:r>
              <a:rPr lang="es-MX" sz="1400" dirty="0"/>
              <a:t>:</a:t>
            </a:r>
          </a:p>
          <a:p>
            <a:endParaRPr lang="es-MX" sz="1400" dirty="0"/>
          </a:p>
          <a:p>
            <a:pPr>
              <a:buFont typeface="Arial" panose="020B0604020202020204" pitchFamily="34" charset="0"/>
              <a:buChar char="•"/>
            </a:pPr>
            <a:r>
              <a:rPr lang="es-MX" sz="1400" dirty="0"/>
              <a:t>Acceso rápido y directo a cualquier carácter.</a:t>
            </a:r>
          </a:p>
          <a:p>
            <a:pPr>
              <a:buFont typeface="Arial" panose="020B0604020202020204" pitchFamily="34" charset="0"/>
              <a:buChar char="•"/>
            </a:pPr>
            <a:endParaRPr lang="es-MX" sz="1400" dirty="0"/>
          </a:p>
          <a:p>
            <a:pPr>
              <a:buFont typeface="Arial" panose="020B0604020202020204" pitchFamily="34" charset="0"/>
              <a:buChar char="•"/>
            </a:pPr>
            <a:r>
              <a:rPr lang="es-MX" sz="1400" dirty="0"/>
              <a:t>Simplicidad en el procesamiento de cadenas.</a:t>
            </a:r>
          </a:p>
          <a:p>
            <a:pPr>
              <a:buFont typeface="Arial" panose="020B0604020202020204" pitchFamily="34" charset="0"/>
              <a:buChar char="•"/>
            </a:pPr>
            <a:endParaRPr lang="es-MX" sz="1400" dirty="0"/>
          </a:p>
          <a:p>
            <a:r>
              <a:rPr lang="es-MX" sz="1400" b="1" dirty="0"/>
              <a:t>Desventajas</a:t>
            </a:r>
            <a:r>
              <a:rPr lang="es-MX" sz="1400" dirty="0"/>
              <a:t>:</a:t>
            </a:r>
          </a:p>
          <a:p>
            <a:endParaRPr lang="es-MX" sz="1400" dirty="0"/>
          </a:p>
          <a:p>
            <a:pPr>
              <a:buFont typeface="Arial" panose="020B0604020202020204" pitchFamily="34" charset="0"/>
              <a:buChar char="•"/>
            </a:pPr>
            <a:r>
              <a:rPr lang="es-MX" sz="1400" dirty="0"/>
              <a:t>Ineficiente en términos de uso de memoria, especialmente para textos en lenguajes que usan principalmente caracteres del BMP.</a:t>
            </a:r>
          </a:p>
          <a:p>
            <a:pPr>
              <a:buFont typeface="Arial" panose="020B0604020202020204" pitchFamily="34" charset="0"/>
              <a:buChar char="•"/>
            </a:pPr>
            <a:endParaRPr lang="es-MX" sz="1400" dirty="0"/>
          </a:p>
          <a:p>
            <a:pPr>
              <a:buFont typeface="Arial" panose="020B0604020202020204" pitchFamily="34" charset="0"/>
              <a:buChar char="•"/>
            </a:pPr>
            <a:r>
              <a:rPr lang="es-MX" sz="1400" dirty="0"/>
              <a:t>Mayor uso de ancho de banda y almacenamiento comparado con UTF-8 y UTF-16.</a:t>
            </a:r>
          </a:p>
          <a:p>
            <a:endParaRPr lang="es-MX" sz="1400" dirty="0"/>
          </a:p>
          <a:p>
            <a:pPr lvl="1"/>
            <a:r>
              <a:rPr lang="es-MX" sz="1400" dirty="0"/>
              <a:t>UTF-32 es particularmente útil en aplicaciones donde la simplicidad y el acceso rápido a los caracteres son más importantes que la eficiencia del espacio, como en algunas aplicaciones internas de procesamiento de texto o en ciertos sistemas que manejan caracteres Unicode de manera uniforme.</a:t>
            </a:r>
          </a:p>
          <a:p>
            <a:endParaRPr lang="es-MX" sz="1400" dirty="0"/>
          </a:p>
        </p:txBody>
      </p:sp>
    </p:spTree>
    <p:extLst>
      <p:ext uri="{BB962C8B-B14F-4D97-AF65-F5344CB8AC3E}">
        <p14:creationId xmlns:p14="http://schemas.microsoft.com/office/powerpoint/2010/main" val="2811046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4" name="CuadroTexto 3">
            <a:extLst>
              <a:ext uri="{FF2B5EF4-FFF2-40B4-BE49-F238E27FC236}">
                <a16:creationId xmlns:a16="http://schemas.microsoft.com/office/drawing/2014/main" id="{F4B3F2F6-5E85-B7E0-A7E8-0122B2D489C7}"/>
              </a:ext>
            </a:extLst>
          </p:cNvPr>
          <p:cNvSpPr txBox="1"/>
          <p:nvPr/>
        </p:nvSpPr>
        <p:spPr>
          <a:xfrm>
            <a:off x="390346" y="1265071"/>
            <a:ext cx="11669382" cy="2554545"/>
          </a:xfrm>
          <a:prstGeom prst="rect">
            <a:avLst/>
          </a:prstGeom>
          <a:noFill/>
        </p:spPr>
        <p:txBody>
          <a:bodyPr wrap="square">
            <a:spAutoFit/>
          </a:bodyPr>
          <a:lstStyle/>
          <a:p>
            <a:r>
              <a:rPr lang="es-MX" sz="2000" b="1" dirty="0"/>
              <a:t>Números</a:t>
            </a:r>
          </a:p>
          <a:p>
            <a:endParaRPr lang="es-MX" sz="1400" dirty="0"/>
          </a:p>
          <a:p>
            <a:r>
              <a:rPr lang="es-MX" sz="1400" dirty="0"/>
              <a:t>Convertir un número decimal a binario implica dividir el número por 2 repetidamente y registrar los restos en cada paso. </a:t>
            </a:r>
          </a:p>
          <a:p>
            <a:endParaRPr lang="es-MX" sz="1400" dirty="0"/>
          </a:p>
          <a:p>
            <a:r>
              <a:rPr lang="es-MX" sz="1400" b="1" dirty="0"/>
              <a:t>Método de División por 2:</a:t>
            </a:r>
          </a:p>
          <a:p>
            <a:endParaRPr lang="es-MX" sz="1400" b="1" dirty="0"/>
          </a:p>
          <a:p>
            <a:pPr marL="800100" lvl="1" indent="-342900" eaLnBrk="0" fontAlgn="base" hangingPunct="0">
              <a:spcBef>
                <a:spcPct val="0"/>
              </a:spcBef>
              <a:spcAft>
                <a:spcPct val="0"/>
              </a:spcAft>
              <a:buFont typeface="+mj-lt"/>
              <a:buAutoNum type="arabicPeriod"/>
            </a:pPr>
            <a:r>
              <a:rPr lang="es-CO" altLang="es-CO" sz="1400" dirty="0"/>
              <a:t>Divide el número decimal por 2.</a:t>
            </a:r>
          </a:p>
          <a:p>
            <a:pPr marL="800100" lvl="1" indent="-342900" eaLnBrk="0" fontAlgn="base" hangingPunct="0">
              <a:spcBef>
                <a:spcPct val="0"/>
              </a:spcBef>
              <a:spcAft>
                <a:spcPct val="0"/>
              </a:spcAft>
              <a:buFont typeface="+mj-lt"/>
              <a:buAutoNum type="arabicPeriod"/>
            </a:pPr>
            <a:r>
              <a:rPr lang="es-CO" altLang="es-CO" sz="1400" dirty="0"/>
              <a:t>Anota el cociente y el resto.</a:t>
            </a:r>
          </a:p>
          <a:p>
            <a:pPr marL="800100" lvl="1" indent="-342900" eaLnBrk="0" fontAlgn="base" hangingPunct="0">
              <a:spcBef>
                <a:spcPct val="0"/>
              </a:spcBef>
              <a:spcAft>
                <a:spcPct val="0"/>
              </a:spcAft>
              <a:buFont typeface="+mj-lt"/>
              <a:buAutoNum type="arabicPeriod"/>
            </a:pPr>
            <a:r>
              <a:rPr lang="es-CO" altLang="es-CO" sz="1400" dirty="0"/>
              <a:t>Repite hasta que el cociente sea 0.</a:t>
            </a:r>
          </a:p>
          <a:p>
            <a:pPr marL="800100" lvl="1" indent="-342900" eaLnBrk="0" fontAlgn="base" hangingPunct="0">
              <a:spcBef>
                <a:spcPct val="0"/>
              </a:spcBef>
              <a:spcAft>
                <a:spcPct val="0"/>
              </a:spcAft>
              <a:buFont typeface="+mj-lt"/>
              <a:buAutoNum type="arabicPeriod"/>
            </a:pPr>
            <a:r>
              <a:rPr lang="es-CO" altLang="es-CO" sz="1400" dirty="0"/>
              <a:t>Usa el cociente para la siguiente división.</a:t>
            </a:r>
          </a:p>
          <a:p>
            <a:pPr marL="800100" lvl="1" indent="-342900" eaLnBrk="0" fontAlgn="base" hangingPunct="0">
              <a:spcBef>
                <a:spcPct val="0"/>
              </a:spcBef>
              <a:spcAft>
                <a:spcPct val="0"/>
              </a:spcAft>
              <a:buFont typeface="+mj-lt"/>
              <a:buAutoNum type="arabicPeriod"/>
            </a:pPr>
            <a:r>
              <a:rPr lang="es-CO" altLang="es-CO" sz="1400" dirty="0"/>
              <a:t>Los restos leídos en orden inverso forman el número binario</a:t>
            </a:r>
          </a:p>
        </p:txBody>
      </p:sp>
      <p:sp>
        <p:nvSpPr>
          <p:cNvPr id="9" name="CuadroTexto 8">
            <a:extLst>
              <a:ext uri="{FF2B5EF4-FFF2-40B4-BE49-F238E27FC236}">
                <a16:creationId xmlns:a16="http://schemas.microsoft.com/office/drawing/2014/main" id="{423720FF-8AF0-3FED-6B25-F187A7854A4E}"/>
              </a:ext>
            </a:extLst>
          </p:cNvPr>
          <p:cNvSpPr txBox="1"/>
          <p:nvPr/>
        </p:nvSpPr>
        <p:spPr>
          <a:xfrm>
            <a:off x="6225037" y="2400852"/>
            <a:ext cx="5834691" cy="4801314"/>
          </a:xfrm>
          <a:prstGeom prst="rect">
            <a:avLst/>
          </a:prstGeom>
          <a:noFill/>
        </p:spPr>
        <p:txBody>
          <a:bodyPr wrap="square">
            <a:spAutoFit/>
          </a:bodyPr>
          <a:lstStyle/>
          <a:p>
            <a:pPr eaLnBrk="0" fontAlgn="base" hangingPunct="0">
              <a:spcBef>
                <a:spcPct val="0"/>
              </a:spcBef>
              <a:spcAft>
                <a:spcPct val="0"/>
              </a:spcAft>
            </a:pPr>
            <a:r>
              <a:rPr lang="es-CO" altLang="es-CO" sz="1800" b="1" dirty="0"/>
              <a:t>Ejercicio: </a:t>
            </a:r>
            <a:r>
              <a:rPr lang="es-CO" altLang="es-CO" sz="1800" dirty="0"/>
              <a:t>Convertir a binario:</a:t>
            </a:r>
          </a:p>
          <a:p>
            <a:pPr eaLnBrk="0" fontAlgn="base" hangingPunct="0">
              <a:spcBef>
                <a:spcPct val="0"/>
              </a:spcBef>
              <a:spcAft>
                <a:spcPct val="0"/>
              </a:spcAft>
            </a:pPr>
            <a:endParaRPr lang="es-CO" altLang="es-CO" sz="1800" b="1" dirty="0"/>
          </a:p>
          <a:p>
            <a:pPr marL="342900" indent="-342900" eaLnBrk="0" fontAlgn="base" hangingPunct="0">
              <a:spcBef>
                <a:spcPct val="0"/>
              </a:spcBef>
              <a:spcAft>
                <a:spcPct val="0"/>
              </a:spcAft>
              <a:buFont typeface="+mj-lt"/>
              <a:buAutoNum type="arabicPeriod"/>
            </a:pPr>
            <a:r>
              <a:rPr lang="es-CO" altLang="es-CO" sz="1800" dirty="0"/>
              <a:t>20</a:t>
            </a:r>
          </a:p>
          <a:p>
            <a:pPr marL="342900" indent="-342900" eaLnBrk="0" fontAlgn="base" hangingPunct="0">
              <a:spcBef>
                <a:spcPct val="0"/>
              </a:spcBef>
              <a:spcAft>
                <a:spcPct val="0"/>
              </a:spcAft>
              <a:buFont typeface="+mj-lt"/>
              <a:buAutoNum type="arabicPeriod"/>
            </a:pPr>
            <a:r>
              <a:rPr lang="es-CO" altLang="es-CO" sz="1800" dirty="0"/>
              <a:t>30</a:t>
            </a:r>
          </a:p>
          <a:p>
            <a:pPr marL="342900" indent="-342900" eaLnBrk="0" fontAlgn="base" hangingPunct="0">
              <a:spcBef>
                <a:spcPct val="0"/>
              </a:spcBef>
              <a:spcAft>
                <a:spcPct val="0"/>
              </a:spcAft>
              <a:buFont typeface="+mj-lt"/>
              <a:buAutoNum type="arabicPeriod"/>
            </a:pPr>
            <a:r>
              <a:rPr lang="es-CO" altLang="es-CO" sz="1800" dirty="0"/>
              <a:t>35</a:t>
            </a:r>
          </a:p>
          <a:p>
            <a:pPr marL="342900" indent="-342900" eaLnBrk="0" fontAlgn="base" hangingPunct="0">
              <a:spcBef>
                <a:spcPct val="0"/>
              </a:spcBef>
              <a:spcAft>
                <a:spcPct val="0"/>
              </a:spcAft>
              <a:buFont typeface="+mj-lt"/>
              <a:buAutoNum type="arabicPeriod"/>
            </a:pPr>
            <a:r>
              <a:rPr lang="es-CO" altLang="es-CO" sz="1800" dirty="0"/>
              <a:t>48</a:t>
            </a:r>
          </a:p>
          <a:p>
            <a:pPr marL="342900" indent="-342900" eaLnBrk="0" fontAlgn="base" hangingPunct="0">
              <a:spcBef>
                <a:spcPct val="0"/>
              </a:spcBef>
              <a:spcAft>
                <a:spcPct val="0"/>
              </a:spcAft>
              <a:buFont typeface="+mj-lt"/>
              <a:buAutoNum type="arabicPeriod"/>
            </a:pPr>
            <a:r>
              <a:rPr lang="es-CO" altLang="es-CO" sz="1800" dirty="0"/>
              <a:t>7598</a:t>
            </a:r>
          </a:p>
          <a:p>
            <a:pPr marL="342900" indent="-342900" eaLnBrk="0" fontAlgn="base" hangingPunct="0">
              <a:spcBef>
                <a:spcPct val="0"/>
              </a:spcBef>
              <a:spcAft>
                <a:spcPct val="0"/>
              </a:spcAft>
              <a:buFont typeface="+mj-lt"/>
              <a:buAutoNum type="arabicPeriod"/>
            </a:pPr>
            <a:r>
              <a:rPr lang="es-CO" altLang="es-CO" sz="1800" dirty="0"/>
              <a:t>154</a:t>
            </a:r>
          </a:p>
          <a:p>
            <a:pPr marL="342900" indent="-342900" eaLnBrk="0" fontAlgn="base" hangingPunct="0">
              <a:spcBef>
                <a:spcPct val="0"/>
              </a:spcBef>
              <a:spcAft>
                <a:spcPct val="0"/>
              </a:spcAft>
              <a:buFont typeface="+mj-lt"/>
              <a:buAutoNum type="arabicPeriod"/>
            </a:pPr>
            <a:r>
              <a:rPr lang="es-CO" altLang="es-CO" sz="1800" dirty="0"/>
              <a:t>778954</a:t>
            </a:r>
          </a:p>
          <a:p>
            <a:pPr marL="342900" indent="-342900" eaLnBrk="0" fontAlgn="base" hangingPunct="0">
              <a:spcBef>
                <a:spcPct val="0"/>
              </a:spcBef>
              <a:spcAft>
                <a:spcPct val="0"/>
              </a:spcAft>
              <a:buFont typeface="+mj-lt"/>
              <a:buAutoNum type="arabicPeriod"/>
            </a:pPr>
            <a:r>
              <a:rPr lang="es-CO" altLang="es-CO" sz="1800" dirty="0"/>
              <a:t>256478658</a:t>
            </a:r>
          </a:p>
          <a:p>
            <a:pPr marL="342900" indent="-342900" eaLnBrk="0" fontAlgn="base" hangingPunct="0">
              <a:spcBef>
                <a:spcPct val="0"/>
              </a:spcBef>
              <a:spcAft>
                <a:spcPct val="0"/>
              </a:spcAft>
              <a:buFont typeface="+mj-lt"/>
              <a:buAutoNum type="arabicPeriod"/>
            </a:pPr>
            <a:r>
              <a:rPr lang="es-CO" altLang="es-CO" sz="1800" dirty="0"/>
              <a:t>14782589,254</a:t>
            </a:r>
          </a:p>
          <a:p>
            <a:pPr marL="342900" indent="-342900" eaLnBrk="0" fontAlgn="base" hangingPunct="0">
              <a:spcBef>
                <a:spcPct val="0"/>
              </a:spcBef>
              <a:spcAft>
                <a:spcPct val="0"/>
              </a:spcAft>
              <a:buFont typeface="+mj-lt"/>
              <a:buAutoNum type="arabicPeriod"/>
            </a:pPr>
            <a:r>
              <a:rPr lang="es-CO" altLang="es-CO" sz="1800" dirty="0"/>
              <a:t>4712478,0</a:t>
            </a:r>
          </a:p>
          <a:p>
            <a:pPr marL="342900" indent="-342900" eaLnBrk="0" fontAlgn="base" hangingPunct="0">
              <a:spcBef>
                <a:spcPct val="0"/>
              </a:spcBef>
              <a:spcAft>
                <a:spcPct val="0"/>
              </a:spcAft>
              <a:buFont typeface="+mj-lt"/>
              <a:buAutoNum type="arabicPeriod"/>
            </a:pPr>
            <a:r>
              <a:rPr lang="es-CO" altLang="es-CO" sz="1800" dirty="0"/>
              <a:t>263954,2</a:t>
            </a:r>
          </a:p>
          <a:p>
            <a:pPr marL="342900" indent="-342900" eaLnBrk="0" fontAlgn="base" hangingPunct="0">
              <a:spcBef>
                <a:spcPct val="0"/>
              </a:spcBef>
              <a:spcAft>
                <a:spcPct val="0"/>
              </a:spcAft>
              <a:buFont typeface="+mj-lt"/>
              <a:buAutoNum type="arabicPeriod"/>
            </a:pPr>
            <a:r>
              <a:rPr lang="es-CO" altLang="es-CO" dirty="0"/>
              <a:t>965842</a:t>
            </a:r>
          </a:p>
          <a:p>
            <a:pPr marL="342900" indent="-342900" eaLnBrk="0" fontAlgn="base" hangingPunct="0">
              <a:spcBef>
                <a:spcPct val="0"/>
              </a:spcBef>
              <a:spcAft>
                <a:spcPct val="0"/>
              </a:spcAft>
              <a:buFont typeface="+mj-lt"/>
              <a:buAutoNum type="arabicPeriod"/>
            </a:pPr>
            <a:r>
              <a:rPr lang="es-CO" altLang="es-CO" sz="1800" dirty="0"/>
              <a:t>8888</a:t>
            </a:r>
          </a:p>
          <a:p>
            <a:pPr marL="342900" indent="-342900" eaLnBrk="0" fontAlgn="base" hangingPunct="0">
              <a:spcBef>
                <a:spcPct val="0"/>
              </a:spcBef>
              <a:spcAft>
                <a:spcPct val="0"/>
              </a:spcAft>
              <a:buFont typeface="+mj-lt"/>
              <a:buAutoNum type="arabicPeriod"/>
            </a:pPr>
            <a:r>
              <a:rPr lang="es-CO" altLang="es-CO" dirty="0"/>
              <a:t>562841,268</a:t>
            </a:r>
            <a:endParaRPr lang="es-CO" altLang="es-CO" sz="1800" dirty="0"/>
          </a:p>
          <a:p>
            <a:pPr eaLnBrk="0" fontAlgn="base" hangingPunct="0">
              <a:spcBef>
                <a:spcPct val="0"/>
              </a:spcBef>
              <a:spcAft>
                <a:spcPct val="0"/>
              </a:spcAft>
            </a:pPr>
            <a:endParaRPr lang="es-CO" altLang="es-CO" sz="1800" dirty="0"/>
          </a:p>
        </p:txBody>
      </p:sp>
    </p:spTree>
    <p:extLst>
      <p:ext uri="{BB962C8B-B14F-4D97-AF65-F5344CB8AC3E}">
        <p14:creationId xmlns:p14="http://schemas.microsoft.com/office/powerpoint/2010/main" val="2200600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77146" y="1282368"/>
            <a:ext cx="11237708" cy="4247317"/>
          </a:xfrm>
          <a:prstGeom prst="rect">
            <a:avLst/>
          </a:prstGeom>
          <a:noFill/>
        </p:spPr>
        <p:txBody>
          <a:bodyPr wrap="square">
            <a:spAutoFit/>
          </a:bodyPr>
          <a:lstStyle/>
          <a:p>
            <a:r>
              <a:rPr lang="es-MX" sz="2000" b="1" dirty="0"/>
              <a:t>¿Qué es un Bit?</a:t>
            </a:r>
          </a:p>
          <a:p>
            <a:endParaRPr lang="es-MX" sz="1400" dirty="0"/>
          </a:p>
          <a:p>
            <a:r>
              <a:rPr lang="es-MX" sz="1400" dirty="0"/>
              <a:t>Un bit (abreviatura de "</a:t>
            </a:r>
            <a:r>
              <a:rPr lang="es-MX" sz="1400" dirty="0" err="1"/>
              <a:t>binary</a:t>
            </a:r>
            <a:r>
              <a:rPr lang="es-MX" sz="1400" dirty="0"/>
              <a:t> </a:t>
            </a:r>
            <a:r>
              <a:rPr lang="es-MX" sz="1400" dirty="0" err="1"/>
              <a:t>digit</a:t>
            </a:r>
            <a:r>
              <a:rPr lang="es-MX" sz="1400" dirty="0"/>
              <a:t>" o dígito binario en español) es la unidad de información más pequeña en la informática y las comunicaciones digitales. Un bit puede tener uno de dos valores posibles, típicamente representados como:</a:t>
            </a:r>
          </a:p>
          <a:p>
            <a:endParaRPr lang="es-MX" sz="1400" dirty="0"/>
          </a:p>
          <a:p>
            <a:pPr lvl="1">
              <a:buFont typeface="Arial" panose="020B0604020202020204" pitchFamily="34" charset="0"/>
              <a:buChar char="•"/>
            </a:pPr>
            <a:r>
              <a:rPr lang="es-MX" sz="1400" dirty="0"/>
              <a:t>0 o 1</a:t>
            </a:r>
          </a:p>
          <a:p>
            <a:pPr lvl="1">
              <a:buFont typeface="Arial" panose="020B0604020202020204" pitchFamily="34" charset="0"/>
              <a:buChar char="•"/>
            </a:pPr>
            <a:r>
              <a:rPr lang="es-MX" sz="1400" dirty="0"/>
              <a:t>Verdadero o Falso</a:t>
            </a:r>
          </a:p>
          <a:p>
            <a:pPr lvl="1">
              <a:buFont typeface="Arial" panose="020B0604020202020204" pitchFamily="34" charset="0"/>
              <a:buChar char="•"/>
            </a:pPr>
            <a:r>
              <a:rPr lang="es-MX" sz="1400" dirty="0"/>
              <a:t>Encendido o Apagado</a:t>
            </a:r>
          </a:p>
          <a:p>
            <a:pPr lvl="1">
              <a:buFont typeface="Arial" panose="020B0604020202020204" pitchFamily="34" charset="0"/>
              <a:buChar char="•"/>
            </a:pPr>
            <a:endParaRPr lang="es-MX" sz="1400" dirty="0"/>
          </a:p>
          <a:p>
            <a:r>
              <a:rPr lang="es-MX" sz="2000" b="1" dirty="0"/>
              <a:t>Características de un Bit</a:t>
            </a:r>
          </a:p>
          <a:p>
            <a:endParaRPr lang="es-MX" sz="2000" b="1" dirty="0"/>
          </a:p>
          <a:p>
            <a:pPr marL="800100" lvl="1" indent="-342900">
              <a:buFont typeface="+mj-lt"/>
              <a:buAutoNum type="arabicPeriod"/>
            </a:pPr>
            <a:r>
              <a:rPr lang="es-MX" sz="1400" b="1" dirty="0"/>
              <a:t>Valor Binario</a:t>
            </a:r>
            <a:r>
              <a:rPr lang="es-MX" sz="1400" dirty="0"/>
              <a:t>: Un bit tiene solo dos estados posibles, lo que lo hace ideal para representar estados binarios.</a:t>
            </a:r>
          </a:p>
          <a:p>
            <a:pPr marL="800100" lvl="1" indent="-342900">
              <a:buFont typeface="+mj-lt"/>
              <a:buAutoNum type="arabicPeriod"/>
            </a:pPr>
            <a:endParaRPr lang="es-MX" sz="1400" dirty="0"/>
          </a:p>
          <a:p>
            <a:pPr marL="800100" lvl="1" indent="-342900">
              <a:buFont typeface="+mj-lt"/>
              <a:buAutoNum type="arabicPeriod"/>
            </a:pPr>
            <a:r>
              <a:rPr lang="es-MX" sz="1400" b="1" dirty="0"/>
              <a:t>Base del Sistema Binario</a:t>
            </a:r>
            <a:r>
              <a:rPr lang="es-MX" sz="1400" dirty="0"/>
              <a:t>: Los bits son la base del sistema binario, que es el sistema de numeración utilizado internamente por las computadoras y sistemas digitales.</a:t>
            </a:r>
          </a:p>
          <a:p>
            <a:pPr marL="800100" lvl="1" indent="-342900">
              <a:buFont typeface="+mj-lt"/>
              <a:buAutoNum type="arabicPeriod"/>
            </a:pPr>
            <a:endParaRPr lang="es-MX" sz="1400" dirty="0"/>
          </a:p>
          <a:p>
            <a:pPr marL="800100" lvl="1" indent="-342900">
              <a:buFont typeface="+mj-lt"/>
              <a:buAutoNum type="arabicPeriod"/>
            </a:pPr>
            <a:r>
              <a:rPr lang="es-MX" sz="1400" b="1" dirty="0"/>
              <a:t>Operaciones Lógicas</a:t>
            </a:r>
            <a:r>
              <a:rPr lang="es-MX" sz="1400" dirty="0"/>
              <a:t>: Los bits pueden ser manipulados usando operaciones lógicas básicas como AND, OR, NOT y XOR.</a:t>
            </a:r>
          </a:p>
          <a:p>
            <a:endParaRPr lang="es-MX" sz="1400" dirty="0"/>
          </a:p>
        </p:txBody>
      </p:sp>
      <p:sp>
        <p:nvSpPr>
          <p:cNvPr id="3" name="CuadroTexto 2">
            <a:extLst>
              <a:ext uri="{FF2B5EF4-FFF2-40B4-BE49-F238E27FC236}">
                <a16:creationId xmlns:a16="http://schemas.microsoft.com/office/drawing/2014/main" id="{BFB8933B-9C2C-41F7-C4AB-F0363DDE6DDE}"/>
              </a:ext>
            </a:extLst>
          </p:cNvPr>
          <p:cNvSpPr txBox="1"/>
          <p:nvPr/>
        </p:nvSpPr>
        <p:spPr>
          <a:xfrm>
            <a:off x="477146" y="5575632"/>
            <a:ext cx="11237708" cy="738664"/>
          </a:xfrm>
          <a:prstGeom prst="rect">
            <a:avLst/>
          </a:prstGeom>
          <a:noFill/>
        </p:spPr>
        <p:txBody>
          <a:bodyPr wrap="square">
            <a:spAutoFit/>
          </a:bodyPr>
          <a:lstStyle/>
          <a:p>
            <a:r>
              <a:rPr lang="es-MX" sz="1400" b="1" dirty="0"/>
              <a:t>Ejercicio: </a:t>
            </a:r>
            <a:r>
              <a:rPr lang="es-MX" sz="1400" dirty="0"/>
              <a:t>Grafique los operadores lógicos y de dos ejemplos por cada compuerta.</a:t>
            </a:r>
          </a:p>
          <a:p>
            <a:endParaRPr lang="es-MX" sz="1400" dirty="0"/>
          </a:p>
          <a:p>
            <a:endParaRPr lang="es-MX" sz="1400" dirty="0"/>
          </a:p>
        </p:txBody>
      </p:sp>
    </p:spTree>
    <p:extLst>
      <p:ext uri="{BB962C8B-B14F-4D97-AF65-F5344CB8AC3E}">
        <p14:creationId xmlns:p14="http://schemas.microsoft.com/office/powerpoint/2010/main" val="474522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77146" y="1644677"/>
            <a:ext cx="11237708" cy="2769989"/>
          </a:xfrm>
          <a:prstGeom prst="rect">
            <a:avLst/>
          </a:prstGeom>
          <a:noFill/>
        </p:spPr>
        <p:txBody>
          <a:bodyPr wrap="square">
            <a:spAutoFit/>
          </a:bodyPr>
          <a:lstStyle/>
          <a:p>
            <a:r>
              <a:rPr lang="es-MX" sz="2000" b="1" dirty="0"/>
              <a:t>Usos de los Bits</a:t>
            </a:r>
          </a:p>
          <a:p>
            <a:pPr lvl="1"/>
            <a:endParaRPr lang="es-MX" sz="1400" dirty="0"/>
          </a:p>
          <a:p>
            <a:pPr lvl="1">
              <a:buFont typeface="+mj-lt"/>
              <a:buAutoNum type="arabicPeriod"/>
            </a:pPr>
            <a:r>
              <a:rPr lang="es-MX" sz="1400" b="1" dirty="0"/>
              <a:t>Representación de Datos</a:t>
            </a:r>
            <a:r>
              <a:rPr lang="es-MX" sz="1400" dirty="0"/>
              <a:t>: Todos los datos en un computador, ya sean números, caracteres, imágenes o sonidos, se representan y almacenan como secuencias de bits.</a:t>
            </a:r>
          </a:p>
          <a:p>
            <a:pPr lvl="1">
              <a:buFont typeface="+mj-lt"/>
              <a:buAutoNum type="arabicPeriod"/>
            </a:pPr>
            <a:endParaRPr lang="es-MX" sz="1400" dirty="0"/>
          </a:p>
          <a:p>
            <a:pPr lvl="1">
              <a:buFont typeface="+mj-lt"/>
              <a:buAutoNum type="arabicPeriod"/>
            </a:pPr>
            <a:r>
              <a:rPr lang="es-MX" sz="1400" b="1" dirty="0"/>
              <a:t>Memoria y Almacenamiento</a:t>
            </a:r>
            <a:r>
              <a:rPr lang="es-MX" sz="1400" dirty="0"/>
              <a:t>: La memoria de la computadora y los dispositivos de almacenamiento miden su capacidad en múltiplos de bits, como kilobits (Kb), megabits (Mb), gigabits (Gb), etc.</a:t>
            </a:r>
          </a:p>
          <a:p>
            <a:pPr lvl="1">
              <a:buFont typeface="+mj-lt"/>
              <a:buAutoNum type="arabicPeriod"/>
            </a:pPr>
            <a:endParaRPr lang="es-MX" sz="1400" dirty="0"/>
          </a:p>
          <a:p>
            <a:pPr lvl="1">
              <a:buFont typeface="+mj-lt"/>
              <a:buAutoNum type="arabicPeriod"/>
            </a:pPr>
            <a:r>
              <a:rPr lang="es-MX" sz="1400" b="1" dirty="0"/>
              <a:t>Transmisión de Datos</a:t>
            </a:r>
            <a:r>
              <a:rPr lang="es-MX" sz="1400" dirty="0"/>
              <a:t>: Las velocidades de transmisión de datos en redes se miden en bits por segundo (bps).</a:t>
            </a:r>
          </a:p>
          <a:p>
            <a:endParaRPr lang="es-MX" sz="1400" dirty="0"/>
          </a:p>
          <a:p>
            <a:r>
              <a:rPr lang="es-MX" sz="1400" dirty="0"/>
              <a:t>Los bits son fundamentales en el diseño y funcionamiento de todas las tecnologías digitales. Desde la representación de simples datos binarios hasta la realización de complejas operaciones aritméticas y lógicas, los bits son la esencia de la computación moderna.</a:t>
            </a:r>
          </a:p>
        </p:txBody>
      </p:sp>
    </p:spTree>
    <p:extLst>
      <p:ext uri="{BB962C8B-B14F-4D97-AF65-F5344CB8AC3E}">
        <p14:creationId xmlns:p14="http://schemas.microsoft.com/office/powerpoint/2010/main" val="1587435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77146" y="1644677"/>
            <a:ext cx="11237708" cy="4278094"/>
          </a:xfrm>
          <a:prstGeom prst="rect">
            <a:avLst/>
          </a:prstGeom>
          <a:noFill/>
        </p:spPr>
        <p:txBody>
          <a:bodyPr wrap="square">
            <a:spAutoFit/>
          </a:bodyPr>
          <a:lstStyle/>
          <a:p>
            <a:r>
              <a:rPr lang="es-MX" sz="2000" b="1" dirty="0"/>
              <a:t>Matrices de Píxeles</a:t>
            </a:r>
          </a:p>
          <a:p>
            <a:endParaRPr lang="es-MX" sz="1400" dirty="0"/>
          </a:p>
          <a:p>
            <a:r>
              <a:rPr lang="es-MX" sz="1400" dirty="0"/>
              <a:t>Una matriz de píxeles es una estructura bidimensional que representa una imagen digital. Cada elemento de esta matriz es un píxel, que es la unidad más pequeña de una imagen digital. Los píxeles contienen información sobre el color y la luminosidad de esa parte específica de la imagen.</a:t>
            </a:r>
          </a:p>
          <a:p>
            <a:endParaRPr lang="es-MX" sz="1400" dirty="0"/>
          </a:p>
          <a:p>
            <a:r>
              <a:rPr lang="es-MX" sz="1400" b="1" dirty="0"/>
              <a:t>Características de una Matriz de Píxeles:</a:t>
            </a:r>
          </a:p>
          <a:p>
            <a:endParaRPr lang="es-MX" sz="1400" b="1" dirty="0"/>
          </a:p>
          <a:p>
            <a:pPr lvl="1">
              <a:buFont typeface="+mj-lt"/>
              <a:buAutoNum type="arabicPeriod"/>
            </a:pPr>
            <a:r>
              <a:rPr lang="es-MX" sz="1400" b="1" dirty="0"/>
              <a:t> Dimensiones</a:t>
            </a:r>
            <a:r>
              <a:rPr lang="es-MX" sz="1400" dirty="0"/>
              <a:t>: Las dimensiones de la matriz (ancho x alto) determinan la resolución de la imagen. Por ejemplo, una imagen de 1920x1080 tiene una matriz de 1920 columnas y 1080 filas de píxeles.</a:t>
            </a:r>
          </a:p>
          <a:p>
            <a:pPr lvl="1">
              <a:buFont typeface="+mj-lt"/>
              <a:buAutoNum type="arabicPeriod"/>
            </a:pPr>
            <a:endParaRPr lang="es-MX" sz="1400" dirty="0"/>
          </a:p>
          <a:p>
            <a:pPr lvl="1">
              <a:buFont typeface="+mj-lt"/>
              <a:buAutoNum type="arabicPeriod"/>
            </a:pPr>
            <a:r>
              <a:rPr lang="es-MX" sz="1400" b="1" dirty="0"/>
              <a:t> Valor de Píxel</a:t>
            </a:r>
            <a:r>
              <a:rPr lang="es-MX" sz="1400" dirty="0"/>
              <a:t>: El valor de cada píxel puede variar dependiendo del tipo de imagen:</a:t>
            </a:r>
          </a:p>
          <a:p>
            <a:pPr lvl="1">
              <a:buFont typeface="+mj-lt"/>
              <a:buAutoNum type="arabicPeriod"/>
            </a:pPr>
            <a:endParaRPr lang="es-MX" sz="1400" dirty="0"/>
          </a:p>
          <a:p>
            <a:pPr marL="1200150" lvl="2" indent="-285750">
              <a:buFont typeface="Arial" panose="020B0604020202020204" pitchFamily="34" charset="0"/>
              <a:buChar char="•"/>
            </a:pPr>
            <a:r>
              <a:rPr lang="es-MX" sz="1400" b="1" dirty="0"/>
              <a:t>Imagen en escala de grises</a:t>
            </a:r>
            <a:r>
              <a:rPr lang="es-MX" sz="1400" dirty="0"/>
              <a:t>: Cada píxel tiene un valor único que representa diferentes niveles de gris, generalmente en un rango de 0 (negro) a 255 (blanco).</a:t>
            </a:r>
          </a:p>
          <a:p>
            <a:pPr marL="1200150" lvl="2" indent="-285750">
              <a:buFont typeface="Arial" panose="020B0604020202020204" pitchFamily="34" charset="0"/>
              <a:buChar char="•"/>
            </a:pPr>
            <a:endParaRPr lang="es-MX" sz="1400" dirty="0"/>
          </a:p>
          <a:p>
            <a:pPr marL="1200150" lvl="2" indent="-285750">
              <a:buFont typeface="Arial" panose="020B0604020202020204" pitchFamily="34" charset="0"/>
              <a:buChar char="•"/>
            </a:pPr>
            <a:r>
              <a:rPr lang="es-MX" sz="1400" b="1" dirty="0"/>
              <a:t>Imagen en color</a:t>
            </a:r>
            <a:r>
              <a:rPr lang="es-MX" sz="1400" dirty="0"/>
              <a:t>: Cada píxel generalmente tiene tres componentes de color (rojo, verde y azul), conocidos como canales RGB. Cada componente puede tener un valor en el rango de 0 a 255, permitiendo la representación de millones de colores.</a:t>
            </a:r>
          </a:p>
          <a:p>
            <a:pPr marL="1200150" lvl="2" indent="-285750">
              <a:buFont typeface="Arial" panose="020B0604020202020204" pitchFamily="34" charset="0"/>
              <a:buChar char="•"/>
            </a:pPr>
            <a:endParaRPr lang="es-MX" sz="1400" dirty="0"/>
          </a:p>
          <a:p>
            <a:pPr marL="1200150" lvl="2" indent="-285750">
              <a:buFont typeface="Arial" panose="020B0604020202020204" pitchFamily="34" charset="0"/>
              <a:buChar char="•"/>
            </a:pPr>
            <a:r>
              <a:rPr lang="es-MX" sz="1400" b="1" dirty="0"/>
              <a:t>Imágenes con canal alfa</a:t>
            </a:r>
            <a:r>
              <a:rPr lang="es-MX" sz="1400" dirty="0"/>
              <a:t>: Además de los canales RGB, pueden incluir un canal alfa para la transparencia.</a:t>
            </a:r>
          </a:p>
        </p:txBody>
      </p:sp>
    </p:spTree>
    <p:extLst>
      <p:ext uri="{BB962C8B-B14F-4D97-AF65-F5344CB8AC3E}">
        <p14:creationId xmlns:p14="http://schemas.microsoft.com/office/powerpoint/2010/main" val="519905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77146" y="1644677"/>
            <a:ext cx="11237708" cy="615553"/>
          </a:xfrm>
          <a:prstGeom prst="rect">
            <a:avLst/>
          </a:prstGeom>
          <a:noFill/>
        </p:spPr>
        <p:txBody>
          <a:bodyPr wrap="square">
            <a:spAutoFit/>
          </a:bodyPr>
          <a:lstStyle/>
          <a:p>
            <a:r>
              <a:rPr lang="es-MX" sz="2000" b="1" dirty="0"/>
              <a:t>Matrices de Píxeles</a:t>
            </a:r>
          </a:p>
          <a:p>
            <a:endParaRPr lang="es-MX" sz="1400" dirty="0"/>
          </a:p>
        </p:txBody>
      </p:sp>
      <p:pic>
        <p:nvPicPr>
          <p:cNvPr id="4" name="Imagen 3">
            <a:extLst>
              <a:ext uri="{FF2B5EF4-FFF2-40B4-BE49-F238E27FC236}">
                <a16:creationId xmlns:a16="http://schemas.microsoft.com/office/drawing/2014/main" id="{551F9BFE-5B3B-D283-7D60-3F49828E0341}"/>
              </a:ext>
            </a:extLst>
          </p:cNvPr>
          <p:cNvPicPr>
            <a:picLocks noChangeAspect="1"/>
          </p:cNvPicPr>
          <p:nvPr/>
        </p:nvPicPr>
        <p:blipFill>
          <a:blip r:embed="rId2"/>
          <a:stretch>
            <a:fillRect/>
          </a:stretch>
        </p:blipFill>
        <p:spPr>
          <a:xfrm>
            <a:off x="1947457" y="2188340"/>
            <a:ext cx="7106642" cy="3620005"/>
          </a:xfrm>
          <a:prstGeom prst="rect">
            <a:avLst/>
          </a:prstGeom>
        </p:spPr>
      </p:pic>
    </p:spTree>
    <p:extLst>
      <p:ext uri="{BB962C8B-B14F-4D97-AF65-F5344CB8AC3E}">
        <p14:creationId xmlns:p14="http://schemas.microsoft.com/office/powerpoint/2010/main" val="1779114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08135" y="1225689"/>
            <a:ext cx="11237708" cy="5632311"/>
          </a:xfrm>
          <a:prstGeom prst="rect">
            <a:avLst/>
          </a:prstGeom>
          <a:noFill/>
        </p:spPr>
        <p:txBody>
          <a:bodyPr wrap="square">
            <a:spAutoFit/>
          </a:bodyPr>
          <a:lstStyle/>
          <a:p>
            <a:r>
              <a:rPr lang="es-MX" sz="2000" b="1" dirty="0"/>
              <a:t>Matrices de Píxeles</a:t>
            </a:r>
          </a:p>
          <a:p>
            <a:endParaRPr lang="es-MX" sz="2000" b="1" dirty="0"/>
          </a:p>
          <a:p>
            <a:pPr marL="285750" indent="-285750">
              <a:buFont typeface="Arial" panose="020B0604020202020204" pitchFamily="34" charset="0"/>
              <a:buChar char="•"/>
            </a:pPr>
            <a:r>
              <a:rPr lang="es-MX" sz="1400" b="1" dirty="0"/>
              <a:t>Representación de Imágenes</a:t>
            </a:r>
            <a:r>
              <a:rPr lang="es-MX" sz="1400" dirty="0"/>
              <a:t>: Las matrices de píxeles son la forma fundamental de representar imágenes en las computadoras, permitiendo la manipulación y el procesamiento digital de imágenes.</a:t>
            </a:r>
          </a:p>
          <a:p>
            <a:pPr marL="285750" indent="-285750">
              <a:buFont typeface="Arial" panose="020B0604020202020204" pitchFamily="34" charset="0"/>
              <a:buChar char="•"/>
            </a:pPr>
            <a:endParaRPr lang="es-MX" sz="1400" dirty="0"/>
          </a:p>
          <a:p>
            <a:pPr marL="285750" indent="-285750">
              <a:buFont typeface="Arial" panose="020B0604020202020204" pitchFamily="34" charset="0"/>
              <a:buChar char="•"/>
            </a:pPr>
            <a:r>
              <a:rPr lang="es-MX" sz="1400" b="1" dirty="0"/>
              <a:t>Edición de Imágenes</a:t>
            </a:r>
            <a:r>
              <a:rPr lang="es-MX" sz="1400" dirty="0"/>
              <a:t>: Herramientas de edición de imágenes operan a nivel de píxeles, permitiendo cambios precisos en colores, brillo y contraste.</a:t>
            </a:r>
          </a:p>
          <a:p>
            <a:pPr marL="285750" indent="-285750">
              <a:buFont typeface="Arial" panose="020B0604020202020204" pitchFamily="34" charset="0"/>
              <a:buChar char="•"/>
            </a:pPr>
            <a:endParaRPr lang="es-MX" sz="1400" dirty="0"/>
          </a:p>
          <a:p>
            <a:pPr marL="285750" indent="-285750">
              <a:buFont typeface="Arial" panose="020B0604020202020204" pitchFamily="34" charset="0"/>
              <a:buChar char="•"/>
            </a:pPr>
            <a:r>
              <a:rPr lang="es-MX" sz="1400" b="1" dirty="0"/>
              <a:t>Procesamiento de Imágenes</a:t>
            </a:r>
            <a:r>
              <a:rPr lang="es-MX" sz="1400" dirty="0"/>
              <a:t>: Técnicas como el reconocimiento de patrones, la detección de bordes y la compresión de imágenes dependen de la manipulación de matrices de píxeles.</a:t>
            </a:r>
          </a:p>
          <a:p>
            <a:pPr marL="285750" indent="-285750">
              <a:buFont typeface="Arial" panose="020B0604020202020204" pitchFamily="34" charset="0"/>
              <a:buChar char="•"/>
            </a:pPr>
            <a:endParaRPr lang="es-MX" sz="1400" dirty="0"/>
          </a:p>
          <a:p>
            <a:pPr marL="285750" indent="-285750">
              <a:buFont typeface="Arial" panose="020B0604020202020204" pitchFamily="34" charset="0"/>
              <a:buChar char="•"/>
            </a:pPr>
            <a:r>
              <a:rPr lang="es-MX" sz="1400" b="1" dirty="0"/>
              <a:t>Visualización</a:t>
            </a:r>
            <a:r>
              <a:rPr lang="es-MX" sz="1400" dirty="0"/>
              <a:t>: La calidad y la resolución de la imagen dependen directamente de la matriz de píxeles. A mayor número de píxeles, mayor detalle y calidad en la imagen.</a:t>
            </a:r>
          </a:p>
          <a:p>
            <a:endParaRPr lang="es-MX" sz="1400" dirty="0"/>
          </a:p>
          <a:p>
            <a:r>
              <a:rPr lang="es-MX" sz="2000" b="1" dirty="0"/>
              <a:t>Aplicaciones Prácticas</a:t>
            </a:r>
          </a:p>
          <a:p>
            <a:endParaRPr lang="es-MX" sz="2000" b="1" dirty="0"/>
          </a:p>
          <a:p>
            <a:pPr lvl="1">
              <a:buFont typeface="Arial" panose="020B0604020202020204" pitchFamily="34" charset="0"/>
              <a:buChar char="•"/>
            </a:pPr>
            <a:r>
              <a:rPr lang="es-MX" sz="1400" b="1" dirty="0"/>
              <a:t>Fotografía digital</a:t>
            </a:r>
            <a:r>
              <a:rPr lang="es-MX" sz="1400" dirty="0"/>
              <a:t>: Las cámaras digitales capturan imágenes como matrices de píxeles.</a:t>
            </a:r>
          </a:p>
          <a:p>
            <a:pPr lvl="1">
              <a:buFont typeface="Arial" panose="020B0604020202020204" pitchFamily="34" charset="0"/>
              <a:buChar char="•"/>
            </a:pPr>
            <a:r>
              <a:rPr lang="es-MX" sz="1400" b="1" dirty="0"/>
              <a:t>Pantallas</a:t>
            </a:r>
            <a:r>
              <a:rPr lang="es-MX" sz="1400" dirty="0"/>
              <a:t>: Los monitores y televisores muestran imágenes utilizando matrices de píxeles.</a:t>
            </a:r>
          </a:p>
          <a:p>
            <a:pPr lvl="1">
              <a:buFont typeface="Arial" panose="020B0604020202020204" pitchFamily="34" charset="0"/>
              <a:buChar char="•"/>
            </a:pPr>
            <a:r>
              <a:rPr lang="es-MX" sz="1400" b="1" dirty="0"/>
              <a:t>Reconocimiento de imágenes</a:t>
            </a:r>
            <a:r>
              <a:rPr lang="es-MX" sz="1400" dirty="0"/>
              <a:t>: Algoritmos de inteligencia artificial y visión por computadora procesan matrices de píxeles para identificar objetos y patrones.</a:t>
            </a:r>
          </a:p>
          <a:p>
            <a:endParaRPr lang="es-MX" sz="1400" dirty="0"/>
          </a:p>
          <a:p>
            <a:r>
              <a:rPr lang="es-MX" sz="1400" dirty="0"/>
              <a:t>Una matriz de píxeles es una estructura bidimensional que representa una imagen digital mediante la disposición de píxeles. Cada píxel contiene información sobre el color y la intensidad de luz de una pequeña parte de la imagen, y el conjunto completo de píxeles forma la imagen completa.</a:t>
            </a:r>
          </a:p>
          <a:p>
            <a:endParaRPr lang="es-MX" sz="1400" b="1" dirty="0"/>
          </a:p>
          <a:p>
            <a:endParaRPr lang="es-MX" sz="1400" dirty="0"/>
          </a:p>
        </p:txBody>
      </p:sp>
    </p:spTree>
    <p:extLst>
      <p:ext uri="{BB962C8B-B14F-4D97-AF65-F5344CB8AC3E}">
        <p14:creationId xmlns:p14="http://schemas.microsoft.com/office/powerpoint/2010/main" val="1499394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08135" y="1225689"/>
            <a:ext cx="11237708" cy="5355312"/>
          </a:xfrm>
          <a:prstGeom prst="rect">
            <a:avLst/>
          </a:prstGeom>
          <a:noFill/>
        </p:spPr>
        <p:txBody>
          <a:bodyPr wrap="square">
            <a:spAutoFit/>
          </a:bodyPr>
          <a:lstStyle/>
          <a:p>
            <a:r>
              <a:rPr lang="es-MX" sz="2000" b="1" dirty="0"/>
              <a:t>Matrices de Píxeles Vs Bits</a:t>
            </a:r>
          </a:p>
          <a:p>
            <a:endParaRPr lang="es-MX" sz="1400" dirty="0"/>
          </a:p>
          <a:p>
            <a:r>
              <a:rPr lang="es-MX" sz="1400" dirty="0"/>
              <a:t>La relación entre una matriz de píxeles y los bits es fundamental para entender cómo se representan y almacenan las imágenes digitales. Cada píxel en una matriz de píxeles está compuesto por uno o varios bits que determinan su color e intensidad. </a:t>
            </a:r>
          </a:p>
          <a:p>
            <a:endParaRPr lang="es-MX" sz="1400" dirty="0"/>
          </a:p>
          <a:p>
            <a:pPr lvl="1">
              <a:buFont typeface="+mj-lt"/>
              <a:buAutoNum type="arabicPeriod"/>
            </a:pPr>
            <a:r>
              <a:rPr lang="es-MX" sz="1400" b="1" dirty="0"/>
              <a:t>Imágenes en Blanco y Negro (Binarias)</a:t>
            </a:r>
            <a:r>
              <a:rPr lang="es-MX" sz="1400" dirty="0"/>
              <a:t>:</a:t>
            </a:r>
          </a:p>
          <a:p>
            <a:pPr marL="1200150" lvl="2" indent="-285750">
              <a:buFont typeface="Arial" panose="020B0604020202020204" pitchFamily="34" charset="0"/>
              <a:buChar char="•"/>
            </a:pPr>
            <a:r>
              <a:rPr lang="es-MX" sz="1400" dirty="0"/>
              <a:t>Cada píxel se representa por un solo bit.</a:t>
            </a:r>
          </a:p>
          <a:p>
            <a:pPr marL="1200150" lvl="2" indent="-285750">
              <a:buFont typeface="Arial" panose="020B0604020202020204" pitchFamily="34" charset="0"/>
              <a:buChar char="•"/>
            </a:pPr>
            <a:r>
              <a:rPr lang="es-MX" sz="1400" dirty="0"/>
              <a:t>Un bit puede ser 0 (negro) o 1 (blanco).</a:t>
            </a:r>
          </a:p>
          <a:p>
            <a:pPr marL="1200150" lvl="2" indent="-285750">
              <a:buFont typeface="Arial" panose="020B0604020202020204" pitchFamily="34" charset="0"/>
              <a:buChar char="•"/>
            </a:pPr>
            <a:r>
              <a:rPr lang="es-MX" sz="1400" dirty="0"/>
              <a:t>Ejemplo: Una imagen de 8x8 píxeles en blanco y negro necesita 64 bits (8x8).</a:t>
            </a:r>
          </a:p>
          <a:p>
            <a:pPr lvl="1">
              <a:buFont typeface="+mj-lt"/>
              <a:buAutoNum type="arabicPeriod"/>
            </a:pPr>
            <a:r>
              <a:rPr lang="es-MX" sz="1400" b="1" dirty="0"/>
              <a:t>Imágenes en Escala de Grises</a:t>
            </a:r>
            <a:r>
              <a:rPr lang="es-MX" sz="1400" dirty="0"/>
              <a:t>:</a:t>
            </a:r>
          </a:p>
          <a:p>
            <a:pPr marL="1200150" lvl="2" indent="-285750">
              <a:buFont typeface="Arial" panose="020B0604020202020204" pitchFamily="34" charset="0"/>
              <a:buChar char="•"/>
            </a:pPr>
            <a:r>
              <a:rPr lang="es-MX" sz="1400" dirty="0"/>
              <a:t>Cada píxel se representa típicamente por 8 bits (1 byte).</a:t>
            </a:r>
          </a:p>
          <a:p>
            <a:pPr marL="1200150" lvl="2" indent="-285750">
              <a:buFont typeface="Arial" panose="020B0604020202020204" pitchFamily="34" charset="0"/>
              <a:buChar char="•"/>
            </a:pPr>
            <a:r>
              <a:rPr lang="es-MX" sz="1400" dirty="0"/>
              <a:t>El valor del píxel puede variar de 0 a 255, donde 0 es negro y 255 es blanco, con valores intermedios representando diferentes tonos de gris.</a:t>
            </a:r>
          </a:p>
          <a:p>
            <a:pPr marL="1200150" lvl="2" indent="-285750">
              <a:buFont typeface="Arial" panose="020B0604020202020204" pitchFamily="34" charset="0"/>
              <a:buChar char="•"/>
            </a:pPr>
            <a:r>
              <a:rPr lang="es-MX" sz="1400" dirty="0"/>
              <a:t>Ejemplo: Una imagen de 8x8 píxeles en escala de grises necesita 64 bytes (512 bits) (8x8x8).</a:t>
            </a:r>
          </a:p>
          <a:p>
            <a:pPr lvl="1">
              <a:buFont typeface="+mj-lt"/>
              <a:buAutoNum type="arabicPeriod"/>
            </a:pPr>
            <a:r>
              <a:rPr lang="es-MX" sz="1400" b="1" dirty="0"/>
              <a:t>Imágenes en Color (RGB)</a:t>
            </a:r>
            <a:r>
              <a:rPr lang="es-MX" sz="1400" dirty="0"/>
              <a:t>:</a:t>
            </a:r>
          </a:p>
          <a:p>
            <a:pPr marL="1200150" lvl="2" indent="-285750">
              <a:buFont typeface="Arial" panose="020B0604020202020204" pitchFamily="34" charset="0"/>
              <a:buChar char="•"/>
            </a:pPr>
            <a:r>
              <a:rPr lang="es-MX" sz="1400" dirty="0"/>
              <a:t>Cada píxel se representa por 24 bits (3 bytes), con 8 bits para cada uno de los tres canales de color: rojo, verde y azul.</a:t>
            </a:r>
          </a:p>
          <a:p>
            <a:pPr marL="1200150" lvl="2" indent="-285750">
              <a:buFont typeface="Arial" panose="020B0604020202020204" pitchFamily="34" charset="0"/>
              <a:buChar char="•"/>
            </a:pPr>
            <a:r>
              <a:rPr lang="es-MX" sz="1400" dirty="0"/>
              <a:t>Cada canal puede tener un valor entre 0 y 255, permitiendo representar hasta 16,777,216 colores diferentes (256^3).</a:t>
            </a:r>
          </a:p>
          <a:p>
            <a:pPr marL="1200150" lvl="2" indent="-285750">
              <a:buFont typeface="Arial" panose="020B0604020202020204" pitchFamily="34" charset="0"/>
              <a:buChar char="•"/>
            </a:pPr>
            <a:r>
              <a:rPr lang="es-MX" sz="1400" dirty="0"/>
              <a:t>Ejemplo: Una imagen de 8x8 píxeles en color RGB necesita 192 bytes (1536 bits) (8x8x24).</a:t>
            </a:r>
          </a:p>
          <a:p>
            <a:pPr lvl="1">
              <a:buFont typeface="+mj-lt"/>
              <a:buAutoNum type="arabicPeriod"/>
            </a:pPr>
            <a:r>
              <a:rPr lang="es-MX" sz="1400" b="1" dirty="0"/>
              <a:t>Imágenes con Canal Alfa (RGBA)</a:t>
            </a:r>
            <a:r>
              <a:rPr lang="es-MX" sz="1400" dirty="0"/>
              <a:t>:</a:t>
            </a:r>
          </a:p>
          <a:p>
            <a:pPr marL="1200150" lvl="2" indent="-285750">
              <a:buFont typeface="Arial" panose="020B0604020202020204" pitchFamily="34" charset="0"/>
              <a:buChar char="•"/>
            </a:pPr>
            <a:r>
              <a:rPr lang="es-MX" sz="1400" dirty="0"/>
              <a:t>Cada píxel se representa por 32 bits (4 bytes), con un canal adicional de 8 bits para la transparencia (alfa).</a:t>
            </a:r>
          </a:p>
          <a:p>
            <a:pPr marL="1200150" lvl="2" indent="-285750">
              <a:buFont typeface="Arial" panose="020B0604020202020204" pitchFamily="34" charset="0"/>
              <a:buChar char="•"/>
            </a:pPr>
            <a:r>
              <a:rPr lang="es-MX" sz="1400" dirty="0"/>
              <a:t>Los valores de los canales RGB y el canal alfa pueden variar de 0 a 255.</a:t>
            </a:r>
          </a:p>
          <a:p>
            <a:pPr marL="1200150" lvl="2" indent="-285750">
              <a:buFont typeface="Arial" panose="020B0604020202020204" pitchFamily="34" charset="0"/>
              <a:buChar char="•"/>
            </a:pPr>
            <a:r>
              <a:rPr lang="es-MX" sz="1400" dirty="0"/>
              <a:t>Ejemplo: Una imagen de 8x8 píxeles en formato RGBA necesita 256 bytes (2048 </a:t>
            </a:r>
            <a:r>
              <a:rPr lang="es-MX" sz="1400"/>
              <a:t>bits)(8x8x32).</a:t>
            </a:r>
            <a:endParaRPr lang="es-MX" sz="1400" dirty="0"/>
          </a:p>
          <a:p>
            <a:endParaRPr lang="es-MX" sz="1400" b="1" dirty="0"/>
          </a:p>
          <a:p>
            <a:endParaRPr lang="es-MX" sz="1400" dirty="0"/>
          </a:p>
        </p:txBody>
      </p:sp>
    </p:spTree>
    <p:extLst>
      <p:ext uri="{BB962C8B-B14F-4D97-AF65-F5344CB8AC3E}">
        <p14:creationId xmlns:p14="http://schemas.microsoft.com/office/powerpoint/2010/main" val="2194246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08135" y="1225689"/>
            <a:ext cx="11237708" cy="830997"/>
          </a:xfrm>
          <a:prstGeom prst="rect">
            <a:avLst/>
          </a:prstGeom>
          <a:noFill/>
        </p:spPr>
        <p:txBody>
          <a:bodyPr wrap="square">
            <a:spAutoFit/>
          </a:bodyPr>
          <a:lstStyle/>
          <a:p>
            <a:r>
              <a:rPr lang="es-MX" sz="2000" b="1" dirty="0"/>
              <a:t>Matrices de Píxeles Vs Bits</a:t>
            </a:r>
          </a:p>
          <a:p>
            <a:endParaRPr lang="es-MX" sz="1400" dirty="0"/>
          </a:p>
          <a:p>
            <a:endParaRPr lang="es-MX" sz="1400" dirty="0"/>
          </a:p>
        </p:txBody>
      </p:sp>
      <p:pic>
        <p:nvPicPr>
          <p:cNvPr id="7" name="Imagen 6">
            <a:extLst>
              <a:ext uri="{FF2B5EF4-FFF2-40B4-BE49-F238E27FC236}">
                <a16:creationId xmlns:a16="http://schemas.microsoft.com/office/drawing/2014/main" id="{ACEA6FDA-7717-D8CE-A0BB-A3F04AE5041A}"/>
              </a:ext>
            </a:extLst>
          </p:cNvPr>
          <p:cNvPicPr>
            <a:picLocks noChangeAspect="1"/>
          </p:cNvPicPr>
          <p:nvPr/>
        </p:nvPicPr>
        <p:blipFill>
          <a:blip r:embed="rId2"/>
          <a:stretch>
            <a:fillRect/>
          </a:stretch>
        </p:blipFill>
        <p:spPr>
          <a:xfrm>
            <a:off x="95840" y="1641187"/>
            <a:ext cx="6868484" cy="2934109"/>
          </a:xfrm>
          <a:prstGeom prst="rect">
            <a:avLst/>
          </a:prstGeom>
        </p:spPr>
      </p:pic>
      <p:pic>
        <p:nvPicPr>
          <p:cNvPr id="9" name="Imagen 8">
            <a:extLst>
              <a:ext uri="{FF2B5EF4-FFF2-40B4-BE49-F238E27FC236}">
                <a16:creationId xmlns:a16="http://schemas.microsoft.com/office/drawing/2014/main" id="{8CE19440-5026-CDDB-D9C2-2C7FCFED1AEF}"/>
              </a:ext>
            </a:extLst>
          </p:cNvPr>
          <p:cNvPicPr>
            <a:picLocks noChangeAspect="1"/>
          </p:cNvPicPr>
          <p:nvPr/>
        </p:nvPicPr>
        <p:blipFill>
          <a:blip r:embed="rId3"/>
          <a:stretch>
            <a:fillRect/>
          </a:stretch>
        </p:blipFill>
        <p:spPr>
          <a:xfrm>
            <a:off x="5132413" y="3258049"/>
            <a:ext cx="6963747" cy="3086531"/>
          </a:xfrm>
          <a:prstGeom prst="rect">
            <a:avLst/>
          </a:prstGeom>
        </p:spPr>
      </p:pic>
    </p:spTree>
    <p:extLst>
      <p:ext uri="{BB962C8B-B14F-4D97-AF65-F5344CB8AC3E}">
        <p14:creationId xmlns:p14="http://schemas.microsoft.com/office/powerpoint/2010/main" val="3422371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96141" y="251134"/>
            <a:ext cx="10739119"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Representación de datos</a:t>
            </a:r>
            <a:endParaRPr lang="es-CO" sz="4800" b="1" dirty="0"/>
          </a:p>
        </p:txBody>
      </p:sp>
      <p:sp>
        <p:nvSpPr>
          <p:cNvPr id="6" name="CuadroTexto 5">
            <a:extLst>
              <a:ext uri="{FF2B5EF4-FFF2-40B4-BE49-F238E27FC236}">
                <a16:creationId xmlns:a16="http://schemas.microsoft.com/office/drawing/2014/main" id="{63E381D8-44FA-F1FA-5837-3E7E69CC08C1}"/>
              </a:ext>
            </a:extLst>
          </p:cNvPr>
          <p:cNvSpPr txBox="1"/>
          <p:nvPr/>
        </p:nvSpPr>
        <p:spPr>
          <a:xfrm>
            <a:off x="408135" y="1225689"/>
            <a:ext cx="11237708" cy="830997"/>
          </a:xfrm>
          <a:prstGeom prst="rect">
            <a:avLst/>
          </a:prstGeom>
          <a:noFill/>
        </p:spPr>
        <p:txBody>
          <a:bodyPr wrap="square">
            <a:spAutoFit/>
          </a:bodyPr>
          <a:lstStyle/>
          <a:p>
            <a:r>
              <a:rPr lang="es-MX" sz="2000" b="1" dirty="0"/>
              <a:t>Matrices de Píxeles Vs Bits</a:t>
            </a:r>
          </a:p>
          <a:p>
            <a:endParaRPr lang="es-MX" sz="1400" dirty="0"/>
          </a:p>
          <a:p>
            <a:endParaRPr lang="es-MX" sz="1400" dirty="0"/>
          </a:p>
        </p:txBody>
      </p:sp>
      <p:pic>
        <p:nvPicPr>
          <p:cNvPr id="4" name="Imagen 3">
            <a:extLst>
              <a:ext uri="{FF2B5EF4-FFF2-40B4-BE49-F238E27FC236}">
                <a16:creationId xmlns:a16="http://schemas.microsoft.com/office/drawing/2014/main" id="{EB02E19D-1E48-EEB4-7D86-4D7481DD312E}"/>
              </a:ext>
            </a:extLst>
          </p:cNvPr>
          <p:cNvPicPr>
            <a:picLocks noChangeAspect="1"/>
          </p:cNvPicPr>
          <p:nvPr/>
        </p:nvPicPr>
        <p:blipFill>
          <a:blip r:embed="rId2"/>
          <a:stretch>
            <a:fillRect/>
          </a:stretch>
        </p:blipFill>
        <p:spPr>
          <a:xfrm>
            <a:off x="408135" y="1715760"/>
            <a:ext cx="6849431" cy="2829320"/>
          </a:xfrm>
          <a:prstGeom prst="rect">
            <a:avLst/>
          </a:prstGeom>
        </p:spPr>
      </p:pic>
      <p:sp>
        <p:nvSpPr>
          <p:cNvPr id="8" name="CuadroTexto 7">
            <a:extLst>
              <a:ext uri="{FF2B5EF4-FFF2-40B4-BE49-F238E27FC236}">
                <a16:creationId xmlns:a16="http://schemas.microsoft.com/office/drawing/2014/main" id="{7D2578B0-90F4-A3E4-7891-052EBD119A6E}"/>
              </a:ext>
            </a:extLst>
          </p:cNvPr>
          <p:cNvSpPr txBox="1"/>
          <p:nvPr/>
        </p:nvSpPr>
        <p:spPr>
          <a:xfrm>
            <a:off x="408135" y="4665819"/>
            <a:ext cx="10995986" cy="738664"/>
          </a:xfrm>
          <a:prstGeom prst="rect">
            <a:avLst/>
          </a:prstGeom>
          <a:noFill/>
        </p:spPr>
        <p:txBody>
          <a:bodyPr wrap="square">
            <a:spAutoFit/>
          </a:bodyPr>
          <a:lstStyle/>
          <a:p>
            <a:r>
              <a:rPr lang="es-MX" sz="1400" dirty="0"/>
              <a:t>Una matriz de píxeles y los bits están estrechamente relacionados porque los píxeles se representan y almacenan como secuencias de bits. El número de bits por píxel depende del tipo de imagen (blanco y negro, escala de grises, color RGB, etc.), y esta representación en bits es crucial para la manipulación y almacenamiento de imágenes digitales.</a:t>
            </a:r>
            <a:endParaRPr lang="es-CO" sz="1400" dirty="0"/>
          </a:p>
        </p:txBody>
      </p:sp>
    </p:spTree>
    <p:extLst>
      <p:ext uri="{BB962C8B-B14F-4D97-AF65-F5344CB8AC3E}">
        <p14:creationId xmlns:p14="http://schemas.microsoft.com/office/powerpoint/2010/main" val="4236850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C7263-83EA-9A95-DB0C-1F5A20738E45}"/>
              </a:ext>
            </a:extLst>
          </p:cNvPr>
          <p:cNvSpPr txBox="1">
            <a:spLocks/>
          </p:cNvSpPr>
          <p:nvPr/>
        </p:nvSpPr>
        <p:spPr>
          <a:xfrm>
            <a:off x="726440" y="173628"/>
            <a:ext cx="10739119" cy="587065"/>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Tipo de flujo de datos</a:t>
            </a:r>
            <a:endParaRPr lang="es-CO" sz="4800" b="1" dirty="0"/>
          </a:p>
        </p:txBody>
      </p:sp>
      <p:pic>
        <p:nvPicPr>
          <p:cNvPr id="11" name="object 3">
            <a:extLst>
              <a:ext uri="{FF2B5EF4-FFF2-40B4-BE49-F238E27FC236}">
                <a16:creationId xmlns:a16="http://schemas.microsoft.com/office/drawing/2014/main" id="{22A4E4BC-4AD3-AD19-6BA9-3A1B2D3550C9}"/>
              </a:ext>
            </a:extLst>
          </p:cNvPr>
          <p:cNvPicPr/>
          <p:nvPr/>
        </p:nvPicPr>
        <p:blipFill rotWithShape="1">
          <a:blip r:embed="rId2" cstate="print"/>
          <a:srcRect b="73615"/>
          <a:stretch/>
        </p:blipFill>
        <p:spPr>
          <a:xfrm>
            <a:off x="3408078" y="1305327"/>
            <a:ext cx="5672379" cy="1084356"/>
          </a:xfrm>
          <a:prstGeom prst="rect">
            <a:avLst/>
          </a:prstGeom>
        </p:spPr>
      </p:pic>
      <p:sp>
        <p:nvSpPr>
          <p:cNvPr id="12" name="Marcador de contenido 2">
            <a:extLst>
              <a:ext uri="{FF2B5EF4-FFF2-40B4-BE49-F238E27FC236}">
                <a16:creationId xmlns:a16="http://schemas.microsoft.com/office/drawing/2014/main" id="{4CF9BFCB-95E7-C61F-811B-698C0766F3A1}"/>
              </a:ext>
            </a:extLst>
          </p:cNvPr>
          <p:cNvSpPr txBox="1">
            <a:spLocks/>
          </p:cNvSpPr>
          <p:nvPr/>
        </p:nvSpPr>
        <p:spPr>
          <a:xfrm>
            <a:off x="838199" y="718262"/>
            <a:ext cx="10515600" cy="70884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65" indent="0" algn="ctr">
              <a:lnSpc>
                <a:spcPct val="100000"/>
              </a:lnSpc>
              <a:buFont typeface="Arial" panose="020B0604020202020204" pitchFamily="34" charset="0"/>
              <a:buNone/>
              <a:tabLst>
                <a:tab pos="355600" algn="l"/>
                <a:tab pos="356235" algn="l"/>
              </a:tabLst>
            </a:pPr>
            <a:r>
              <a:rPr lang="es-CO" sz="3200" spc="-10" dirty="0">
                <a:latin typeface="Arial Narrow" panose="020B0606020202030204" pitchFamily="34" charset="0"/>
                <a:cs typeface="Calibri"/>
              </a:rPr>
              <a:t>Simplex</a:t>
            </a:r>
            <a:r>
              <a:rPr lang="es-CO" sz="3200" spc="5" dirty="0">
                <a:latin typeface="Arial Narrow" panose="020B0606020202030204" pitchFamily="34" charset="0"/>
                <a:cs typeface="Calibri"/>
              </a:rPr>
              <a:t> </a:t>
            </a:r>
            <a:r>
              <a:rPr lang="es-CO" sz="3200" spc="-60" dirty="0">
                <a:latin typeface="Arial Narrow" panose="020B0606020202030204" pitchFamily="34" charset="0"/>
                <a:cs typeface="Times New Roman"/>
              </a:rPr>
              <a:t>       </a:t>
            </a:r>
            <a:r>
              <a:rPr lang="es-CO" sz="3200" spc="-5" dirty="0">
                <a:latin typeface="Arial Narrow" panose="020B0606020202030204" pitchFamily="34" charset="0"/>
                <a:cs typeface="Calibri"/>
              </a:rPr>
              <a:t>Unidireccional</a:t>
            </a:r>
          </a:p>
          <a:p>
            <a:pPr marL="469265" indent="-457200">
              <a:lnSpc>
                <a:spcPct val="100000"/>
              </a:lnSpc>
              <a:buFont typeface="Wingdings" panose="05000000000000000000" pitchFamily="2" charset="2"/>
              <a:buChar char="q"/>
              <a:tabLst>
                <a:tab pos="355600" algn="l"/>
                <a:tab pos="356235" algn="l"/>
              </a:tabLst>
            </a:pPr>
            <a:endParaRPr lang="es-ES" sz="3200" spc="-5" dirty="0">
              <a:latin typeface="Arial Narrow" panose="020B0606020202030204" pitchFamily="34" charset="0"/>
              <a:cs typeface="Calibri"/>
            </a:endParaRPr>
          </a:p>
          <a:p>
            <a:pPr marL="469265" indent="-457200">
              <a:lnSpc>
                <a:spcPct val="100000"/>
              </a:lnSpc>
              <a:buFont typeface="Wingdings" panose="05000000000000000000" pitchFamily="2" charset="2"/>
              <a:buChar char="q"/>
              <a:tabLst>
                <a:tab pos="355600" algn="l"/>
                <a:tab pos="356235" algn="l"/>
              </a:tabLst>
            </a:pPr>
            <a:endParaRPr lang="es-ES" sz="3200" spc="-5" dirty="0">
              <a:latin typeface="Arial Narrow" panose="020B0606020202030204" pitchFamily="34" charset="0"/>
              <a:cs typeface="Calibri"/>
            </a:endParaRPr>
          </a:p>
          <a:p>
            <a:pPr marL="12065" marR="5080" indent="0" algn="ctr">
              <a:lnSpc>
                <a:spcPts val="2390"/>
              </a:lnSpc>
              <a:spcBef>
                <a:spcPts val="90"/>
              </a:spcBef>
              <a:buFont typeface="Arial" panose="020B0604020202020204" pitchFamily="34" charset="0"/>
              <a:buNone/>
              <a:tabLst>
                <a:tab pos="355600" algn="l"/>
                <a:tab pos="356235" algn="l"/>
                <a:tab pos="1766570" algn="l"/>
                <a:tab pos="2242185" algn="l"/>
              </a:tabLst>
            </a:pPr>
            <a:r>
              <a:rPr lang="es-CO" sz="3200" spc="-5" dirty="0" err="1">
                <a:latin typeface="Arial Narrow" panose="020B0606020202030204" pitchFamily="34" charset="0"/>
                <a:cs typeface="Calibri"/>
              </a:rPr>
              <a:t>Half-d</a:t>
            </a:r>
            <a:r>
              <a:rPr lang="es-CO" sz="3200" spc="5" dirty="0" err="1">
                <a:latin typeface="Arial Narrow" panose="020B0606020202030204" pitchFamily="34" charset="0"/>
                <a:cs typeface="Calibri"/>
              </a:rPr>
              <a:t>u</a:t>
            </a:r>
            <a:r>
              <a:rPr lang="es-CO" sz="3200" spc="-5" dirty="0" err="1">
                <a:latin typeface="Arial Narrow" panose="020B0606020202030204" pitchFamily="34" charset="0"/>
                <a:cs typeface="Calibri"/>
              </a:rPr>
              <a:t>pl</a:t>
            </a:r>
            <a:r>
              <a:rPr lang="es-CO" sz="3200" spc="-40" dirty="0" err="1">
                <a:latin typeface="Arial Narrow" panose="020B0606020202030204" pitchFamily="34" charset="0"/>
                <a:cs typeface="Calibri"/>
              </a:rPr>
              <a:t>e</a:t>
            </a:r>
            <a:r>
              <a:rPr lang="es-CO" sz="3200" dirty="0" err="1">
                <a:latin typeface="Arial Narrow" panose="020B0606020202030204" pitchFamily="34" charset="0"/>
                <a:cs typeface="Calibri"/>
              </a:rPr>
              <a:t>x</a:t>
            </a:r>
            <a:r>
              <a:rPr lang="es-CO" sz="3200" dirty="0">
                <a:latin typeface="Arial Narrow" panose="020B0606020202030204" pitchFamily="34" charset="0"/>
                <a:cs typeface="Calibri"/>
              </a:rPr>
              <a:t>	</a:t>
            </a:r>
            <a:r>
              <a:rPr lang="es-CO" sz="3200" dirty="0">
                <a:latin typeface="Arial Narrow" panose="020B0606020202030204" pitchFamily="34" charset="0"/>
                <a:cs typeface="Times New Roman"/>
              </a:rPr>
              <a:t>	  </a:t>
            </a:r>
            <a:r>
              <a:rPr lang="es-CO" sz="3200" dirty="0">
                <a:latin typeface="Arial Narrow" panose="020B0606020202030204" pitchFamily="34" charset="0"/>
                <a:cs typeface="Calibri"/>
              </a:rPr>
              <a:t>Bidi</a:t>
            </a:r>
            <a:r>
              <a:rPr lang="es-CO" sz="3200" spc="-35" dirty="0">
                <a:latin typeface="Arial Narrow" panose="020B0606020202030204" pitchFamily="34" charset="0"/>
                <a:cs typeface="Calibri"/>
              </a:rPr>
              <a:t>r</a:t>
            </a:r>
            <a:r>
              <a:rPr lang="es-CO" sz="3200" dirty="0">
                <a:latin typeface="Arial Narrow" panose="020B0606020202030204" pitchFamily="34" charset="0"/>
                <a:cs typeface="Calibri"/>
              </a:rPr>
              <a:t>eccional  </a:t>
            </a:r>
            <a:r>
              <a:rPr lang="es-CO" sz="3200" spc="-15" dirty="0">
                <a:latin typeface="Arial Narrow" panose="020B0606020202030204" pitchFamily="34" charset="0"/>
                <a:cs typeface="Calibri"/>
              </a:rPr>
              <a:t>pero </a:t>
            </a:r>
            <a:r>
              <a:rPr lang="es-CO" sz="3200" dirty="0">
                <a:latin typeface="Arial Narrow" panose="020B0606020202030204" pitchFamily="34" charset="0"/>
                <a:cs typeface="Calibri"/>
              </a:rPr>
              <a:t>no</a:t>
            </a:r>
            <a:r>
              <a:rPr lang="es-CO" sz="3200" spc="-10" dirty="0">
                <a:latin typeface="Arial Narrow" panose="020B0606020202030204" pitchFamily="34" charset="0"/>
                <a:cs typeface="Calibri"/>
              </a:rPr>
              <a:t> </a:t>
            </a:r>
            <a:r>
              <a:rPr lang="es-CO" sz="3200" spc="-5" dirty="0">
                <a:latin typeface="Arial Narrow" panose="020B0606020202030204" pitchFamily="34" charset="0"/>
                <a:cs typeface="Calibri"/>
              </a:rPr>
              <a:t>simultáneos</a:t>
            </a:r>
          </a:p>
          <a:p>
            <a:pPr marL="12065" marR="5080" indent="0" algn="ctr">
              <a:lnSpc>
                <a:spcPts val="2390"/>
              </a:lnSpc>
              <a:spcBef>
                <a:spcPts val="90"/>
              </a:spcBef>
              <a:buFont typeface="Arial" panose="020B0604020202020204" pitchFamily="34" charset="0"/>
              <a:buNone/>
              <a:tabLst>
                <a:tab pos="355600" algn="l"/>
                <a:tab pos="356235" algn="l"/>
                <a:tab pos="1766570" algn="l"/>
                <a:tab pos="2242185" algn="l"/>
              </a:tabLst>
            </a:pPr>
            <a:endParaRPr lang="es-ES" sz="3200" spc="-5" dirty="0">
              <a:latin typeface="Arial Narrow" panose="020B0606020202030204" pitchFamily="34" charset="0"/>
              <a:cs typeface="Calibri"/>
            </a:endParaRPr>
          </a:p>
          <a:p>
            <a:pPr marL="12065" marR="5080" indent="0" algn="ctr">
              <a:lnSpc>
                <a:spcPts val="2390"/>
              </a:lnSpc>
              <a:spcBef>
                <a:spcPts val="90"/>
              </a:spcBef>
              <a:buFont typeface="Arial" panose="020B0604020202020204" pitchFamily="34" charset="0"/>
              <a:buNone/>
              <a:tabLst>
                <a:tab pos="355600" algn="l"/>
                <a:tab pos="356235" algn="l"/>
                <a:tab pos="1766570" algn="l"/>
                <a:tab pos="2242185" algn="l"/>
              </a:tabLst>
            </a:pPr>
            <a:endParaRPr lang="es-ES" sz="3200" spc="-5" dirty="0">
              <a:latin typeface="Arial Narrow" panose="020B0606020202030204" pitchFamily="34" charset="0"/>
              <a:cs typeface="Calibri"/>
            </a:endParaRPr>
          </a:p>
          <a:p>
            <a:pPr marL="12065" marR="5080" indent="0" algn="ctr">
              <a:lnSpc>
                <a:spcPts val="2390"/>
              </a:lnSpc>
              <a:spcBef>
                <a:spcPts val="90"/>
              </a:spcBef>
              <a:buFont typeface="Arial" panose="020B0604020202020204" pitchFamily="34" charset="0"/>
              <a:buNone/>
              <a:tabLst>
                <a:tab pos="355600" algn="l"/>
                <a:tab pos="356235" algn="l"/>
                <a:tab pos="1766570" algn="l"/>
                <a:tab pos="2242185" algn="l"/>
              </a:tabLst>
            </a:pPr>
            <a:endParaRPr lang="es-ES" sz="3200" spc="-5" dirty="0">
              <a:latin typeface="Arial Narrow" panose="020B0606020202030204" pitchFamily="34" charset="0"/>
              <a:cs typeface="Calibri"/>
            </a:endParaRPr>
          </a:p>
          <a:p>
            <a:pPr marL="12065" marR="5080" indent="0" algn="ctr">
              <a:lnSpc>
                <a:spcPts val="2390"/>
              </a:lnSpc>
              <a:spcBef>
                <a:spcPts val="90"/>
              </a:spcBef>
              <a:buFont typeface="Arial" panose="020B0604020202020204" pitchFamily="34" charset="0"/>
              <a:buNone/>
              <a:tabLst>
                <a:tab pos="355600" algn="l"/>
                <a:tab pos="356235" algn="l"/>
                <a:tab pos="1766570" algn="l"/>
                <a:tab pos="2242185" algn="l"/>
              </a:tabLst>
            </a:pPr>
            <a:endParaRPr lang="es-ES" sz="3200" spc="-5" dirty="0">
              <a:latin typeface="Arial Narrow" panose="020B0606020202030204" pitchFamily="34" charset="0"/>
              <a:cs typeface="Calibri"/>
            </a:endParaRPr>
          </a:p>
          <a:p>
            <a:pPr marL="12065" marR="5080" indent="0" algn="ctr">
              <a:lnSpc>
                <a:spcPts val="2390"/>
              </a:lnSpc>
              <a:spcBef>
                <a:spcPts val="90"/>
              </a:spcBef>
              <a:buFont typeface="Arial" panose="020B0604020202020204" pitchFamily="34" charset="0"/>
              <a:buNone/>
              <a:tabLst>
                <a:tab pos="355600" algn="l"/>
                <a:tab pos="356235" algn="l"/>
                <a:tab pos="1766570" algn="l"/>
                <a:tab pos="2242185" algn="l"/>
              </a:tabLst>
            </a:pPr>
            <a:endParaRPr lang="es-ES" sz="3200" spc="-5" dirty="0">
              <a:latin typeface="Arial Narrow" panose="020B0606020202030204" pitchFamily="34" charset="0"/>
              <a:cs typeface="Calibri"/>
            </a:endParaRPr>
          </a:p>
          <a:p>
            <a:pPr marL="12065" indent="0" algn="ctr">
              <a:lnSpc>
                <a:spcPts val="2325"/>
              </a:lnSpc>
              <a:buNone/>
              <a:tabLst>
                <a:tab pos="355600" algn="l"/>
                <a:tab pos="356235" algn="l"/>
                <a:tab pos="1742439" algn="l"/>
                <a:tab pos="2242185" algn="l"/>
              </a:tabLst>
            </a:pPr>
            <a:endParaRPr lang="es-CO" sz="3200" spc="-5" dirty="0">
              <a:latin typeface="Arial Narrow" panose="020B0606020202030204" pitchFamily="34" charset="0"/>
              <a:cs typeface="Calibri"/>
            </a:endParaRPr>
          </a:p>
          <a:p>
            <a:pPr marL="12065" indent="0" algn="ctr">
              <a:lnSpc>
                <a:spcPts val="2325"/>
              </a:lnSpc>
              <a:buNone/>
              <a:tabLst>
                <a:tab pos="355600" algn="l"/>
                <a:tab pos="356235" algn="l"/>
                <a:tab pos="1742439" algn="l"/>
                <a:tab pos="2242185" algn="l"/>
              </a:tabLst>
            </a:pPr>
            <a:r>
              <a:rPr lang="es-CO" sz="3200" spc="-5" dirty="0">
                <a:latin typeface="Arial Narrow" panose="020B0606020202030204" pitchFamily="34" charset="0"/>
                <a:cs typeface="Calibri"/>
              </a:rPr>
              <a:t>Full-</a:t>
            </a:r>
            <a:r>
              <a:rPr lang="es-CO" sz="3200" spc="-5" dirty="0" err="1">
                <a:latin typeface="Arial Narrow" panose="020B0606020202030204" pitchFamily="34" charset="0"/>
                <a:cs typeface="Calibri"/>
              </a:rPr>
              <a:t>duplex</a:t>
            </a:r>
            <a:r>
              <a:rPr lang="es-CO" sz="3200" spc="-5" dirty="0">
                <a:latin typeface="Arial Narrow" panose="020B0606020202030204" pitchFamily="34" charset="0"/>
                <a:cs typeface="Calibri"/>
              </a:rPr>
              <a:t>	</a:t>
            </a:r>
            <a:r>
              <a:rPr lang="es-CO" sz="3200" dirty="0">
                <a:latin typeface="Arial Narrow" panose="020B0606020202030204" pitchFamily="34" charset="0"/>
                <a:cs typeface="Times New Roman"/>
              </a:rPr>
              <a:t>	</a:t>
            </a:r>
            <a:r>
              <a:rPr lang="es-CO" sz="3200" spc="-5" dirty="0">
                <a:latin typeface="Arial Narrow" panose="020B0606020202030204" pitchFamily="34" charset="0"/>
                <a:cs typeface="Calibri"/>
              </a:rPr>
              <a:t>Bidireccional simultanea</a:t>
            </a:r>
            <a:endParaRPr lang="es-CO" sz="3200" dirty="0">
              <a:latin typeface="Arial Narrow" panose="020B0606020202030204" pitchFamily="34" charset="0"/>
              <a:cs typeface="Calibri"/>
            </a:endParaRPr>
          </a:p>
        </p:txBody>
      </p:sp>
      <p:pic>
        <p:nvPicPr>
          <p:cNvPr id="13" name="object 3">
            <a:extLst>
              <a:ext uri="{FF2B5EF4-FFF2-40B4-BE49-F238E27FC236}">
                <a16:creationId xmlns:a16="http://schemas.microsoft.com/office/drawing/2014/main" id="{28978622-4446-4ABB-4B32-3F22F597E5C8}"/>
              </a:ext>
            </a:extLst>
          </p:cNvPr>
          <p:cNvPicPr/>
          <p:nvPr/>
        </p:nvPicPr>
        <p:blipFill rotWithShape="1">
          <a:blip r:embed="rId2" cstate="print"/>
          <a:srcRect t="31879" b="36400"/>
          <a:stretch/>
        </p:blipFill>
        <p:spPr>
          <a:xfrm>
            <a:off x="3238499" y="2987606"/>
            <a:ext cx="5715000" cy="1317356"/>
          </a:xfrm>
          <a:prstGeom prst="rect">
            <a:avLst/>
          </a:prstGeom>
        </p:spPr>
      </p:pic>
      <p:pic>
        <p:nvPicPr>
          <p:cNvPr id="14" name="object 3">
            <a:extLst>
              <a:ext uri="{FF2B5EF4-FFF2-40B4-BE49-F238E27FC236}">
                <a16:creationId xmlns:a16="http://schemas.microsoft.com/office/drawing/2014/main" id="{528D446F-B13F-7A38-EF88-3A4ABA7248EA}"/>
              </a:ext>
            </a:extLst>
          </p:cNvPr>
          <p:cNvPicPr/>
          <p:nvPr/>
        </p:nvPicPr>
        <p:blipFill rotWithShape="1">
          <a:blip r:embed="rId2" cstate="print"/>
          <a:srcRect l="1085" t="62108" r="-1085" b="4478"/>
          <a:stretch/>
        </p:blipFill>
        <p:spPr>
          <a:xfrm>
            <a:off x="3365457" y="5296706"/>
            <a:ext cx="5715000" cy="1387666"/>
          </a:xfrm>
          <a:prstGeom prst="rect">
            <a:avLst/>
          </a:prstGeom>
        </p:spPr>
      </p:pic>
      <p:sp>
        <p:nvSpPr>
          <p:cNvPr id="15" name="Flecha derecha 15">
            <a:extLst>
              <a:ext uri="{FF2B5EF4-FFF2-40B4-BE49-F238E27FC236}">
                <a16:creationId xmlns:a16="http://schemas.microsoft.com/office/drawing/2014/main" id="{4BED664D-404B-499C-F2E0-3F154296333F}"/>
              </a:ext>
            </a:extLst>
          </p:cNvPr>
          <p:cNvSpPr/>
          <p:nvPr/>
        </p:nvSpPr>
        <p:spPr>
          <a:xfrm>
            <a:off x="5476521" y="847340"/>
            <a:ext cx="417444" cy="31805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CO"/>
          </a:p>
        </p:txBody>
      </p:sp>
      <p:sp>
        <p:nvSpPr>
          <p:cNvPr id="16" name="Flecha derecha 15">
            <a:extLst>
              <a:ext uri="{FF2B5EF4-FFF2-40B4-BE49-F238E27FC236}">
                <a16:creationId xmlns:a16="http://schemas.microsoft.com/office/drawing/2014/main" id="{10B3725D-AECD-0DF8-355A-B4AF93825090}"/>
              </a:ext>
            </a:extLst>
          </p:cNvPr>
          <p:cNvSpPr/>
          <p:nvPr/>
        </p:nvSpPr>
        <p:spPr>
          <a:xfrm>
            <a:off x="4270021" y="2424223"/>
            <a:ext cx="417444" cy="31805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CO"/>
          </a:p>
        </p:txBody>
      </p:sp>
      <p:sp>
        <p:nvSpPr>
          <p:cNvPr id="17" name="Flecha derecha 15">
            <a:extLst>
              <a:ext uri="{FF2B5EF4-FFF2-40B4-BE49-F238E27FC236}">
                <a16:creationId xmlns:a16="http://schemas.microsoft.com/office/drawing/2014/main" id="{7449ECE2-4FDC-90E1-4ECC-471BBB43DB14}"/>
              </a:ext>
            </a:extLst>
          </p:cNvPr>
          <p:cNvSpPr/>
          <p:nvPr/>
        </p:nvSpPr>
        <p:spPr>
          <a:xfrm>
            <a:off x="4955821" y="4849596"/>
            <a:ext cx="417444" cy="318052"/>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94205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down)">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barn(inVertical)">
                                      <p:cBhvr>
                                        <p:cTn id="17" dur="50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nodeType="clickEffect">
                                  <p:stCondLst>
                                    <p:cond delay="0"/>
                                  </p:stCondLst>
                                  <p:childTnLst>
                                    <p:set>
                                      <p:cBhvr>
                                        <p:cTn id="21" dur="1" fill="hold">
                                          <p:stCondLst>
                                            <p:cond delay="0"/>
                                          </p:stCondLst>
                                        </p:cTn>
                                        <p:tgtEl>
                                          <p:spTgt spid="12">
                                            <p:txEl>
                                              <p:pRg st="10" end="10"/>
                                            </p:txEl>
                                          </p:spTgt>
                                        </p:tgtEl>
                                        <p:attrNameLst>
                                          <p:attrName>style.visibility</p:attrName>
                                        </p:attrNameLst>
                                      </p:cBhvr>
                                      <p:to>
                                        <p:strVal val="visible"/>
                                      </p:to>
                                    </p:set>
                                    <p:animEffect transition="in" filter="wipe(down)">
                                      <p:cBhvr>
                                        <p:cTn id="22" dur="580">
                                          <p:stCondLst>
                                            <p:cond delay="0"/>
                                          </p:stCondLst>
                                        </p:cTn>
                                        <p:tgtEl>
                                          <p:spTgt spid="12">
                                            <p:txEl>
                                              <p:pRg st="10" end="10"/>
                                            </p:txEl>
                                          </p:spTgt>
                                        </p:tgtEl>
                                      </p:cBhvr>
                                    </p:animEffect>
                                    <p:anim calcmode="lin" valueType="num">
                                      <p:cBhvr>
                                        <p:cTn id="23" dur="1822" tmFilter="0,0; 0.14,0.36; 0.43,0.73; 0.71,0.91; 1.0,1.0">
                                          <p:stCondLst>
                                            <p:cond delay="0"/>
                                          </p:stCondLst>
                                        </p:cTn>
                                        <p:tgtEl>
                                          <p:spTgt spid="12">
                                            <p:txEl>
                                              <p:pRg st="10" end="10"/>
                                            </p:txEl>
                                          </p:spTgt>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12">
                                            <p:txEl>
                                              <p:pRg st="10" end="10"/>
                                            </p:txEl>
                                          </p:spTgt>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12">
                                            <p:txEl>
                                              <p:pRg st="10" end="10"/>
                                            </p:txEl>
                                          </p:spTgt>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12">
                                            <p:txEl>
                                              <p:pRg st="10" end="10"/>
                                            </p:txEl>
                                          </p:spTgt>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12">
                                            <p:txEl>
                                              <p:pRg st="10" end="10"/>
                                            </p:txEl>
                                          </p:spTgt>
                                        </p:tgtEl>
                                        <p:attrNameLst>
                                          <p:attrName>ppt_y</p:attrName>
                                        </p:attrNameLst>
                                      </p:cBhvr>
                                      <p:tavLst>
                                        <p:tav tm="0" fmla="#ppt_y-sin(pi*$)/81">
                                          <p:val>
                                            <p:fltVal val="0"/>
                                          </p:val>
                                        </p:tav>
                                        <p:tav tm="100000">
                                          <p:val>
                                            <p:fltVal val="1"/>
                                          </p:val>
                                        </p:tav>
                                      </p:tavLst>
                                    </p:anim>
                                    <p:animScale>
                                      <p:cBhvr>
                                        <p:cTn id="28" dur="26">
                                          <p:stCondLst>
                                            <p:cond delay="650"/>
                                          </p:stCondLst>
                                        </p:cTn>
                                        <p:tgtEl>
                                          <p:spTgt spid="12">
                                            <p:txEl>
                                              <p:pRg st="10" end="10"/>
                                            </p:txEl>
                                          </p:spTgt>
                                        </p:tgtEl>
                                      </p:cBhvr>
                                      <p:to x="100000" y="60000"/>
                                    </p:animScale>
                                    <p:animScale>
                                      <p:cBhvr>
                                        <p:cTn id="29" dur="166" decel="50000">
                                          <p:stCondLst>
                                            <p:cond delay="676"/>
                                          </p:stCondLst>
                                        </p:cTn>
                                        <p:tgtEl>
                                          <p:spTgt spid="12">
                                            <p:txEl>
                                              <p:pRg st="10" end="10"/>
                                            </p:txEl>
                                          </p:spTgt>
                                        </p:tgtEl>
                                      </p:cBhvr>
                                      <p:to x="100000" y="100000"/>
                                    </p:animScale>
                                    <p:animScale>
                                      <p:cBhvr>
                                        <p:cTn id="30" dur="26">
                                          <p:stCondLst>
                                            <p:cond delay="1312"/>
                                          </p:stCondLst>
                                        </p:cTn>
                                        <p:tgtEl>
                                          <p:spTgt spid="12">
                                            <p:txEl>
                                              <p:pRg st="10" end="10"/>
                                            </p:txEl>
                                          </p:spTgt>
                                        </p:tgtEl>
                                      </p:cBhvr>
                                      <p:to x="100000" y="80000"/>
                                    </p:animScale>
                                    <p:animScale>
                                      <p:cBhvr>
                                        <p:cTn id="31" dur="166" decel="50000">
                                          <p:stCondLst>
                                            <p:cond delay="1338"/>
                                          </p:stCondLst>
                                        </p:cTn>
                                        <p:tgtEl>
                                          <p:spTgt spid="12">
                                            <p:txEl>
                                              <p:pRg st="10" end="10"/>
                                            </p:txEl>
                                          </p:spTgt>
                                        </p:tgtEl>
                                      </p:cBhvr>
                                      <p:to x="100000" y="100000"/>
                                    </p:animScale>
                                    <p:animScale>
                                      <p:cBhvr>
                                        <p:cTn id="32" dur="26">
                                          <p:stCondLst>
                                            <p:cond delay="1642"/>
                                          </p:stCondLst>
                                        </p:cTn>
                                        <p:tgtEl>
                                          <p:spTgt spid="12">
                                            <p:txEl>
                                              <p:pRg st="10" end="10"/>
                                            </p:txEl>
                                          </p:spTgt>
                                        </p:tgtEl>
                                      </p:cBhvr>
                                      <p:to x="100000" y="90000"/>
                                    </p:animScale>
                                    <p:animScale>
                                      <p:cBhvr>
                                        <p:cTn id="33" dur="166" decel="50000">
                                          <p:stCondLst>
                                            <p:cond delay="1668"/>
                                          </p:stCondLst>
                                        </p:cTn>
                                        <p:tgtEl>
                                          <p:spTgt spid="12">
                                            <p:txEl>
                                              <p:pRg st="10" end="10"/>
                                            </p:txEl>
                                          </p:spTgt>
                                        </p:tgtEl>
                                      </p:cBhvr>
                                      <p:to x="100000" y="100000"/>
                                    </p:animScale>
                                    <p:animScale>
                                      <p:cBhvr>
                                        <p:cTn id="34" dur="26">
                                          <p:stCondLst>
                                            <p:cond delay="1808"/>
                                          </p:stCondLst>
                                        </p:cTn>
                                        <p:tgtEl>
                                          <p:spTgt spid="12">
                                            <p:txEl>
                                              <p:pRg st="10" end="10"/>
                                            </p:txEl>
                                          </p:spTgt>
                                        </p:tgtEl>
                                      </p:cBhvr>
                                      <p:to x="100000" y="95000"/>
                                    </p:animScale>
                                    <p:animScale>
                                      <p:cBhvr>
                                        <p:cTn id="35" dur="166" decel="50000">
                                          <p:stCondLst>
                                            <p:cond delay="1834"/>
                                          </p:stCondLst>
                                        </p:cTn>
                                        <p:tgtEl>
                                          <p:spTgt spid="12">
                                            <p:txEl>
                                              <p:pRg st="10" end="10"/>
                                            </p:txEl>
                                          </p:spTgt>
                                        </p:tgtEl>
                                      </p:cBhvr>
                                      <p:to x="100000" y="100000"/>
                                    </p:animScale>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inVertical)">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6"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80">
                                          <p:stCondLst>
                                            <p:cond delay="0"/>
                                          </p:stCondLst>
                                        </p:cTn>
                                        <p:tgtEl>
                                          <p:spTgt spid="14"/>
                                        </p:tgtEl>
                                      </p:cBhvr>
                                    </p:animEffect>
                                    <p:anim calcmode="lin" valueType="num">
                                      <p:cBhvr>
                                        <p:cTn id="4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51" dur="26">
                                          <p:stCondLst>
                                            <p:cond delay="650"/>
                                          </p:stCondLst>
                                        </p:cTn>
                                        <p:tgtEl>
                                          <p:spTgt spid="14"/>
                                        </p:tgtEl>
                                      </p:cBhvr>
                                      <p:to x="100000" y="60000"/>
                                    </p:animScale>
                                    <p:animScale>
                                      <p:cBhvr>
                                        <p:cTn id="52" dur="166" decel="50000">
                                          <p:stCondLst>
                                            <p:cond delay="676"/>
                                          </p:stCondLst>
                                        </p:cTn>
                                        <p:tgtEl>
                                          <p:spTgt spid="14"/>
                                        </p:tgtEl>
                                      </p:cBhvr>
                                      <p:to x="100000" y="100000"/>
                                    </p:animScale>
                                    <p:animScale>
                                      <p:cBhvr>
                                        <p:cTn id="53" dur="26">
                                          <p:stCondLst>
                                            <p:cond delay="1312"/>
                                          </p:stCondLst>
                                        </p:cTn>
                                        <p:tgtEl>
                                          <p:spTgt spid="14"/>
                                        </p:tgtEl>
                                      </p:cBhvr>
                                      <p:to x="100000" y="80000"/>
                                    </p:animScale>
                                    <p:animScale>
                                      <p:cBhvr>
                                        <p:cTn id="54" dur="166" decel="50000">
                                          <p:stCondLst>
                                            <p:cond delay="1338"/>
                                          </p:stCondLst>
                                        </p:cTn>
                                        <p:tgtEl>
                                          <p:spTgt spid="14"/>
                                        </p:tgtEl>
                                      </p:cBhvr>
                                      <p:to x="100000" y="100000"/>
                                    </p:animScale>
                                    <p:animScale>
                                      <p:cBhvr>
                                        <p:cTn id="55" dur="26">
                                          <p:stCondLst>
                                            <p:cond delay="1642"/>
                                          </p:stCondLst>
                                        </p:cTn>
                                        <p:tgtEl>
                                          <p:spTgt spid="14"/>
                                        </p:tgtEl>
                                      </p:cBhvr>
                                      <p:to x="100000" y="90000"/>
                                    </p:animScale>
                                    <p:animScale>
                                      <p:cBhvr>
                                        <p:cTn id="56" dur="166" decel="50000">
                                          <p:stCondLst>
                                            <p:cond delay="1668"/>
                                          </p:stCondLst>
                                        </p:cTn>
                                        <p:tgtEl>
                                          <p:spTgt spid="14"/>
                                        </p:tgtEl>
                                      </p:cBhvr>
                                      <p:to x="100000" y="100000"/>
                                    </p:animScale>
                                    <p:animScale>
                                      <p:cBhvr>
                                        <p:cTn id="57" dur="26">
                                          <p:stCondLst>
                                            <p:cond delay="1808"/>
                                          </p:stCondLst>
                                        </p:cTn>
                                        <p:tgtEl>
                                          <p:spTgt spid="14"/>
                                        </p:tgtEl>
                                      </p:cBhvr>
                                      <p:to x="100000" y="95000"/>
                                    </p:animScale>
                                    <p:animScale>
                                      <p:cBhvr>
                                        <p:cTn id="58"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B0EB494C-E3A1-6955-6212-A3DC13057F55}"/>
              </a:ext>
            </a:extLst>
          </p:cNvPr>
          <p:cNvSpPr txBox="1">
            <a:spLocks/>
          </p:cNvSpPr>
          <p:nvPr/>
        </p:nvSpPr>
        <p:spPr>
          <a:xfrm>
            <a:off x="5473700" y="795928"/>
            <a:ext cx="6718300" cy="4233272"/>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800" b="1" dirty="0"/>
              <a:t>Ejercicio:</a:t>
            </a:r>
          </a:p>
          <a:p>
            <a:pPr algn="ctr"/>
            <a:endParaRPr lang="es-MX" sz="4800" b="1" dirty="0"/>
          </a:p>
          <a:p>
            <a:pPr algn="ctr"/>
            <a:r>
              <a:rPr lang="es-MX" sz="4800" b="1" dirty="0"/>
              <a:t>Plantee tres ejemplos de la vida cotidiana donde establezca los tres tipos de flujos de datos, identifique los componentes, represéntelos binariamente, plantee ventajas y desventajas de cada flujo</a:t>
            </a:r>
            <a:endParaRPr lang="es-CO" sz="4800" b="1" dirty="0"/>
          </a:p>
        </p:txBody>
      </p:sp>
    </p:spTree>
    <p:extLst>
      <p:ext uri="{BB962C8B-B14F-4D97-AF65-F5344CB8AC3E}">
        <p14:creationId xmlns:p14="http://schemas.microsoft.com/office/powerpoint/2010/main" val="2920749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0" y="161746"/>
            <a:ext cx="1839310" cy="1037545"/>
          </a:xfrm>
        </p:spPr>
        <p:txBody>
          <a:bodyPr/>
          <a:lstStyle/>
          <a:p>
            <a:pPr algn="ctr"/>
            <a:r>
              <a:rPr lang="es-CO" b="1" dirty="0">
                <a:solidFill>
                  <a:schemeClr val="bg1"/>
                </a:solidFill>
              </a:rPr>
              <a:t>Redes</a:t>
            </a:r>
          </a:p>
        </p:txBody>
      </p:sp>
      <p:sp>
        <p:nvSpPr>
          <p:cNvPr id="4" name="Rectangle 3">
            <a:extLst>
              <a:ext uri="{FF2B5EF4-FFF2-40B4-BE49-F238E27FC236}">
                <a16:creationId xmlns:a16="http://schemas.microsoft.com/office/drawing/2014/main" id="{85D166EF-8975-3EBF-380F-139D63250021}"/>
              </a:ext>
            </a:extLst>
          </p:cNvPr>
          <p:cNvSpPr>
            <a:spLocks noChangeArrowheads="1"/>
          </p:cNvSpPr>
          <p:nvPr/>
        </p:nvSpPr>
        <p:spPr bwMode="auto">
          <a:xfrm>
            <a:off x="995680" y="1510838"/>
            <a:ext cx="1081024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90575" algn="l"/>
              </a:tabLst>
            </a:pPr>
            <a:endParaRPr kumimoji="0" lang="es-CO" altLang="es-CO"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tabLst>
                <a:tab pos="790575" algn="l"/>
              </a:tabLst>
            </a:pPr>
            <a:endParaRPr lang="es-CO" altLang="es-CO" sz="2000" b="1" dirty="0">
              <a:latin typeface="+mn-lt"/>
              <a:ea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90575" algn="l"/>
              </a:tabLst>
            </a:pPr>
            <a:r>
              <a:rPr kumimoji="0" lang="es-CO" altLang="es-CO" sz="2000" i="0" u="none" strike="noStrike" cap="none" normalizeH="0" baseline="0" dirty="0">
                <a:ln>
                  <a:noFill/>
                </a:ln>
                <a:solidFill>
                  <a:schemeClr val="tx1"/>
                </a:solidFill>
                <a:effectLst/>
                <a:latin typeface="+mn-lt"/>
                <a:ea typeface="Calibri" panose="020F0502020204030204" pitchFamily="34" charset="0"/>
              </a:rPr>
              <a:t>Es un conjunto de nodos o dispositivos conectados por enlaces de un medio físico.</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90575" algn="l"/>
              </a:tabLst>
            </a:pPr>
            <a:r>
              <a:rPr lang="es-CO" altLang="es-CO" sz="2000" dirty="0">
                <a:latin typeface="+mn-lt"/>
                <a:ea typeface="Calibri" panose="020F0502020204030204" pitchFamily="34" charset="0"/>
              </a:rPr>
              <a:t>Nodos: computadora, impresoras, dispositivos con capacidad de enviar y recibir.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90575" algn="l"/>
              </a:tabLst>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Procesamiento distribuido: </a:t>
            </a:r>
            <a:r>
              <a:rPr kumimoji="0" lang="es-CO" altLang="es-CO" sz="2000" i="0" u="none" strike="noStrike" cap="none" normalizeH="0" baseline="0" dirty="0">
                <a:ln>
                  <a:noFill/>
                </a:ln>
                <a:solidFill>
                  <a:schemeClr val="tx1"/>
                </a:solidFill>
                <a:effectLst/>
                <a:latin typeface="+mn-lt"/>
                <a:ea typeface="Calibri" panose="020F0502020204030204" pitchFamily="34" charset="0"/>
              </a:rPr>
              <a:t>Tarea distribuida entre múltiples computadoras, no existe máquina responsable del 100%</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90575" algn="l"/>
              </a:tabLst>
            </a:pPr>
            <a:endParaRPr lang="es-CO" altLang="es-CO" sz="2000" b="1" dirty="0">
              <a:latin typeface="+mn-lt"/>
              <a:ea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90575" algn="l"/>
              </a:tabLst>
            </a:pPr>
            <a:endParaRPr kumimoji="0" lang="es-CO" altLang="es-CO" sz="2000" b="1" i="0" u="none" strike="noStrike" cap="none" normalizeH="0" baseline="0" dirty="0">
              <a:ln>
                <a:noFill/>
              </a:ln>
              <a:solidFill>
                <a:schemeClr val="tx1"/>
              </a:solidFill>
              <a:effectLst/>
              <a:latin typeface="+mn-lt"/>
              <a:ea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790575" algn="l"/>
              </a:tabLst>
            </a:pPr>
            <a:endParaRPr kumimoji="0" lang="es-CO" altLang="es-CO" sz="2000" b="1" i="0" u="none" strike="noStrike" cap="none" normalizeH="0" baseline="0" dirty="0">
              <a:ln>
                <a:noFill/>
              </a:ln>
              <a:solidFill>
                <a:schemeClr val="tx1"/>
              </a:solidFill>
              <a:effectLst/>
              <a:latin typeface="+mn-lt"/>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tabLst>
                <a:tab pos="790575" algn="l"/>
              </a:tabLst>
            </a:pPr>
            <a:endParaRPr lang="es-CO" altLang="es-CO" sz="2000" b="1" dirty="0">
              <a:latin typeface="+mn-lt"/>
              <a:ea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tab pos="790575" algn="l"/>
              </a:tabLst>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Criterios: </a:t>
            </a:r>
          </a:p>
          <a:p>
            <a:pPr marL="800100" lvl="1" indent="-342900">
              <a:buFont typeface="Wingdings" panose="05000000000000000000" pitchFamily="2" charset="2"/>
              <a:buChar char="ü"/>
            </a:pPr>
            <a:r>
              <a:rPr lang="es-CO" altLang="es-CO" sz="2000" dirty="0">
                <a:latin typeface="+mn-lt"/>
                <a:ea typeface="Calibri" panose="020F0502020204030204" pitchFamily="34" charset="0"/>
              </a:rPr>
              <a:t>Rendimiento</a:t>
            </a:r>
          </a:p>
          <a:p>
            <a:pPr marL="800100" lvl="1" indent="-342900">
              <a:buFont typeface="Wingdings" panose="05000000000000000000" pitchFamily="2" charset="2"/>
              <a:buChar char="ü"/>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F</a:t>
            </a:r>
            <a:r>
              <a:rPr lang="es-CO" altLang="es-CO" sz="2000" dirty="0">
                <a:latin typeface="+mn-lt"/>
                <a:ea typeface="Calibri" panose="020F0502020204030204" pitchFamily="34" charset="0"/>
              </a:rPr>
              <a:t>iabilidad</a:t>
            </a:r>
          </a:p>
          <a:p>
            <a:pPr marL="800100" lvl="1" indent="-342900">
              <a:buFont typeface="Wingdings" panose="05000000000000000000" pitchFamily="2" charset="2"/>
              <a:buChar char="ü"/>
            </a:pPr>
            <a:r>
              <a:rPr kumimoji="0" lang="es-CO" altLang="es-CO" sz="2000" b="0" i="0" u="none" strike="noStrike" cap="none" normalizeH="0" baseline="0" dirty="0">
                <a:ln>
                  <a:noFill/>
                </a:ln>
                <a:solidFill>
                  <a:schemeClr val="tx1"/>
                </a:solidFill>
                <a:effectLst/>
                <a:latin typeface="+mn-lt"/>
                <a:ea typeface="Calibri" panose="020F0502020204030204" pitchFamily="34" charset="0"/>
              </a:rPr>
              <a:t>Seguridad</a:t>
            </a:r>
          </a:p>
          <a:p>
            <a:pPr marL="800100" lvl="1" indent="-342900">
              <a:buFont typeface="Wingdings" panose="05000000000000000000" pitchFamily="2" charset="2"/>
              <a:buChar char="ü"/>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p:txBody>
      </p:sp>
      <p:graphicFrame>
        <p:nvGraphicFramePr>
          <p:cNvPr id="5" name="Diagrama 4">
            <a:extLst>
              <a:ext uri="{FF2B5EF4-FFF2-40B4-BE49-F238E27FC236}">
                <a16:creationId xmlns:a16="http://schemas.microsoft.com/office/drawing/2014/main" id="{3FFEE723-F269-28DE-F8E6-D0EE9C74FE73}"/>
              </a:ext>
            </a:extLst>
          </p:cNvPr>
          <p:cNvGraphicFramePr/>
          <p:nvPr>
            <p:extLst>
              <p:ext uri="{D42A27DB-BD31-4B8C-83A1-F6EECF244321}">
                <p14:modId xmlns:p14="http://schemas.microsoft.com/office/powerpoint/2010/main" val="1781583732"/>
              </p:ext>
            </p:extLst>
          </p:nvPr>
        </p:nvGraphicFramePr>
        <p:xfrm>
          <a:off x="3538419" y="3320663"/>
          <a:ext cx="8023662" cy="32069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860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0" y="161746"/>
            <a:ext cx="1910080" cy="1037545"/>
          </a:xfrm>
        </p:spPr>
        <p:txBody>
          <a:bodyPr>
            <a:normAutofit fontScale="90000"/>
          </a:bodyPr>
          <a:lstStyle/>
          <a:p>
            <a:pPr algn="ctr"/>
            <a:r>
              <a:rPr lang="es-CO" b="1" dirty="0">
                <a:solidFill>
                  <a:schemeClr val="bg1"/>
                </a:solidFill>
              </a:rPr>
              <a:t>Criterios</a:t>
            </a:r>
          </a:p>
        </p:txBody>
      </p:sp>
      <p:sp>
        <p:nvSpPr>
          <p:cNvPr id="4" name="Rectangle 3">
            <a:extLst>
              <a:ext uri="{FF2B5EF4-FFF2-40B4-BE49-F238E27FC236}">
                <a16:creationId xmlns:a16="http://schemas.microsoft.com/office/drawing/2014/main" id="{85D166EF-8975-3EBF-380F-139D63250021}"/>
              </a:ext>
            </a:extLst>
          </p:cNvPr>
          <p:cNvSpPr>
            <a:spLocks noChangeArrowheads="1"/>
          </p:cNvSpPr>
          <p:nvPr/>
        </p:nvSpPr>
        <p:spPr bwMode="auto">
          <a:xfrm>
            <a:off x="142240" y="1997290"/>
            <a:ext cx="1081024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800100" lvl="1" indent="-342900">
              <a:buFont typeface="Wingdings" panose="05000000000000000000" pitchFamily="2" charset="2"/>
              <a:buChar char="ü"/>
            </a:pPr>
            <a:r>
              <a:rPr kumimoji="0" lang="es-CO" altLang="es-CO" sz="2000" b="1" i="0" u="none" strike="noStrike" cap="none" normalizeH="0" baseline="0" dirty="0">
                <a:ln>
                  <a:noFill/>
                </a:ln>
                <a:solidFill>
                  <a:schemeClr val="tx1"/>
                </a:solidFill>
                <a:effectLst/>
                <a:latin typeface="+mn-lt"/>
                <a:ea typeface="Calibri" panose="020F0502020204030204" pitchFamily="34" charset="0"/>
              </a:rPr>
              <a:t>Rendimiento:</a:t>
            </a:r>
          </a:p>
          <a:p>
            <a:pPr lvl="1"/>
            <a:endParaRPr lang="es-CO" altLang="es-CO" sz="2000" b="1" dirty="0">
              <a:latin typeface="+mn-lt"/>
              <a:ea typeface="Calibri" panose="020F0502020204030204" pitchFamily="34" charset="0"/>
            </a:endParaRPr>
          </a:p>
          <a:p>
            <a:pPr lvl="1"/>
            <a:endParaRPr kumimoji="0" lang="es-CO" altLang="es-CO" sz="2000" i="0" u="none" strike="noStrike" cap="none" normalizeH="0" baseline="0" dirty="0">
              <a:ln>
                <a:noFill/>
              </a:ln>
              <a:solidFill>
                <a:schemeClr val="tx1"/>
              </a:solidFill>
              <a:effectLst/>
              <a:latin typeface="+mn-lt"/>
              <a:ea typeface="Calibri" panose="020F0502020204030204" pitchFamily="34" charset="0"/>
            </a:endParaRPr>
          </a:p>
          <a:p>
            <a:pPr marL="1257300" lvl="2" indent="-342900">
              <a:buFont typeface="Wingdings" panose="05000000000000000000" pitchFamily="2" charset="2"/>
              <a:buChar char="v"/>
            </a:pPr>
            <a:r>
              <a:rPr lang="es-CO" altLang="es-CO" sz="2000" dirty="0">
                <a:latin typeface="+mn-lt"/>
                <a:ea typeface="Calibri" panose="020F0502020204030204" pitchFamily="34" charset="0"/>
              </a:rPr>
              <a:t>Tiempo de tránsito (viaje) y respuesta (petición y respuesta)</a:t>
            </a:r>
          </a:p>
          <a:p>
            <a:pPr marL="1257300" lvl="2" indent="-342900">
              <a:buFont typeface="Wingdings" panose="05000000000000000000" pitchFamily="2" charset="2"/>
              <a:buChar char="v"/>
            </a:pPr>
            <a:r>
              <a:rPr kumimoji="0" lang="es-CO" altLang="es-CO" sz="2000" i="0" u="none" strike="noStrike" cap="none" normalizeH="0" baseline="0" dirty="0">
                <a:ln>
                  <a:noFill/>
                </a:ln>
                <a:solidFill>
                  <a:schemeClr val="tx1"/>
                </a:solidFill>
                <a:effectLst/>
                <a:latin typeface="+mn-lt"/>
                <a:ea typeface="Calibri" panose="020F0502020204030204" pitchFamily="34" charset="0"/>
              </a:rPr>
              <a:t>Número de usuarios</a:t>
            </a:r>
          </a:p>
          <a:p>
            <a:pPr marL="1257300" lvl="2" indent="-342900">
              <a:buFont typeface="Wingdings" panose="05000000000000000000" pitchFamily="2" charset="2"/>
              <a:buChar char="v"/>
            </a:pPr>
            <a:r>
              <a:rPr lang="es-CO" altLang="es-CO" sz="2000" dirty="0">
                <a:latin typeface="+mn-lt"/>
                <a:ea typeface="Calibri" panose="020F0502020204030204" pitchFamily="34" charset="0"/>
              </a:rPr>
              <a:t>Tipo de medio de transmisión</a:t>
            </a:r>
          </a:p>
          <a:p>
            <a:pPr marL="1257300" lvl="2" indent="-342900">
              <a:buFont typeface="Wingdings" panose="05000000000000000000" pitchFamily="2" charset="2"/>
              <a:buChar char="v"/>
            </a:pPr>
            <a:r>
              <a:rPr kumimoji="0" lang="es-CO" altLang="es-CO" sz="2000" i="0" u="none" strike="noStrike" cap="none" normalizeH="0" baseline="0" dirty="0">
                <a:ln>
                  <a:noFill/>
                </a:ln>
                <a:solidFill>
                  <a:schemeClr val="tx1"/>
                </a:solidFill>
                <a:effectLst/>
                <a:latin typeface="+mn-lt"/>
                <a:ea typeface="Calibri" panose="020F0502020204030204" pitchFamily="34" charset="0"/>
              </a:rPr>
              <a:t>Capacidad del hardware</a:t>
            </a:r>
          </a:p>
          <a:p>
            <a:pPr marL="1257300" lvl="2" indent="-342900">
              <a:buFont typeface="Wingdings" panose="05000000000000000000" pitchFamily="2" charset="2"/>
              <a:buChar char="v"/>
            </a:pPr>
            <a:r>
              <a:rPr lang="es-CO" altLang="es-CO" sz="2000" dirty="0">
                <a:latin typeface="+mn-lt"/>
                <a:ea typeface="Calibri" panose="020F0502020204030204" pitchFamily="34" charset="0"/>
              </a:rPr>
              <a:t>Eficiencia del software</a:t>
            </a:r>
          </a:p>
          <a:p>
            <a:pPr marL="1257300" lvl="2" indent="-342900">
              <a:buFont typeface="Wingdings" panose="05000000000000000000" pitchFamily="2" charset="2"/>
              <a:buChar char="v"/>
            </a:pPr>
            <a:r>
              <a:rPr kumimoji="0" lang="es-CO" altLang="es-CO" sz="2000" i="0" u="none" strike="noStrike" cap="none" normalizeH="0" baseline="0" dirty="0">
                <a:ln>
                  <a:noFill/>
                </a:ln>
                <a:solidFill>
                  <a:schemeClr val="tx1"/>
                </a:solidFill>
                <a:effectLst/>
                <a:latin typeface="+mn-lt"/>
                <a:ea typeface="Calibri" panose="020F0502020204030204" pitchFamily="34" charset="0"/>
              </a:rPr>
              <a:t>Se mide con </a:t>
            </a:r>
            <a:r>
              <a:rPr lang="es-CO" altLang="es-CO" sz="2000" b="1" dirty="0">
                <a:latin typeface="+mn-lt"/>
                <a:ea typeface="Calibri" panose="020F0502020204030204" pitchFamily="34" charset="0"/>
              </a:rPr>
              <a:t>ancho de banda </a:t>
            </a:r>
            <a:r>
              <a:rPr lang="es-CO" altLang="es-CO" sz="2000" dirty="0">
                <a:latin typeface="+mn-lt"/>
                <a:ea typeface="Calibri" panose="020F0502020204030204" pitchFamily="34" charset="0"/>
              </a:rPr>
              <a:t>y </a:t>
            </a:r>
            <a:r>
              <a:rPr lang="es-CO" altLang="es-CO" sz="2000" b="1" dirty="0">
                <a:latin typeface="+mn-lt"/>
                <a:ea typeface="Calibri" panose="020F0502020204030204" pitchFamily="34" charset="0"/>
              </a:rPr>
              <a:t>latencia </a:t>
            </a:r>
            <a:r>
              <a:rPr lang="es-CO" altLang="es-CO" sz="2000" dirty="0">
                <a:latin typeface="+mn-lt"/>
                <a:ea typeface="Calibri" panose="020F0502020204030204" pitchFamily="34" charset="0"/>
              </a:rPr>
              <a:t>(tiempo entre estímulo y respuesta)</a:t>
            </a:r>
            <a:endParaRPr kumimoji="0" lang="es-CO" altLang="es-CO" sz="2000" i="0" u="none" strike="noStrike" cap="none" normalizeH="0" baseline="0" dirty="0">
              <a:ln>
                <a:noFill/>
              </a:ln>
              <a:solidFill>
                <a:schemeClr val="tx1"/>
              </a:solidFill>
              <a:effectLst/>
              <a:latin typeface="+mn-lt"/>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p:txBody>
      </p:sp>
    </p:spTree>
    <p:extLst>
      <p:ext uri="{BB962C8B-B14F-4D97-AF65-F5344CB8AC3E}">
        <p14:creationId xmlns:p14="http://schemas.microsoft.com/office/powerpoint/2010/main" val="1247272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0" y="161746"/>
            <a:ext cx="1910080" cy="1037545"/>
          </a:xfrm>
        </p:spPr>
        <p:txBody>
          <a:bodyPr>
            <a:normAutofit fontScale="90000"/>
          </a:bodyPr>
          <a:lstStyle/>
          <a:p>
            <a:pPr algn="ctr"/>
            <a:r>
              <a:rPr lang="es-CO" b="1" dirty="0">
                <a:solidFill>
                  <a:schemeClr val="bg1"/>
                </a:solidFill>
              </a:rPr>
              <a:t>Criterios</a:t>
            </a:r>
          </a:p>
        </p:txBody>
      </p:sp>
      <p:sp>
        <p:nvSpPr>
          <p:cNvPr id="4" name="Rectangle 3">
            <a:extLst>
              <a:ext uri="{FF2B5EF4-FFF2-40B4-BE49-F238E27FC236}">
                <a16:creationId xmlns:a16="http://schemas.microsoft.com/office/drawing/2014/main" id="{85D166EF-8975-3EBF-380F-139D63250021}"/>
              </a:ext>
            </a:extLst>
          </p:cNvPr>
          <p:cNvSpPr>
            <a:spLocks noChangeArrowheads="1"/>
          </p:cNvSpPr>
          <p:nvPr/>
        </p:nvSpPr>
        <p:spPr bwMode="auto">
          <a:xfrm>
            <a:off x="81280" y="1573291"/>
            <a:ext cx="1081024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90575" algn="l"/>
              </a:tabLst>
              <a:defRPr>
                <a:solidFill>
                  <a:schemeClr val="tx1"/>
                </a:solidFill>
                <a:latin typeface="Arial" panose="020B0604020202020204" pitchFamily="34" charset="0"/>
              </a:defRPr>
            </a:lvl1pPr>
            <a:lvl2pPr eaLnBrk="0" fontAlgn="base" hangingPunct="0">
              <a:spcBef>
                <a:spcPct val="0"/>
              </a:spcBef>
              <a:spcAft>
                <a:spcPct val="0"/>
              </a:spcAft>
              <a:tabLst>
                <a:tab pos="790575" algn="l"/>
              </a:tabLst>
              <a:defRPr>
                <a:solidFill>
                  <a:schemeClr val="tx1"/>
                </a:solidFill>
                <a:latin typeface="Arial" panose="020B0604020202020204" pitchFamily="34" charset="0"/>
              </a:defRPr>
            </a:lvl2pPr>
            <a:lvl3pPr eaLnBrk="0" fontAlgn="base" hangingPunct="0">
              <a:spcBef>
                <a:spcPct val="0"/>
              </a:spcBef>
              <a:spcAft>
                <a:spcPct val="0"/>
              </a:spcAft>
              <a:tabLst>
                <a:tab pos="790575" algn="l"/>
              </a:tabLst>
              <a:defRPr>
                <a:solidFill>
                  <a:schemeClr val="tx1"/>
                </a:solidFill>
                <a:latin typeface="Arial" panose="020B0604020202020204" pitchFamily="34" charset="0"/>
              </a:defRPr>
            </a:lvl3pPr>
            <a:lvl4pPr eaLnBrk="0" fontAlgn="base" hangingPunct="0">
              <a:spcBef>
                <a:spcPct val="0"/>
              </a:spcBef>
              <a:spcAft>
                <a:spcPct val="0"/>
              </a:spcAft>
              <a:tabLst>
                <a:tab pos="790575" algn="l"/>
              </a:tabLst>
              <a:defRPr>
                <a:solidFill>
                  <a:schemeClr val="tx1"/>
                </a:solidFill>
                <a:latin typeface="Arial" panose="020B0604020202020204" pitchFamily="34" charset="0"/>
              </a:defRPr>
            </a:lvl4pPr>
            <a:lvl5pPr eaLnBrk="0" fontAlgn="base" hangingPunct="0">
              <a:spcBef>
                <a:spcPct val="0"/>
              </a:spcBef>
              <a:spcAft>
                <a:spcPct val="0"/>
              </a:spcAft>
              <a:tabLst>
                <a:tab pos="790575" algn="l"/>
              </a:tabLst>
              <a:defRPr>
                <a:solidFill>
                  <a:schemeClr val="tx1"/>
                </a:solidFill>
                <a:latin typeface="Arial" panose="020B0604020202020204" pitchFamily="34" charset="0"/>
              </a:defRPr>
            </a:lvl5pPr>
            <a:lvl6pPr eaLnBrk="0" fontAlgn="base" hangingPunct="0">
              <a:spcBef>
                <a:spcPct val="0"/>
              </a:spcBef>
              <a:spcAft>
                <a:spcPct val="0"/>
              </a:spcAft>
              <a:tabLst>
                <a:tab pos="790575" algn="l"/>
              </a:tabLst>
              <a:defRPr>
                <a:solidFill>
                  <a:schemeClr val="tx1"/>
                </a:solidFill>
                <a:latin typeface="Arial" panose="020B0604020202020204" pitchFamily="34" charset="0"/>
              </a:defRPr>
            </a:lvl6pPr>
            <a:lvl7pPr eaLnBrk="0" fontAlgn="base" hangingPunct="0">
              <a:spcBef>
                <a:spcPct val="0"/>
              </a:spcBef>
              <a:spcAft>
                <a:spcPct val="0"/>
              </a:spcAft>
              <a:tabLst>
                <a:tab pos="790575" algn="l"/>
              </a:tabLst>
              <a:defRPr>
                <a:solidFill>
                  <a:schemeClr val="tx1"/>
                </a:solidFill>
                <a:latin typeface="Arial" panose="020B0604020202020204" pitchFamily="34" charset="0"/>
              </a:defRPr>
            </a:lvl7pPr>
            <a:lvl8pPr eaLnBrk="0" fontAlgn="base" hangingPunct="0">
              <a:spcBef>
                <a:spcPct val="0"/>
              </a:spcBef>
              <a:spcAft>
                <a:spcPct val="0"/>
              </a:spcAft>
              <a:tabLst>
                <a:tab pos="790575" algn="l"/>
              </a:tabLst>
              <a:defRPr>
                <a:solidFill>
                  <a:schemeClr val="tx1"/>
                </a:solidFill>
                <a:latin typeface="Arial" panose="020B0604020202020204" pitchFamily="34" charset="0"/>
              </a:defRPr>
            </a:lvl8pPr>
            <a:lvl9pPr eaLnBrk="0" fontAlgn="base" hangingPunct="0">
              <a:spcBef>
                <a:spcPct val="0"/>
              </a:spcBef>
              <a:spcAft>
                <a:spcPct val="0"/>
              </a:spcAft>
              <a:tabLst>
                <a:tab pos="790575" algn="l"/>
              </a:tabLst>
              <a:defRPr>
                <a:solidFill>
                  <a:schemeClr val="tx1"/>
                </a:solidFill>
                <a:latin typeface="Arial" panose="020B0604020202020204" pitchFamily="34" charset="0"/>
              </a:defRPr>
            </a:lvl9pPr>
          </a:lstStyle>
          <a:p>
            <a:pPr marL="800100" lvl="1" indent="-342900">
              <a:buFont typeface="Wingdings" panose="05000000000000000000" pitchFamily="2" charset="2"/>
              <a:buChar char="ü"/>
            </a:pPr>
            <a:r>
              <a:rPr lang="es-CO" altLang="es-CO" sz="2000" b="1" dirty="0">
                <a:latin typeface="+mn-lt"/>
                <a:ea typeface="Calibri" panose="020F0502020204030204" pitchFamily="34" charset="0"/>
              </a:rPr>
              <a:t>Fiabilidad</a:t>
            </a:r>
            <a:r>
              <a:rPr kumimoji="0" lang="es-CO" altLang="es-CO" sz="2000" b="1" i="0" u="none" strike="noStrike" cap="none" normalizeH="0" baseline="0" dirty="0">
                <a:ln>
                  <a:noFill/>
                </a:ln>
                <a:solidFill>
                  <a:schemeClr val="tx1"/>
                </a:solidFill>
                <a:effectLst/>
                <a:latin typeface="+mn-lt"/>
                <a:ea typeface="Calibri" panose="020F0502020204030204" pitchFamily="34" charset="0"/>
              </a:rPr>
              <a:t>:</a:t>
            </a:r>
          </a:p>
          <a:p>
            <a:pPr lvl="1"/>
            <a:endParaRPr lang="es-CO" altLang="es-CO" sz="2000" b="1" dirty="0">
              <a:latin typeface="+mn-lt"/>
              <a:ea typeface="Calibri" panose="020F0502020204030204" pitchFamily="34" charset="0"/>
            </a:endParaRPr>
          </a:p>
          <a:p>
            <a:pPr lvl="1"/>
            <a:endParaRPr kumimoji="0" lang="es-CO" altLang="es-CO" sz="2000" i="0" u="none" strike="noStrike" cap="none" normalizeH="0" baseline="0" dirty="0">
              <a:ln>
                <a:noFill/>
              </a:ln>
              <a:solidFill>
                <a:schemeClr val="tx1"/>
              </a:solidFill>
              <a:effectLst/>
              <a:latin typeface="+mn-lt"/>
              <a:ea typeface="Calibri" panose="020F0502020204030204" pitchFamily="34" charset="0"/>
            </a:endParaRPr>
          </a:p>
          <a:p>
            <a:pPr marL="1257300" lvl="2" indent="-342900">
              <a:buFont typeface="Wingdings" panose="05000000000000000000" pitchFamily="2" charset="2"/>
              <a:buChar char="v"/>
            </a:pPr>
            <a:r>
              <a:rPr lang="es-CO" altLang="es-CO" sz="2000" dirty="0">
                <a:latin typeface="+mn-lt"/>
                <a:ea typeface="Calibri" panose="020F0502020204030204" pitchFamily="34" charset="0"/>
              </a:rPr>
              <a:t>Exactitud</a:t>
            </a:r>
          </a:p>
          <a:p>
            <a:pPr marL="1257300" lvl="2" indent="-342900">
              <a:buFont typeface="Wingdings" panose="05000000000000000000" pitchFamily="2" charset="2"/>
              <a:buChar char="v"/>
            </a:pPr>
            <a:r>
              <a:rPr lang="es-CO" altLang="es-CO" sz="2000" dirty="0">
                <a:latin typeface="+mn-lt"/>
                <a:ea typeface="Calibri" panose="020F0502020204030204" pitchFamily="34" charset="0"/>
              </a:rPr>
              <a:t>Frecuencia de eventos de fallo</a:t>
            </a:r>
          </a:p>
          <a:p>
            <a:pPr marL="1257300" lvl="2" indent="-342900">
              <a:buFont typeface="Wingdings" panose="05000000000000000000" pitchFamily="2" charset="2"/>
              <a:buChar char="v"/>
            </a:pPr>
            <a:r>
              <a:rPr lang="es-CO" altLang="es-CO" sz="2000" dirty="0">
                <a:latin typeface="+mn-lt"/>
                <a:ea typeface="Calibri" panose="020F0502020204030204" pitchFamily="34" charset="0"/>
              </a:rPr>
              <a:t>Tiempo de corrección en los enlaces</a:t>
            </a:r>
          </a:p>
          <a:p>
            <a:pPr marL="1257300" lvl="2" indent="-342900">
              <a:buFont typeface="Wingdings" panose="05000000000000000000" pitchFamily="2" charset="2"/>
              <a:buChar char="v"/>
            </a:pPr>
            <a:r>
              <a:rPr lang="es-CO" altLang="es-CO" sz="2000" dirty="0">
                <a:latin typeface="+mn-lt"/>
                <a:ea typeface="Calibri" panose="020F0502020204030204" pitchFamily="34" charset="0"/>
              </a:rPr>
              <a:t>Robustez de la red ante catástrofes</a:t>
            </a:r>
          </a:p>
          <a:p>
            <a:pPr lvl="2"/>
            <a:endParaRPr lang="es-CO" altLang="es-CO" sz="2000" dirty="0">
              <a:latin typeface="+mn-lt"/>
              <a:ea typeface="Calibri" panose="020F0502020204030204" pitchFamily="34" charset="0"/>
            </a:endParaRPr>
          </a:p>
          <a:p>
            <a:pPr marL="800100" lvl="1" indent="-342900">
              <a:buFont typeface="Wingdings" panose="05000000000000000000" pitchFamily="2" charset="2"/>
              <a:buChar char="ü"/>
            </a:pPr>
            <a:r>
              <a:rPr lang="es-CO" altLang="es-CO" sz="2000" b="1" dirty="0">
                <a:latin typeface="+mn-lt"/>
                <a:ea typeface="Calibri" panose="020F0502020204030204" pitchFamily="34" charset="0"/>
              </a:rPr>
              <a:t>Seguridad</a:t>
            </a:r>
            <a:r>
              <a:rPr kumimoji="0" lang="es-CO" altLang="es-CO" sz="2000" b="1" i="0" u="none" strike="noStrike" cap="none" normalizeH="0" baseline="0" dirty="0">
                <a:ln>
                  <a:noFill/>
                </a:ln>
                <a:solidFill>
                  <a:schemeClr val="tx1"/>
                </a:solidFill>
                <a:effectLst/>
                <a:latin typeface="+mn-lt"/>
                <a:ea typeface="Calibri" panose="020F0502020204030204" pitchFamily="34" charset="0"/>
              </a:rPr>
              <a:t>:</a:t>
            </a:r>
          </a:p>
          <a:p>
            <a:pPr lvl="2"/>
            <a:endParaRPr lang="es-CO" altLang="es-CO" sz="2000" dirty="0">
              <a:latin typeface="+mn-lt"/>
              <a:ea typeface="Calibri" panose="020F0502020204030204" pitchFamily="34" charset="0"/>
            </a:endParaRPr>
          </a:p>
          <a:p>
            <a:pPr marL="1257300" lvl="2" indent="-342900">
              <a:buFont typeface="Wingdings" panose="05000000000000000000" pitchFamily="2" charset="2"/>
              <a:buChar char="v"/>
            </a:pPr>
            <a:r>
              <a:rPr kumimoji="0" lang="es-CO" altLang="es-CO" sz="2000" i="0" u="none" strike="noStrike" cap="none" normalizeH="0" baseline="0" dirty="0">
                <a:ln>
                  <a:noFill/>
                </a:ln>
                <a:solidFill>
                  <a:schemeClr val="tx1"/>
                </a:solidFill>
                <a:effectLst/>
                <a:latin typeface="+mn-lt"/>
                <a:ea typeface="Calibri" panose="020F0502020204030204" pitchFamily="34" charset="0"/>
              </a:rPr>
              <a:t>Protección frente a accesos no autorizados</a:t>
            </a:r>
          </a:p>
          <a:p>
            <a:pPr marL="1257300" lvl="2" indent="-342900">
              <a:buFont typeface="Wingdings" panose="05000000000000000000" pitchFamily="2" charset="2"/>
              <a:buChar char="v"/>
            </a:pPr>
            <a:r>
              <a:rPr lang="es-CO" altLang="es-CO" sz="2000" b="1" dirty="0">
                <a:latin typeface="+mn-lt"/>
                <a:ea typeface="Calibri" panose="020F0502020204030204" pitchFamily="34" charset="0"/>
              </a:rPr>
              <a:t>Protección de datos </a:t>
            </a:r>
            <a:r>
              <a:rPr lang="es-CO" altLang="es-CO" sz="2000" dirty="0">
                <a:latin typeface="+mn-lt"/>
                <a:ea typeface="Calibri" panose="020F0502020204030204" pitchFamily="34" charset="0"/>
              </a:rPr>
              <a:t>frente a fallos</a:t>
            </a:r>
          </a:p>
          <a:p>
            <a:pPr marL="1257300" lvl="2" indent="-342900">
              <a:buFont typeface="Wingdings" panose="05000000000000000000" pitchFamily="2" charset="2"/>
              <a:buChar char="v"/>
            </a:pPr>
            <a:r>
              <a:rPr kumimoji="0" lang="es-CO" altLang="es-CO" sz="2000" i="0" u="none" strike="noStrike" cap="none" normalizeH="0" baseline="0" dirty="0">
                <a:ln>
                  <a:noFill/>
                </a:ln>
                <a:solidFill>
                  <a:schemeClr val="tx1"/>
                </a:solidFill>
                <a:effectLst/>
                <a:latin typeface="+mn-lt"/>
                <a:ea typeface="Calibri" panose="020F0502020204030204" pitchFamily="34" charset="0"/>
              </a:rPr>
              <a:t>Protección sobre modificaciones e implementación de políticas y procedimientos sobre interrupciones y pérdidas de datos</a:t>
            </a:r>
          </a:p>
          <a:p>
            <a:pPr marL="0" marR="0" lvl="0" indent="0" algn="l" defTabSz="914400" rtl="0" eaLnBrk="0" fontAlgn="base" latinLnBrk="0" hangingPunct="0">
              <a:lnSpc>
                <a:spcPct val="100000"/>
              </a:lnSpc>
              <a:spcBef>
                <a:spcPct val="0"/>
              </a:spcBef>
              <a:spcAft>
                <a:spcPct val="0"/>
              </a:spcAft>
              <a:buClrTx/>
              <a:buSzTx/>
              <a:buFontTx/>
              <a:buChar char="•"/>
              <a:tabLst>
                <a:tab pos="790575" algn="l"/>
              </a:tabLst>
            </a:pPr>
            <a:endParaRPr kumimoji="0" lang="es-CO" altLang="es-CO" sz="2000" b="0" i="0" u="none" strike="noStrike" cap="none" normalizeH="0" baseline="0" dirty="0">
              <a:ln>
                <a:noFill/>
              </a:ln>
              <a:solidFill>
                <a:schemeClr val="tx1"/>
              </a:solidFill>
              <a:effectLst/>
              <a:latin typeface="+mn-lt"/>
              <a:ea typeface="Calibri" panose="020F0502020204030204" pitchFamily="34" charset="0"/>
            </a:endParaRPr>
          </a:p>
        </p:txBody>
      </p:sp>
    </p:spTree>
    <p:extLst>
      <p:ext uri="{BB962C8B-B14F-4D97-AF65-F5344CB8AC3E}">
        <p14:creationId xmlns:p14="http://schemas.microsoft.com/office/powerpoint/2010/main" val="3951759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43840" y="0"/>
            <a:ext cx="2519680" cy="1037545"/>
          </a:xfrm>
        </p:spPr>
        <p:txBody>
          <a:bodyPr>
            <a:normAutofit/>
          </a:bodyPr>
          <a:lstStyle/>
          <a:p>
            <a:pPr algn="ctr"/>
            <a:r>
              <a:rPr lang="es-CO" sz="3600" b="1" dirty="0">
                <a:solidFill>
                  <a:schemeClr val="bg1"/>
                </a:solidFill>
              </a:rPr>
              <a:t>Estructuras</a:t>
            </a:r>
          </a:p>
        </p:txBody>
      </p:sp>
      <p:graphicFrame>
        <p:nvGraphicFramePr>
          <p:cNvPr id="3" name="Diagrama 2">
            <a:extLst>
              <a:ext uri="{FF2B5EF4-FFF2-40B4-BE49-F238E27FC236}">
                <a16:creationId xmlns:a16="http://schemas.microsoft.com/office/drawing/2014/main" id="{F1A675DF-6334-6417-1314-640967A2AB8F}"/>
              </a:ext>
            </a:extLst>
          </p:cNvPr>
          <p:cNvGraphicFramePr/>
          <p:nvPr>
            <p:extLst>
              <p:ext uri="{D42A27DB-BD31-4B8C-83A1-F6EECF244321}">
                <p14:modId xmlns:p14="http://schemas.microsoft.com/office/powerpoint/2010/main" val="1494307689"/>
              </p:ext>
            </p:extLst>
          </p:nvPr>
        </p:nvGraphicFramePr>
        <p:xfrm>
          <a:off x="3627119" y="1584960"/>
          <a:ext cx="4283165" cy="32294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BC987417-64AC-048D-1F60-93D7ACC17E37}"/>
              </a:ext>
            </a:extLst>
          </p:cNvPr>
          <p:cNvSpPr txBox="1"/>
          <p:nvPr/>
        </p:nvSpPr>
        <p:spPr>
          <a:xfrm>
            <a:off x="6837680" y="1505715"/>
            <a:ext cx="4734560" cy="1200329"/>
          </a:xfrm>
          <a:prstGeom prst="rect">
            <a:avLst/>
          </a:prstGeom>
          <a:noFill/>
        </p:spPr>
        <p:txBody>
          <a:bodyPr wrap="square" rtlCol="0">
            <a:spAutoFit/>
          </a:bodyPr>
          <a:lstStyle/>
          <a:p>
            <a:r>
              <a:rPr lang="es-CO" dirty="0"/>
              <a:t>Red: Formada por 2 o más elementos conectados al mismo enlace.</a:t>
            </a:r>
          </a:p>
          <a:p>
            <a:r>
              <a:rPr lang="es-CO" dirty="0"/>
              <a:t>Enlace: Medio de comunicación físico que transfiere datos de un dispositivo a otro.</a:t>
            </a:r>
          </a:p>
        </p:txBody>
      </p:sp>
      <p:sp>
        <p:nvSpPr>
          <p:cNvPr id="6" name="CuadroTexto 5">
            <a:extLst>
              <a:ext uri="{FF2B5EF4-FFF2-40B4-BE49-F238E27FC236}">
                <a16:creationId xmlns:a16="http://schemas.microsoft.com/office/drawing/2014/main" id="{C152C2D1-3D8E-5DB8-B8B8-EB44FEA713B9}"/>
              </a:ext>
            </a:extLst>
          </p:cNvPr>
          <p:cNvSpPr txBox="1"/>
          <p:nvPr/>
        </p:nvSpPr>
        <p:spPr>
          <a:xfrm>
            <a:off x="396240" y="4672875"/>
            <a:ext cx="4734560" cy="923330"/>
          </a:xfrm>
          <a:prstGeom prst="rect">
            <a:avLst/>
          </a:prstGeom>
          <a:noFill/>
        </p:spPr>
        <p:txBody>
          <a:bodyPr wrap="square" rtlCol="0">
            <a:spAutoFit/>
          </a:bodyPr>
          <a:lstStyle/>
          <a:p>
            <a:r>
              <a:rPr lang="es-CO" dirty="0"/>
              <a:t>Forma de diseño de la red</a:t>
            </a:r>
          </a:p>
          <a:p>
            <a:r>
              <a:rPr lang="es-CO" dirty="0"/>
              <a:t>Topología: Unión de dos o más enlaces</a:t>
            </a:r>
          </a:p>
          <a:p>
            <a:r>
              <a:rPr lang="es-CO" dirty="0"/>
              <a:t>Representación geométrica de la red</a:t>
            </a:r>
          </a:p>
        </p:txBody>
      </p:sp>
      <p:sp>
        <p:nvSpPr>
          <p:cNvPr id="7" name="CuadroTexto 6">
            <a:extLst>
              <a:ext uri="{FF2B5EF4-FFF2-40B4-BE49-F238E27FC236}">
                <a16:creationId xmlns:a16="http://schemas.microsoft.com/office/drawing/2014/main" id="{0E84906A-13D8-2200-891D-09B8EAD68D7A}"/>
              </a:ext>
            </a:extLst>
          </p:cNvPr>
          <p:cNvSpPr txBox="1"/>
          <p:nvPr/>
        </p:nvSpPr>
        <p:spPr>
          <a:xfrm>
            <a:off x="7373982" y="3968851"/>
            <a:ext cx="4734560" cy="369332"/>
          </a:xfrm>
          <a:prstGeom prst="rect">
            <a:avLst/>
          </a:prstGeom>
          <a:noFill/>
        </p:spPr>
        <p:txBody>
          <a:bodyPr wrap="square" rtlCol="0">
            <a:spAutoFit/>
          </a:bodyPr>
          <a:lstStyle/>
          <a:p>
            <a:r>
              <a:rPr lang="es-CO" dirty="0"/>
              <a:t>Alcance</a:t>
            </a:r>
          </a:p>
        </p:txBody>
      </p:sp>
    </p:spTree>
    <p:extLst>
      <p:ext uri="{BB962C8B-B14F-4D97-AF65-F5344CB8AC3E}">
        <p14:creationId xmlns:p14="http://schemas.microsoft.com/office/powerpoint/2010/main" val="187908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graphicEl>
                                              <a:dgm id="{39AA1700-60D2-4749-BE8E-06365D01F6EB}"/>
                                            </p:graphicEl>
                                          </p:spTgt>
                                        </p:tgtEl>
                                        <p:attrNameLst>
                                          <p:attrName>style.visibility</p:attrName>
                                        </p:attrNameLst>
                                      </p:cBhvr>
                                      <p:to>
                                        <p:strVal val="visible"/>
                                      </p:to>
                                    </p:set>
                                    <p:animEffect transition="in" filter="circle(in)">
                                      <p:cBhvr>
                                        <p:cTn id="7" dur="2000"/>
                                        <p:tgtEl>
                                          <p:spTgt spid="3">
                                            <p:graphicEl>
                                              <a:dgm id="{39AA1700-60D2-4749-BE8E-06365D01F6EB}"/>
                                            </p:graphic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graphicEl>
                                              <a:dgm id="{1509AB95-EE24-430A-9FB8-BF0AE455B01B}"/>
                                            </p:graphicEl>
                                          </p:spTgt>
                                        </p:tgtEl>
                                        <p:attrNameLst>
                                          <p:attrName>style.visibility</p:attrName>
                                        </p:attrNameLst>
                                      </p:cBhvr>
                                      <p:to>
                                        <p:strVal val="visible"/>
                                      </p:to>
                                    </p:set>
                                    <p:animEffect transition="in" filter="circle(in)">
                                      <p:cBhvr>
                                        <p:cTn id="10" dur="2000"/>
                                        <p:tgtEl>
                                          <p:spTgt spid="3">
                                            <p:graphicEl>
                                              <a:dgm id="{1509AB95-EE24-430A-9FB8-BF0AE455B01B}"/>
                                            </p:graphicEl>
                                          </p:spTgt>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
                                            <p:graphicEl>
                                              <a:dgm id="{50D1BB85-1F32-4B45-82D6-DBA9172228A1}"/>
                                            </p:graphicEl>
                                          </p:spTgt>
                                        </p:tgtEl>
                                        <p:attrNameLst>
                                          <p:attrName>style.visibility</p:attrName>
                                        </p:attrNameLst>
                                      </p:cBhvr>
                                      <p:to>
                                        <p:strVal val="visible"/>
                                      </p:to>
                                    </p:set>
                                    <p:animEffect transition="in" filter="circle(in)">
                                      <p:cBhvr>
                                        <p:cTn id="13" dur="2000"/>
                                        <p:tgtEl>
                                          <p:spTgt spid="3">
                                            <p:graphicEl>
                                              <a:dgm id="{50D1BB85-1F32-4B45-82D6-DBA9172228A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fontScale="90000"/>
          </a:bodyPr>
          <a:lstStyle/>
          <a:p>
            <a:pPr algn="ctr"/>
            <a:r>
              <a:rPr lang="es-CO" sz="3600" b="1" dirty="0">
                <a:solidFill>
                  <a:schemeClr val="bg1"/>
                </a:solidFill>
              </a:rPr>
              <a:t>Tipos conexión</a:t>
            </a:r>
          </a:p>
        </p:txBody>
      </p:sp>
      <p:sp>
        <p:nvSpPr>
          <p:cNvPr id="4" name="CuadroTexto 3">
            <a:extLst>
              <a:ext uri="{FF2B5EF4-FFF2-40B4-BE49-F238E27FC236}">
                <a16:creationId xmlns:a16="http://schemas.microsoft.com/office/drawing/2014/main" id="{64CD8A71-16D1-9039-6D6B-9E49E4EFABE5}"/>
              </a:ext>
            </a:extLst>
          </p:cNvPr>
          <p:cNvSpPr txBox="1"/>
          <p:nvPr/>
        </p:nvSpPr>
        <p:spPr>
          <a:xfrm>
            <a:off x="838200" y="2026920"/>
            <a:ext cx="2301240" cy="1323439"/>
          </a:xfrm>
          <a:prstGeom prst="rect">
            <a:avLst/>
          </a:prstGeom>
          <a:effectLst>
            <a:outerShdw blurRad="50800" dist="38100" dir="18900000" algn="b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ES" sz="4000" dirty="0">
                <a:latin typeface="Arial Narrow" panose="020B0606020202030204" pitchFamily="34" charset="0"/>
              </a:rPr>
              <a:t>Punto a Punto</a:t>
            </a:r>
            <a:endParaRPr lang="es-CO" sz="4000" dirty="0">
              <a:latin typeface="Arial Narrow" panose="020B0606020202030204" pitchFamily="34" charset="0"/>
            </a:endParaRPr>
          </a:p>
        </p:txBody>
      </p:sp>
      <p:sp>
        <p:nvSpPr>
          <p:cNvPr id="5" name="Flecha a la derecha con bandas 12">
            <a:extLst>
              <a:ext uri="{FF2B5EF4-FFF2-40B4-BE49-F238E27FC236}">
                <a16:creationId xmlns:a16="http://schemas.microsoft.com/office/drawing/2014/main" id="{B250398A-C280-242A-0C4E-B1EFF8A96922}"/>
              </a:ext>
            </a:extLst>
          </p:cNvPr>
          <p:cNvSpPr/>
          <p:nvPr/>
        </p:nvSpPr>
        <p:spPr>
          <a:xfrm>
            <a:off x="3559968" y="2164763"/>
            <a:ext cx="1203960" cy="892761"/>
          </a:xfrm>
          <a:prstGeom prst="striped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pic>
        <p:nvPicPr>
          <p:cNvPr id="6" name="Imagen 5">
            <a:extLst>
              <a:ext uri="{FF2B5EF4-FFF2-40B4-BE49-F238E27FC236}">
                <a16:creationId xmlns:a16="http://schemas.microsoft.com/office/drawing/2014/main" id="{AECF70C7-0BDE-1383-9B47-1BD9E785B8DC}"/>
              </a:ext>
            </a:extLst>
          </p:cNvPr>
          <p:cNvPicPr>
            <a:picLocks noChangeAspect="1"/>
          </p:cNvPicPr>
          <p:nvPr/>
        </p:nvPicPr>
        <p:blipFill>
          <a:blip r:embed="rId3"/>
          <a:stretch>
            <a:fillRect/>
          </a:stretch>
        </p:blipFill>
        <p:spPr>
          <a:xfrm>
            <a:off x="5443537" y="2087269"/>
            <a:ext cx="4352925" cy="1047750"/>
          </a:xfrm>
          <a:prstGeom prst="rect">
            <a:avLst/>
          </a:prstGeom>
        </p:spPr>
      </p:pic>
      <p:sp>
        <p:nvSpPr>
          <p:cNvPr id="7" name="CuadroTexto 6">
            <a:extLst>
              <a:ext uri="{FF2B5EF4-FFF2-40B4-BE49-F238E27FC236}">
                <a16:creationId xmlns:a16="http://schemas.microsoft.com/office/drawing/2014/main" id="{06C5EEA6-2FD1-C628-49E0-37E24F932A53}"/>
              </a:ext>
            </a:extLst>
          </p:cNvPr>
          <p:cNvSpPr txBox="1"/>
          <p:nvPr/>
        </p:nvSpPr>
        <p:spPr>
          <a:xfrm>
            <a:off x="8153400" y="4511040"/>
            <a:ext cx="2677160" cy="707886"/>
          </a:xfrm>
          <a:prstGeom prst="rect">
            <a:avLst/>
          </a:prstGeom>
          <a:effectLst>
            <a:outerShdw blurRad="50800" dist="38100" dir="18900000" algn="b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ES" sz="4000" dirty="0">
                <a:latin typeface="Arial Narrow" panose="020B0606020202030204" pitchFamily="34" charset="0"/>
              </a:rPr>
              <a:t>Multipunto?</a:t>
            </a:r>
            <a:endParaRPr lang="es-CO" sz="4000" dirty="0">
              <a:latin typeface="Arial Narrow" panose="020B0606020202030204" pitchFamily="34" charset="0"/>
            </a:endParaRPr>
          </a:p>
        </p:txBody>
      </p:sp>
      <p:sp>
        <p:nvSpPr>
          <p:cNvPr id="8" name="Flecha a la derecha con bandas 17">
            <a:extLst>
              <a:ext uri="{FF2B5EF4-FFF2-40B4-BE49-F238E27FC236}">
                <a16:creationId xmlns:a16="http://schemas.microsoft.com/office/drawing/2014/main" id="{EA65ADB8-F230-2388-4E62-DB8198B7FFFF}"/>
              </a:ext>
            </a:extLst>
          </p:cNvPr>
          <p:cNvSpPr/>
          <p:nvPr/>
        </p:nvSpPr>
        <p:spPr>
          <a:xfrm rot="10800000">
            <a:off x="6096000" y="4511040"/>
            <a:ext cx="1203960" cy="892761"/>
          </a:xfrm>
          <a:prstGeom prst="striped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pic>
        <p:nvPicPr>
          <p:cNvPr id="9" name="object 3">
            <a:extLst>
              <a:ext uri="{FF2B5EF4-FFF2-40B4-BE49-F238E27FC236}">
                <a16:creationId xmlns:a16="http://schemas.microsoft.com/office/drawing/2014/main" id="{2A54D3C4-B135-1099-EE2D-FA1440C87363}"/>
              </a:ext>
            </a:extLst>
          </p:cNvPr>
          <p:cNvPicPr/>
          <p:nvPr/>
        </p:nvPicPr>
        <p:blipFill>
          <a:blip r:embed="rId4" cstate="print"/>
          <a:stretch>
            <a:fillRect/>
          </a:stretch>
        </p:blipFill>
        <p:spPr>
          <a:xfrm>
            <a:off x="1871469" y="3899921"/>
            <a:ext cx="4224530" cy="2638009"/>
          </a:xfrm>
          <a:prstGeom prst="rect">
            <a:avLst/>
          </a:prstGeom>
        </p:spPr>
      </p:pic>
      <p:sp>
        <p:nvSpPr>
          <p:cNvPr id="10" name="CuadroTexto 9">
            <a:extLst>
              <a:ext uri="{FF2B5EF4-FFF2-40B4-BE49-F238E27FC236}">
                <a16:creationId xmlns:a16="http://schemas.microsoft.com/office/drawing/2014/main" id="{47027ED9-401B-4751-FEF1-AFB5022D98C9}"/>
              </a:ext>
            </a:extLst>
          </p:cNvPr>
          <p:cNvSpPr txBox="1"/>
          <p:nvPr/>
        </p:nvSpPr>
        <p:spPr>
          <a:xfrm>
            <a:off x="6629402" y="3240418"/>
            <a:ext cx="4846320" cy="1200329"/>
          </a:xfrm>
          <a:prstGeom prst="rect">
            <a:avLst/>
          </a:prstGeom>
          <a:noFill/>
        </p:spPr>
        <p:txBody>
          <a:bodyPr wrap="square" rtlCol="0">
            <a:spAutoFit/>
          </a:bodyPr>
          <a:lstStyle/>
          <a:p>
            <a:r>
              <a:rPr lang="es-CO" dirty="0"/>
              <a:t>Encale dedicado</a:t>
            </a:r>
          </a:p>
          <a:p>
            <a:r>
              <a:rPr lang="es-CO" dirty="0"/>
              <a:t>Capacidad del enlace: </a:t>
            </a:r>
            <a:r>
              <a:rPr lang="es-CO" b="1" dirty="0"/>
              <a:t>capacidad de los dispositivos</a:t>
            </a:r>
          </a:p>
          <a:p>
            <a:r>
              <a:rPr lang="es-CO" dirty="0"/>
              <a:t>Cables, microondas, satélites</a:t>
            </a:r>
          </a:p>
        </p:txBody>
      </p:sp>
    </p:spTree>
    <p:extLst>
      <p:ext uri="{BB962C8B-B14F-4D97-AF65-F5344CB8AC3E}">
        <p14:creationId xmlns:p14="http://schemas.microsoft.com/office/powerpoint/2010/main" val="387254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heel(1)">
                                      <p:cBhvr>
                                        <p:cTn id="20" dur="2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circle(in)">
                                      <p:cBhvr>
                                        <p:cTn id="30"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fontScale="90000"/>
          </a:bodyPr>
          <a:lstStyle/>
          <a:p>
            <a:pPr algn="ctr"/>
            <a:r>
              <a:rPr lang="es-CO" sz="3600" b="1" dirty="0">
                <a:solidFill>
                  <a:schemeClr val="bg1"/>
                </a:solidFill>
              </a:rPr>
              <a:t>Tipos conexión</a:t>
            </a:r>
          </a:p>
        </p:txBody>
      </p:sp>
      <p:sp>
        <p:nvSpPr>
          <p:cNvPr id="4" name="CuadroTexto 3">
            <a:extLst>
              <a:ext uri="{FF2B5EF4-FFF2-40B4-BE49-F238E27FC236}">
                <a16:creationId xmlns:a16="http://schemas.microsoft.com/office/drawing/2014/main" id="{64CD8A71-16D1-9039-6D6B-9E49E4EFABE5}"/>
              </a:ext>
            </a:extLst>
          </p:cNvPr>
          <p:cNvSpPr txBox="1"/>
          <p:nvPr/>
        </p:nvSpPr>
        <p:spPr>
          <a:xfrm>
            <a:off x="1381045" y="3161912"/>
            <a:ext cx="2301240" cy="707886"/>
          </a:xfrm>
          <a:prstGeom prst="rect">
            <a:avLst/>
          </a:prstGeom>
          <a:effectLst>
            <a:outerShdw blurRad="50800" dist="38100" dir="18900000" algn="b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ES" sz="4000" dirty="0">
                <a:latin typeface="Arial Narrow" panose="020B0606020202030204" pitchFamily="34" charset="0"/>
              </a:rPr>
              <a:t>Multipunto</a:t>
            </a:r>
            <a:endParaRPr lang="es-CO" sz="4000" dirty="0">
              <a:latin typeface="Arial Narrow" panose="020B0606020202030204" pitchFamily="34" charset="0"/>
            </a:endParaRPr>
          </a:p>
        </p:txBody>
      </p:sp>
      <p:sp>
        <p:nvSpPr>
          <p:cNvPr id="5" name="Flecha a la derecha con bandas 12">
            <a:extLst>
              <a:ext uri="{FF2B5EF4-FFF2-40B4-BE49-F238E27FC236}">
                <a16:creationId xmlns:a16="http://schemas.microsoft.com/office/drawing/2014/main" id="{B250398A-C280-242A-0C4E-B1EFF8A96922}"/>
              </a:ext>
            </a:extLst>
          </p:cNvPr>
          <p:cNvSpPr/>
          <p:nvPr/>
        </p:nvSpPr>
        <p:spPr>
          <a:xfrm>
            <a:off x="5494020" y="3069475"/>
            <a:ext cx="1203960" cy="892761"/>
          </a:xfrm>
          <a:prstGeom prst="striped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sp>
        <p:nvSpPr>
          <p:cNvPr id="10" name="CuadroTexto 9">
            <a:extLst>
              <a:ext uri="{FF2B5EF4-FFF2-40B4-BE49-F238E27FC236}">
                <a16:creationId xmlns:a16="http://schemas.microsoft.com/office/drawing/2014/main" id="{47027ED9-401B-4751-FEF1-AFB5022D98C9}"/>
              </a:ext>
            </a:extLst>
          </p:cNvPr>
          <p:cNvSpPr txBox="1"/>
          <p:nvPr/>
        </p:nvSpPr>
        <p:spPr>
          <a:xfrm>
            <a:off x="3139440" y="4699637"/>
            <a:ext cx="6568438" cy="1477328"/>
          </a:xfrm>
          <a:prstGeom prst="rect">
            <a:avLst/>
          </a:prstGeom>
          <a:noFill/>
        </p:spPr>
        <p:txBody>
          <a:bodyPr wrap="square" rtlCol="0">
            <a:spAutoFit/>
          </a:bodyPr>
          <a:lstStyle/>
          <a:p>
            <a:r>
              <a:rPr lang="es-CO" dirty="0"/>
              <a:t>Varios dispositivos comparten el mismo enlace</a:t>
            </a:r>
          </a:p>
          <a:p>
            <a:r>
              <a:rPr lang="es-CO" dirty="0"/>
              <a:t>Capacidad del enlace compartida en espacio y tiempo</a:t>
            </a:r>
          </a:p>
          <a:p>
            <a:r>
              <a:rPr lang="es-CO" b="1" dirty="0"/>
              <a:t>Línea compartida espacialmente: </a:t>
            </a:r>
            <a:r>
              <a:rPr lang="es-CO" dirty="0"/>
              <a:t>Transmisión simultanea</a:t>
            </a:r>
          </a:p>
          <a:p>
            <a:r>
              <a:rPr lang="es-CO" b="1" dirty="0"/>
              <a:t>Tiempo compartido: </a:t>
            </a:r>
            <a:r>
              <a:rPr lang="es-CO" dirty="0"/>
              <a:t>Transmisión por turnos</a:t>
            </a:r>
          </a:p>
          <a:p>
            <a:endParaRPr lang="es-CO" b="1" dirty="0"/>
          </a:p>
        </p:txBody>
      </p:sp>
      <p:pic>
        <p:nvPicPr>
          <p:cNvPr id="1026" name="Picture 2" descr="ESTRUCTURA DE REDES: Multipunto-Multidifucion-Broadcast">
            <a:extLst>
              <a:ext uri="{FF2B5EF4-FFF2-40B4-BE49-F238E27FC236}">
                <a16:creationId xmlns:a16="http://schemas.microsoft.com/office/drawing/2014/main" id="{CEAD5689-A539-FB53-A2CC-1997CF10B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0211" y="2734806"/>
            <a:ext cx="2924175"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64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4" descr="Forma&#10;&#10;Descripción generada automáticamente con confianza baja">
            <a:extLst>
              <a:ext uri="{FF2B5EF4-FFF2-40B4-BE49-F238E27FC236}">
                <a16:creationId xmlns:a16="http://schemas.microsoft.com/office/drawing/2014/main" id="{FA3C9B22-507F-6316-D144-D032D3D5C1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7" y="0"/>
            <a:ext cx="12196177" cy="6858000"/>
          </a:xfrm>
          <a:prstGeom prst="rect">
            <a:avLst/>
          </a:prstGeom>
        </p:spPr>
      </p:pic>
      <p:sp>
        <p:nvSpPr>
          <p:cNvPr id="5" name="Título 1"/>
          <p:cNvSpPr>
            <a:spLocks noGrp="1"/>
          </p:cNvSpPr>
          <p:nvPr>
            <p:ph type="title"/>
          </p:nvPr>
        </p:nvSpPr>
        <p:spPr>
          <a:xfrm>
            <a:off x="518160" y="2384742"/>
            <a:ext cx="3307080" cy="2088515"/>
          </a:xfrm>
        </p:spPr>
        <p:txBody>
          <a:bodyPr>
            <a:normAutofit/>
          </a:bodyPr>
          <a:lstStyle/>
          <a:p>
            <a:pPr algn="ctr"/>
            <a:r>
              <a:rPr lang="es-ES" sz="4800" b="1" dirty="0">
                <a:solidFill>
                  <a:schemeClr val="bg1"/>
                </a:solidFill>
                <a:latin typeface="Arial Narrow" panose="020B0606020202030204" pitchFamily="34" charset="0"/>
              </a:rPr>
              <a:t>Topología</a:t>
            </a:r>
            <a:endParaRPr lang="es-CO" sz="4800" b="1" dirty="0">
              <a:solidFill>
                <a:schemeClr val="bg1"/>
              </a:solidFill>
              <a:latin typeface="Arial Narrow" panose="020B0606020202030204" pitchFamily="34" charset="0"/>
            </a:endParaRPr>
          </a:p>
        </p:txBody>
      </p:sp>
      <p:graphicFrame>
        <p:nvGraphicFramePr>
          <p:cNvPr id="6" name="Diagrama 5"/>
          <p:cNvGraphicFramePr/>
          <p:nvPr/>
        </p:nvGraphicFramePr>
        <p:xfrm>
          <a:off x="4206240" y="167639"/>
          <a:ext cx="8492857" cy="6522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304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80">
                                          <p:stCondLst>
                                            <p:cond delay="0"/>
                                          </p:stCondLst>
                                        </p:cTn>
                                        <p:tgtEl>
                                          <p:spTgt spid="6"/>
                                        </p:tgtEl>
                                      </p:cBhvr>
                                    </p:animEffect>
                                    <p:anim calcmode="lin" valueType="num">
                                      <p:cBhvr>
                                        <p:cTn id="15"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0" dur="26">
                                          <p:stCondLst>
                                            <p:cond delay="650"/>
                                          </p:stCondLst>
                                        </p:cTn>
                                        <p:tgtEl>
                                          <p:spTgt spid="6"/>
                                        </p:tgtEl>
                                      </p:cBhvr>
                                      <p:to x="100000" y="60000"/>
                                    </p:animScale>
                                    <p:animScale>
                                      <p:cBhvr>
                                        <p:cTn id="21" dur="166" decel="50000">
                                          <p:stCondLst>
                                            <p:cond delay="676"/>
                                          </p:stCondLst>
                                        </p:cTn>
                                        <p:tgtEl>
                                          <p:spTgt spid="6"/>
                                        </p:tgtEl>
                                      </p:cBhvr>
                                      <p:to x="100000" y="100000"/>
                                    </p:animScale>
                                    <p:animScale>
                                      <p:cBhvr>
                                        <p:cTn id="22" dur="26">
                                          <p:stCondLst>
                                            <p:cond delay="1312"/>
                                          </p:stCondLst>
                                        </p:cTn>
                                        <p:tgtEl>
                                          <p:spTgt spid="6"/>
                                        </p:tgtEl>
                                      </p:cBhvr>
                                      <p:to x="100000" y="80000"/>
                                    </p:animScale>
                                    <p:animScale>
                                      <p:cBhvr>
                                        <p:cTn id="23" dur="166" decel="50000">
                                          <p:stCondLst>
                                            <p:cond delay="1338"/>
                                          </p:stCondLst>
                                        </p:cTn>
                                        <p:tgtEl>
                                          <p:spTgt spid="6"/>
                                        </p:tgtEl>
                                      </p:cBhvr>
                                      <p:to x="100000" y="100000"/>
                                    </p:animScale>
                                    <p:animScale>
                                      <p:cBhvr>
                                        <p:cTn id="24" dur="26">
                                          <p:stCondLst>
                                            <p:cond delay="1642"/>
                                          </p:stCondLst>
                                        </p:cTn>
                                        <p:tgtEl>
                                          <p:spTgt spid="6"/>
                                        </p:tgtEl>
                                      </p:cBhvr>
                                      <p:to x="100000" y="90000"/>
                                    </p:animScale>
                                    <p:animScale>
                                      <p:cBhvr>
                                        <p:cTn id="25" dur="166" decel="50000">
                                          <p:stCondLst>
                                            <p:cond delay="1668"/>
                                          </p:stCondLst>
                                        </p:cTn>
                                        <p:tgtEl>
                                          <p:spTgt spid="6"/>
                                        </p:tgtEl>
                                      </p:cBhvr>
                                      <p:to x="100000" y="100000"/>
                                    </p:animScale>
                                    <p:animScale>
                                      <p:cBhvr>
                                        <p:cTn id="26" dur="26">
                                          <p:stCondLst>
                                            <p:cond delay="1808"/>
                                          </p:stCondLst>
                                        </p:cTn>
                                        <p:tgtEl>
                                          <p:spTgt spid="6"/>
                                        </p:tgtEl>
                                      </p:cBhvr>
                                      <p:to x="100000" y="95000"/>
                                    </p:animScale>
                                    <p:animScale>
                                      <p:cBhvr>
                                        <p:cTn id="27"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Malla</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477520" y="1661797"/>
            <a:ext cx="10911840" cy="5355312"/>
          </a:xfrm>
          <a:prstGeom prst="rect">
            <a:avLst/>
          </a:prstGeom>
          <a:noFill/>
        </p:spPr>
        <p:txBody>
          <a:bodyPr wrap="square" rtlCol="0">
            <a:spAutoFit/>
          </a:bodyPr>
          <a:lstStyle/>
          <a:p>
            <a:pPr marL="285750" indent="-285750">
              <a:buFont typeface="Wingdings" panose="05000000000000000000" pitchFamily="2" charset="2"/>
              <a:buChar char="ü"/>
            </a:pPr>
            <a:r>
              <a:rPr lang="es-CO" dirty="0"/>
              <a:t>Cada dispositivo o nodo comparte un enlace punto a punto y dedicado con cualquier otro dispositivo</a:t>
            </a:r>
          </a:p>
          <a:p>
            <a:pPr marL="285750" indent="-285750">
              <a:buFont typeface="Wingdings" panose="05000000000000000000" pitchFamily="2" charset="2"/>
              <a:buChar char="ü"/>
            </a:pPr>
            <a:r>
              <a:rPr lang="es-CO" dirty="0"/>
              <a:t>Se necesitan n(n-1) canales físicos unidireccionales &lt;-&gt; n = nodos</a:t>
            </a:r>
          </a:p>
          <a:p>
            <a:pPr marL="285750" indent="-285750">
              <a:buFont typeface="Wingdings" panose="05000000000000000000" pitchFamily="2" charset="2"/>
              <a:buChar char="ü"/>
            </a:pPr>
            <a:r>
              <a:rPr lang="es-CO" dirty="0"/>
              <a:t>Se necesitan n(n-1)/2 canales físicos bidireccionales &lt;-&gt; n = nodos</a:t>
            </a:r>
          </a:p>
          <a:p>
            <a:pPr marL="285750" indent="-285750">
              <a:buFont typeface="Wingdings" panose="05000000000000000000" pitchFamily="2" charset="2"/>
              <a:buChar char="ü"/>
            </a:pPr>
            <a:r>
              <a:rPr lang="es-CO" dirty="0"/>
              <a:t>Cada dispositivo debe tener n-1 puertos de entrada/salida (E/S)</a:t>
            </a:r>
          </a:p>
          <a:p>
            <a:pPr marL="285750" indent="-285750">
              <a:buFont typeface="Wingdings" panose="05000000000000000000" pitchFamily="2" charset="2"/>
              <a:buChar char="ü"/>
            </a:pPr>
            <a:r>
              <a:rPr lang="es-CO" dirty="0"/>
              <a:t>Ventajas:</a:t>
            </a:r>
          </a:p>
          <a:p>
            <a:pPr marL="742950" lvl="1" indent="-285750">
              <a:buFont typeface="Wingdings" panose="05000000000000000000" pitchFamily="2" charset="2"/>
              <a:buChar char="ü"/>
            </a:pPr>
            <a:r>
              <a:rPr lang="es-CO" dirty="0"/>
              <a:t>Enlaces dedicados</a:t>
            </a:r>
          </a:p>
          <a:p>
            <a:pPr marL="742950" lvl="1" indent="-285750">
              <a:buFont typeface="Wingdings" panose="05000000000000000000" pitchFamily="2" charset="2"/>
              <a:buChar char="ü"/>
            </a:pPr>
            <a:r>
              <a:rPr lang="es-CO" dirty="0"/>
              <a:t>Robusta, si algún enlace falla, no inhabilita los demás</a:t>
            </a:r>
          </a:p>
          <a:p>
            <a:pPr marL="742950" lvl="1" indent="-285750">
              <a:buFont typeface="Wingdings" panose="05000000000000000000" pitchFamily="2" charset="2"/>
              <a:buChar char="ü"/>
            </a:pPr>
            <a:r>
              <a:rPr lang="es-CO" dirty="0"/>
              <a:t>Mensajes privados y protegidos</a:t>
            </a:r>
          </a:p>
          <a:p>
            <a:pPr marL="742950" lvl="1" indent="-285750">
              <a:buFont typeface="Wingdings" panose="05000000000000000000" pitchFamily="2" charset="2"/>
              <a:buChar char="ü"/>
            </a:pPr>
            <a:r>
              <a:rPr lang="es-CO" dirty="0"/>
              <a:t>Identificación fácil de fallos</a:t>
            </a:r>
          </a:p>
          <a:p>
            <a:pPr marL="285750" indent="-285750">
              <a:buFont typeface="Wingdings" panose="05000000000000000000" pitchFamily="2" charset="2"/>
              <a:buChar char="ü"/>
            </a:pPr>
            <a:r>
              <a:rPr lang="es-CO" dirty="0"/>
              <a:t>Desventajas:</a:t>
            </a:r>
          </a:p>
          <a:p>
            <a:pPr marL="742950" lvl="1" indent="-285750">
              <a:buFont typeface="Wingdings" panose="05000000000000000000" pitchFamily="2" charset="2"/>
              <a:buChar char="ü"/>
            </a:pPr>
            <a:r>
              <a:rPr lang="es-CO" dirty="0"/>
              <a:t>Costos</a:t>
            </a:r>
          </a:p>
          <a:p>
            <a:pPr marL="742950" lvl="1" indent="-285750">
              <a:buFont typeface="Wingdings" panose="05000000000000000000" pitchFamily="2" charset="2"/>
              <a:buChar char="ü"/>
            </a:pPr>
            <a:r>
              <a:rPr lang="es-CO" dirty="0"/>
              <a:t>Cable</a:t>
            </a:r>
          </a:p>
          <a:p>
            <a:pPr marL="742950" lvl="1" indent="-285750">
              <a:buFont typeface="Wingdings" panose="05000000000000000000" pitchFamily="2" charset="2"/>
              <a:buChar char="ü"/>
            </a:pPr>
            <a:r>
              <a:rPr lang="es-CO" dirty="0"/>
              <a:t>Puertos</a:t>
            </a:r>
          </a:p>
          <a:p>
            <a:pPr marL="742950" lvl="1" indent="-285750">
              <a:buFont typeface="Wingdings" panose="05000000000000000000" pitchFamily="2" charset="2"/>
              <a:buChar char="ü"/>
            </a:pPr>
            <a:r>
              <a:rPr lang="es-CO" dirty="0"/>
              <a:t>Hardware costoso</a:t>
            </a:r>
          </a:p>
          <a:p>
            <a:pPr lvl="1"/>
            <a:endParaRPr lang="es-CO" dirty="0"/>
          </a:p>
          <a:p>
            <a:pPr marL="285750" indent="-285750">
              <a:buFont typeface="Wingdings" panose="05000000000000000000" pitchFamily="2" charset="2"/>
              <a:buChar char="ü"/>
            </a:pPr>
            <a:r>
              <a:rPr lang="es-CO" b="1" dirty="0"/>
              <a:t>Ejemplo: </a:t>
            </a:r>
            <a:r>
              <a:rPr lang="es-CO" dirty="0"/>
              <a:t>Operadoras regionales de telefonía – cada oficina conectada a las demás</a:t>
            </a:r>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pic>
        <p:nvPicPr>
          <p:cNvPr id="2050" name="Picture 2" descr="Topología de malla: características, ventajas, desventajas">
            <a:extLst>
              <a:ext uri="{FF2B5EF4-FFF2-40B4-BE49-F238E27FC236}">
                <a16:creationId xmlns:a16="http://schemas.microsoft.com/office/drawing/2014/main" id="{22AA8B06-D94A-EC00-1560-315F082BB7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1343" y="2500311"/>
            <a:ext cx="4155546" cy="2695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758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Estrella</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477520" y="1661797"/>
            <a:ext cx="10911840" cy="4801314"/>
          </a:xfrm>
          <a:prstGeom prst="rect">
            <a:avLst/>
          </a:prstGeom>
          <a:noFill/>
        </p:spPr>
        <p:txBody>
          <a:bodyPr wrap="square" rtlCol="0">
            <a:spAutoFit/>
          </a:bodyPr>
          <a:lstStyle/>
          <a:p>
            <a:pPr marL="285750" indent="-285750">
              <a:buFont typeface="Wingdings" panose="05000000000000000000" pitchFamily="2" charset="2"/>
              <a:buChar char="ü"/>
            </a:pPr>
            <a:r>
              <a:rPr lang="es-CO" dirty="0"/>
              <a:t>Cada dispositivo o nodo comparte un enlace punto a punto y dedicado con el controlador central (concentrador)</a:t>
            </a:r>
          </a:p>
          <a:p>
            <a:pPr marL="285750" indent="-285750">
              <a:buFont typeface="Wingdings" panose="05000000000000000000" pitchFamily="2" charset="2"/>
              <a:buChar char="ü"/>
            </a:pPr>
            <a:r>
              <a:rPr lang="es-CO" dirty="0"/>
              <a:t>No permite el tráfico directo entre dispositivos</a:t>
            </a:r>
          </a:p>
          <a:p>
            <a:pPr marL="285750" indent="-285750">
              <a:buFont typeface="Wingdings" panose="05000000000000000000" pitchFamily="2" charset="2"/>
              <a:buChar char="ü"/>
            </a:pPr>
            <a:r>
              <a:rPr lang="es-CO" dirty="0"/>
              <a:t>Controlador = intercambiador</a:t>
            </a:r>
          </a:p>
          <a:p>
            <a:pPr marL="285750" indent="-285750">
              <a:buFont typeface="Wingdings" panose="05000000000000000000" pitchFamily="2" charset="2"/>
              <a:buChar char="ü"/>
            </a:pPr>
            <a:r>
              <a:rPr lang="es-CO" dirty="0"/>
              <a:t>Ventajas:</a:t>
            </a:r>
          </a:p>
          <a:p>
            <a:pPr marL="742950" lvl="1" indent="-285750">
              <a:buFont typeface="Wingdings" panose="05000000000000000000" pitchFamily="2" charset="2"/>
              <a:buChar char="ü"/>
            </a:pPr>
            <a:r>
              <a:rPr lang="es-CO" dirty="0"/>
              <a:t>Económicas</a:t>
            </a:r>
          </a:p>
          <a:p>
            <a:pPr marL="742950" lvl="1" indent="-285750">
              <a:buFont typeface="Wingdings" panose="05000000000000000000" pitchFamily="2" charset="2"/>
              <a:buChar char="ü"/>
            </a:pPr>
            <a:r>
              <a:rPr lang="es-CO" dirty="0"/>
              <a:t>Cada nodo solo necesita un puerto de E/S</a:t>
            </a:r>
          </a:p>
          <a:p>
            <a:pPr marL="742950" lvl="1" indent="-285750">
              <a:buFont typeface="Wingdings" panose="05000000000000000000" pitchFamily="2" charset="2"/>
              <a:buChar char="ü"/>
            </a:pPr>
            <a:r>
              <a:rPr lang="es-CO" dirty="0"/>
              <a:t>Solo se requiere un enlace por dispositivo</a:t>
            </a:r>
          </a:p>
          <a:p>
            <a:pPr marL="742950" lvl="1" indent="-285750">
              <a:buFont typeface="Wingdings" panose="05000000000000000000" pitchFamily="2" charset="2"/>
              <a:buChar char="ü"/>
            </a:pPr>
            <a:r>
              <a:rPr lang="es-CO" dirty="0"/>
              <a:t>Fácil instalación y reconfiguración</a:t>
            </a:r>
          </a:p>
          <a:p>
            <a:pPr marL="742950" lvl="1" indent="-285750">
              <a:buFont typeface="Wingdings" panose="05000000000000000000" pitchFamily="2" charset="2"/>
              <a:buChar char="ü"/>
            </a:pPr>
            <a:r>
              <a:rPr lang="es-CO" dirty="0"/>
              <a:t>Menos cableado que en malla, más que en las demás</a:t>
            </a:r>
          </a:p>
          <a:p>
            <a:pPr marL="742950" lvl="1" indent="-285750">
              <a:buFont typeface="Wingdings" panose="05000000000000000000" pitchFamily="2" charset="2"/>
              <a:buChar char="ü"/>
            </a:pPr>
            <a:r>
              <a:rPr lang="es-CO" dirty="0"/>
              <a:t>Fallas no simultaneas</a:t>
            </a:r>
          </a:p>
          <a:p>
            <a:pPr marL="285750" indent="-285750">
              <a:buFont typeface="Wingdings" panose="05000000000000000000" pitchFamily="2" charset="2"/>
              <a:buChar char="ü"/>
            </a:pPr>
            <a:r>
              <a:rPr lang="es-CO" dirty="0"/>
              <a:t>Desventajas:</a:t>
            </a:r>
          </a:p>
          <a:p>
            <a:pPr marL="742950" lvl="1" indent="-285750">
              <a:buFont typeface="Wingdings" panose="05000000000000000000" pitchFamily="2" charset="2"/>
              <a:buChar char="ü"/>
            </a:pPr>
            <a:r>
              <a:rPr lang="es-CO" dirty="0"/>
              <a:t>Fallas del concentrador</a:t>
            </a:r>
          </a:p>
          <a:p>
            <a:pPr lvl="1"/>
            <a:endParaRPr lang="es-CO" dirty="0"/>
          </a:p>
          <a:p>
            <a:pPr marL="285750" indent="-285750">
              <a:buFont typeface="Wingdings" panose="05000000000000000000" pitchFamily="2" charset="2"/>
              <a:buChar char="ü"/>
            </a:pPr>
            <a:r>
              <a:rPr lang="es-CO" b="1" dirty="0"/>
              <a:t>Ejemplo: </a:t>
            </a:r>
            <a:r>
              <a:rPr lang="es-CO" dirty="0"/>
              <a:t>Redes LAN (Local </a:t>
            </a:r>
            <a:r>
              <a:rPr lang="es-CO" dirty="0" err="1"/>
              <a:t>Area</a:t>
            </a:r>
            <a:r>
              <a:rPr lang="es-CO" dirty="0"/>
              <a:t> Network)</a:t>
            </a:r>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pic>
        <p:nvPicPr>
          <p:cNvPr id="4" name="Imagen 3">
            <a:extLst>
              <a:ext uri="{FF2B5EF4-FFF2-40B4-BE49-F238E27FC236}">
                <a16:creationId xmlns:a16="http://schemas.microsoft.com/office/drawing/2014/main" id="{CDFBE43D-6608-7822-4B7B-5B3EA96D3424}"/>
              </a:ext>
            </a:extLst>
          </p:cNvPr>
          <p:cNvPicPr>
            <a:picLocks noChangeAspect="1"/>
          </p:cNvPicPr>
          <p:nvPr/>
        </p:nvPicPr>
        <p:blipFill>
          <a:blip r:embed="rId3"/>
          <a:stretch>
            <a:fillRect/>
          </a:stretch>
        </p:blipFill>
        <p:spPr>
          <a:xfrm>
            <a:off x="6573520" y="2352674"/>
            <a:ext cx="4910667" cy="2762250"/>
          </a:xfrm>
          <a:prstGeom prst="rect">
            <a:avLst/>
          </a:prstGeom>
        </p:spPr>
      </p:pic>
    </p:spTree>
    <p:extLst>
      <p:ext uri="{BB962C8B-B14F-4D97-AF65-F5344CB8AC3E}">
        <p14:creationId xmlns:p14="http://schemas.microsoft.com/office/powerpoint/2010/main" val="3569304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Bus</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477520" y="1661797"/>
            <a:ext cx="10911840" cy="5355312"/>
          </a:xfrm>
          <a:prstGeom prst="rect">
            <a:avLst/>
          </a:prstGeom>
          <a:noFill/>
        </p:spPr>
        <p:txBody>
          <a:bodyPr wrap="square" rtlCol="0">
            <a:spAutoFit/>
          </a:bodyPr>
          <a:lstStyle/>
          <a:p>
            <a:pPr marL="285750" indent="-285750">
              <a:buFont typeface="Wingdings" panose="05000000000000000000" pitchFamily="2" charset="2"/>
              <a:buChar char="ü"/>
            </a:pPr>
            <a:r>
              <a:rPr lang="es-CO" dirty="0"/>
              <a:t>Multipunto</a:t>
            </a:r>
          </a:p>
          <a:p>
            <a:pPr marL="285750" indent="-285750">
              <a:buFont typeface="Wingdings" panose="05000000000000000000" pitchFamily="2" charset="2"/>
              <a:buChar char="ü"/>
            </a:pPr>
            <a:r>
              <a:rPr lang="es-CO" dirty="0"/>
              <a:t>Red troncal conecta todos los dispositivos</a:t>
            </a:r>
          </a:p>
          <a:p>
            <a:pPr marL="285750" indent="-285750">
              <a:buFont typeface="Wingdings" panose="05000000000000000000" pitchFamily="2" charset="2"/>
              <a:buChar char="ü"/>
            </a:pPr>
            <a:r>
              <a:rPr lang="es-CO" dirty="0"/>
              <a:t>Conexión al bus mediante latiguillos y sondas (conectores)</a:t>
            </a:r>
          </a:p>
          <a:p>
            <a:pPr marL="285750" indent="-285750">
              <a:buFont typeface="Wingdings" panose="05000000000000000000" pitchFamily="2" charset="2"/>
              <a:buChar char="ü"/>
            </a:pPr>
            <a:r>
              <a:rPr lang="es-CO" dirty="0"/>
              <a:t>Controlador = intercambiador</a:t>
            </a:r>
          </a:p>
          <a:p>
            <a:pPr marL="285750" indent="-285750">
              <a:buFont typeface="Wingdings" panose="05000000000000000000" pitchFamily="2" charset="2"/>
              <a:buChar char="ü"/>
            </a:pPr>
            <a:r>
              <a:rPr lang="es-CO" dirty="0"/>
              <a:t>Ventajas:</a:t>
            </a:r>
          </a:p>
          <a:p>
            <a:pPr marL="742950" lvl="1" indent="-285750">
              <a:buFont typeface="Wingdings" panose="05000000000000000000" pitchFamily="2" charset="2"/>
              <a:buChar char="ü"/>
            </a:pPr>
            <a:r>
              <a:rPr lang="es-CO" dirty="0"/>
              <a:t>Fácil instalación</a:t>
            </a:r>
          </a:p>
          <a:p>
            <a:pPr marL="742950" lvl="1" indent="-285750">
              <a:buFont typeface="Wingdings" panose="05000000000000000000" pitchFamily="2" charset="2"/>
              <a:buChar char="ü"/>
            </a:pPr>
            <a:r>
              <a:rPr lang="es-CO" dirty="0"/>
              <a:t>Menos cableado</a:t>
            </a:r>
          </a:p>
          <a:p>
            <a:pPr marL="742950" lvl="1" indent="-285750">
              <a:buFont typeface="Wingdings" panose="05000000000000000000" pitchFamily="2" charset="2"/>
              <a:buChar char="ü"/>
            </a:pPr>
            <a:r>
              <a:rPr lang="es-CO" dirty="0"/>
              <a:t>Fallas no simultaneas</a:t>
            </a:r>
          </a:p>
          <a:p>
            <a:pPr marL="285750" indent="-285750">
              <a:buFont typeface="Wingdings" panose="05000000000000000000" pitchFamily="2" charset="2"/>
              <a:buChar char="ü"/>
            </a:pPr>
            <a:r>
              <a:rPr lang="es-CO" dirty="0"/>
              <a:t>Desventajas:</a:t>
            </a:r>
          </a:p>
          <a:p>
            <a:pPr marL="742950" lvl="1" indent="-285750">
              <a:buFont typeface="Wingdings" panose="05000000000000000000" pitchFamily="2" charset="2"/>
              <a:buChar char="ü"/>
            </a:pPr>
            <a:r>
              <a:rPr lang="es-CO" dirty="0"/>
              <a:t>Pérdidas en forma de calor</a:t>
            </a:r>
          </a:p>
          <a:p>
            <a:pPr marL="742950" lvl="1" indent="-285750">
              <a:buFont typeface="Wingdings" panose="05000000000000000000" pitchFamily="2" charset="2"/>
              <a:buChar char="ü"/>
            </a:pPr>
            <a:r>
              <a:rPr lang="es-CO" dirty="0"/>
              <a:t>Número de conexiones permitidas, pérdidas de señal</a:t>
            </a:r>
          </a:p>
          <a:p>
            <a:pPr marL="742950" lvl="1" indent="-285750">
              <a:buFont typeface="Wingdings" panose="05000000000000000000" pitchFamily="2" charset="2"/>
              <a:buChar char="ü"/>
            </a:pPr>
            <a:r>
              <a:rPr lang="es-CO" dirty="0"/>
              <a:t>Difícil configuración y aislamiento de fallos</a:t>
            </a:r>
          </a:p>
          <a:p>
            <a:pPr marL="742950" lvl="1" indent="-285750">
              <a:buFont typeface="Wingdings" panose="05000000000000000000" pitchFamily="2" charset="2"/>
              <a:buChar char="ü"/>
            </a:pPr>
            <a:r>
              <a:rPr lang="es-CO" dirty="0"/>
              <a:t>Dificultad en la ampliación</a:t>
            </a:r>
          </a:p>
          <a:p>
            <a:pPr marL="742950" lvl="1" indent="-285750">
              <a:buFont typeface="Wingdings" panose="05000000000000000000" pitchFamily="2" charset="2"/>
              <a:buChar char="ü"/>
            </a:pPr>
            <a:r>
              <a:rPr lang="es-CO" dirty="0"/>
              <a:t>Daño en el bus implica daño en toda la red</a:t>
            </a:r>
          </a:p>
          <a:p>
            <a:pPr lvl="1"/>
            <a:endParaRPr lang="es-CO" dirty="0"/>
          </a:p>
          <a:p>
            <a:pPr marL="285750" indent="-285750">
              <a:buFont typeface="Wingdings" panose="05000000000000000000" pitchFamily="2" charset="2"/>
              <a:buChar char="ü"/>
            </a:pPr>
            <a:r>
              <a:rPr lang="es-CO" b="1" dirty="0"/>
              <a:t>Ejemplo: </a:t>
            </a:r>
            <a:r>
              <a:rPr lang="es-CO" dirty="0"/>
              <a:t>Redes LAN Ethernet</a:t>
            </a:r>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pic>
        <p:nvPicPr>
          <p:cNvPr id="4098" name="Picture 2" descr="Topología En Bus | informatica educativa">
            <a:extLst>
              <a:ext uri="{FF2B5EF4-FFF2-40B4-BE49-F238E27FC236}">
                <a16:creationId xmlns:a16="http://schemas.microsoft.com/office/drawing/2014/main" id="{8AF2B0D0-27BD-FBF3-D4C1-25DAE21AD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3897" y="2514280"/>
            <a:ext cx="5230583" cy="2681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8794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Anillo</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477520" y="1661797"/>
            <a:ext cx="11460480" cy="4247317"/>
          </a:xfrm>
          <a:prstGeom prst="rect">
            <a:avLst/>
          </a:prstGeom>
          <a:noFill/>
        </p:spPr>
        <p:txBody>
          <a:bodyPr wrap="square" rtlCol="0">
            <a:spAutoFit/>
          </a:bodyPr>
          <a:lstStyle/>
          <a:p>
            <a:pPr marL="285750" indent="-285750">
              <a:buFont typeface="Wingdings" panose="05000000000000000000" pitchFamily="2" charset="2"/>
              <a:buChar char="ü"/>
            </a:pPr>
            <a:r>
              <a:rPr lang="es-CO" dirty="0"/>
              <a:t>Cada dispositivo o nodo comparte un enlace punto a punto y dedicado con los dos dispositivos que están a sus lados</a:t>
            </a:r>
          </a:p>
          <a:p>
            <a:pPr marL="285750" indent="-285750">
              <a:buFont typeface="Wingdings" panose="05000000000000000000" pitchFamily="2" charset="2"/>
              <a:buChar char="ü"/>
            </a:pPr>
            <a:r>
              <a:rPr lang="es-CO" dirty="0"/>
              <a:t>Cada dispositivo identifica la señal, la regenera y vuelva a inyectarla a la red hasta alcanzar el dispositivo correcto</a:t>
            </a:r>
          </a:p>
          <a:p>
            <a:pPr marL="285750" indent="-285750">
              <a:buFont typeface="Wingdings" panose="05000000000000000000" pitchFamily="2" charset="2"/>
              <a:buChar char="ü"/>
            </a:pPr>
            <a:r>
              <a:rPr lang="es-CO" dirty="0"/>
              <a:t>Ventajas:</a:t>
            </a:r>
          </a:p>
          <a:p>
            <a:pPr marL="742950" lvl="1" indent="-285750">
              <a:buFont typeface="Wingdings" panose="05000000000000000000" pitchFamily="2" charset="2"/>
              <a:buChar char="ü"/>
            </a:pPr>
            <a:r>
              <a:rPr lang="es-CO" dirty="0"/>
              <a:t>Fácil instalación y reconfiguración</a:t>
            </a:r>
          </a:p>
          <a:p>
            <a:pPr marL="742950" lvl="1" indent="-285750">
              <a:buFont typeface="Wingdings" panose="05000000000000000000" pitchFamily="2" charset="2"/>
              <a:buChar char="ü"/>
            </a:pPr>
            <a:r>
              <a:rPr lang="es-CO" dirty="0"/>
              <a:t>Cada dispositivo enlazado con sus vecinos física o lógicamente</a:t>
            </a:r>
          </a:p>
          <a:p>
            <a:pPr marL="742950" lvl="1" indent="-285750">
              <a:buFont typeface="Wingdings" panose="05000000000000000000" pitchFamily="2" charset="2"/>
              <a:buChar char="ü"/>
            </a:pPr>
            <a:r>
              <a:rPr lang="es-CO" dirty="0"/>
              <a:t>Fácil retiro de equipos</a:t>
            </a:r>
          </a:p>
          <a:p>
            <a:pPr marL="742950" lvl="1" indent="-285750">
              <a:buFont typeface="Wingdings" panose="05000000000000000000" pitchFamily="2" charset="2"/>
              <a:buChar char="ü"/>
            </a:pPr>
            <a:r>
              <a:rPr lang="es-CO" dirty="0"/>
              <a:t>Fácil detección de fallas</a:t>
            </a:r>
          </a:p>
          <a:p>
            <a:pPr marL="285750" indent="-285750">
              <a:buFont typeface="Wingdings" panose="05000000000000000000" pitchFamily="2" charset="2"/>
              <a:buChar char="ü"/>
            </a:pPr>
            <a:r>
              <a:rPr lang="es-CO" dirty="0"/>
              <a:t>Desventajas:</a:t>
            </a:r>
          </a:p>
          <a:p>
            <a:pPr marL="742950" lvl="1" indent="-285750">
              <a:buFont typeface="Wingdings" panose="05000000000000000000" pitchFamily="2" charset="2"/>
              <a:buChar char="ü"/>
            </a:pPr>
            <a:r>
              <a:rPr lang="es-CO" dirty="0"/>
              <a:t>Tráfico unidireccional</a:t>
            </a:r>
          </a:p>
          <a:p>
            <a:pPr marL="742950" lvl="1" indent="-285750">
              <a:buFont typeface="Wingdings" panose="05000000000000000000" pitchFamily="2" charset="2"/>
              <a:buChar char="ü"/>
            </a:pPr>
            <a:r>
              <a:rPr lang="es-CO" dirty="0"/>
              <a:t>Baja velocidad</a:t>
            </a:r>
          </a:p>
          <a:p>
            <a:pPr lvl="1"/>
            <a:endParaRPr lang="es-CO" dirty="0"/>
          </a:p>
          <a:p>
            <a:pPr marL="285750" indent="-285750">
              <a:buFont typeface="Wingdings" panose="05000000000000000000" pitchFamily="2" charset="2"/>
              <a:buChar char="ü"/>
            </a:pPr>
            <a:r>
              <a:rPr lang="es-CO" b="1" dirty="0"/>
              <a:t>Ejemplo: </a:t>
            </a:r>
            <a:r>
              <a:rPr lang="es-CO" dirty="0"/>
              <a:t>Redes LAN Ethernet</a:t>
            </a:r>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pic>
        <p:nvPicPr>
          <p:cNvPr id="5122" name="Picture 2" descr="topologia-doble-anillo | DASC">
            <a:extLst>
              <a:ext uri="{FF2B5EF4-FFF2-40B4-BE49-F238E27FC236}">
                <a16:creationId xmlns:a16="http://schemas.microsoft.com/office/drawing/2014/main" id="{CB595B9E-4717-65E3-D10A-27E9D47C7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258" y="3126739"/>
            <a:ext cx="3370262" cy="3603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0562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Híbridas</a:t>
            </a:r>
          </a:p>
        </p:txBody>
      </p:sp>
      <p:pic>
        <p:nvPicPr>
          <p:cNvPr id="6146" name="Picture 2" descr="Topologías de red LAN – El Ingesor">
            <a:extLst>
              <a:ext uri="{FF2B5EF4-FFF2-40B4-BE49-F238E27FC236}">
                <a16:creationId xmlns:a16="http://schemas.microsoft.com/office/drawing/2014/main" id="{4A4289E5-0D98-12E8-9702-72A0F9A8EB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8780" y="1767523"/>
            <a:ext cx="5422900" cy="3923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659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fontScale="90000"/>
          </a:bodyPr>
          <a:lstStyle/>
          <a:p>
            <a:pPr algn="ctr"/>
            <a:r>
              <a:rPr lang="es-CO" sz="3600" b="1" dirty="0">
                <a:solidFill>
                  <a:schemeClr val="bg1"/>
                </a:solidFill>
              </a:rPr>
              <a:t>Modelos de red</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1076960" y="1929963"/>
            <a:ext cx="11460480" cy="4801314"/>
          </a:xfrm>
          <a:prstGeom prst="rect">
            <a:avLst/>
          </a:prstGeom>
          <a:noFill/>
        </p:spPr>
        <p:txBody>
          <a:bodyPr wrap="square" rtlCol="0">
            <a:spAutoFit/>
          </a:bodyPr>
          <a:lstStyle/>
          <a:p>
            <a:pPr marL="285750" indent="-285750">
              <a:buFont typeface="Wingdings" panose="05000000000000000000" pitchFamily="2" charset="2"/>
              <a:buChar char="ü"/>
            </a:pPr>
            <a:r>
              <a:rPr lang="es-CO" dirty="0"/>
              <a:t>Redes heterogéneas con necesidad de comunicarse entre sí</a:t>
            </a:r>
          </a:p>
          <a:p>
            <a:pPr marL="285750" indent="-285750">
              <a:buFont typeface="Wingdings" panose="05000000000000000000" pitchFamily="2" charset="2"/>
              <a:buChar char="ü"/>
            </a:pPr>
            <a:r>
              <a:rPr lang="es-CO" dirty="0"/>
              <a:t>Estándar OSI (Open </a:t>
            </a:r>
            <a:r>
              <a:rPr lang="es-CO" dirty="0" err="1"/>
              <a:t>Systems</a:t>
            </a:r>
            <a:r>
              <a:rPr lang="es-CO" dirty="0"/>
              <a:t> </a:t>
            </a:r>
            <a:r>
              <a:rPr lang="es-CO" dirty="0" err="1"/>
              <a:t>Interconnection</a:t>
            </a:r>
            <a:r>
              <a:rPr lang="es-CO" dirty="0"/>
              <a:t>) &lt;-&gt; red de 7 niveles</a:t>
            </a:r>
          </a:p>
          <a:p>
            <a:pPr marL="285750" indent="-285750">
              <a:buFont typeface="Wingdings" panose="05000000000000000000" pitchFamily="2" charset="2"/>
              <a:buChar char="ü"/>
            </a:pPr>
            <a:r>
              <a:rPr lang="es-CO" dirty="0"/>
              <a:t>Estándar Internet &lt;-&gt; red de 5 niveles</a:t>
            </a:r>
          </a:p>
          <a:p>
            <a:pPr marL="285750"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dirty="0"/>
          </a:p>
          <a:p>
            <a:pPr marL="285750" indent="-285750">
              <a:buFont typeface="Wingdings" panose="05000000000000000000" pitchFamily="2" charset="2"/>
              <a:buChar char="q"/>
            </a:pPr>
            <a:r>
              <a:rPr lang="es-CO" dirty="0"/>
              <a:t>Clases de redes:</a:t>
            </a:r>
          </a:p>
          <a:p>
            <a:pPr marL="285750" indent="-285750">
              <a:buFont typeface="Wingdings" panose="05000000000000000000" pitchFamily="2" charset="2"/>
              <a:buChar char="ü"/>
            </a:pPr>
            <a:r>
              <a:rPr lang="es-CO" dirty="0"/>
              <a:t>Redes de Área Local – LAN</a:t>
            </a:r>
          </a:p>
          <a:p>
            <a:pPr marL="285750" indent="-285750">
              <a:buFont typeface="Wingdings" panose="05000000000000000000" pitchFamily="2" charset="2"/>
              <a:buChar char="ü"/>
            </a:pPr>
            <a:r>
              <a:rPr lang="es-CO" dirty="0"/>
              <a:t>Redes de Área Extendida o Amplia – WAN</a:t>
            </a:r>
          </a:p>
          <a:p>
            <a:pPr marL="285750" indent="-285750">
              <a:buFont typeface="Wingdings" panose="05000000000000000000" pitchFamily="2" charset="2"/>
              <a:buChar char="ü"/>
            </a:pPr>
            <a:r>
              <a:rPr lang="es-CO" dirty="0"/>
              <a:t>Redes Metropolitanas – MAN</a:t>
            </a:r>
          </a:p>
          <a:p>
            <a:pPr marL="285750" indent="-285750">
              <a:buFont typeface="Wingdings" panose="05000000000000000000" pitchFamily="2" charset="2"/>
              <a:buChar char="ü"/>
            </a:pPr>
            <a:r>
              <a:rPr lang="es-CO" dirty="0"/>
              <a:t>Interredes</a:t>
            </a:r>
          </a:p>
          <a:p>
            <a:pPr marL="285750"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spTree>
    <p:extLst>
      <p:ext uri="{BB962C8B-B14F-4D97-AF65-F5344CB8AC3E}">
        <p14:creationId xmlns:p14="http://schemas.microsoft.com/office/powerpoint/2010/main" val="3851135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LAN</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1076960" y="1929963"/>
            <a:ext cx="11460480" cy="2585323"/>
          </a:xfrm>
          <a:prstGeom prst="rect">
            <a:avLst/>
          </a:prstGeom>
          <a:noFill/>
        </p:spPr>
        <p:txBody>
          <a:bodyPr wrap="square" rtlCol="0">
            <a:spAutoFit/>
          </a:bodyPr>
          <a:lstStyle/>
          <a:p>
            <a:pPr marL="285750" indent="-285750">
              <a:buFont typeface="Wingdings" panose="05000000000000000000" pitchFamily="2" charset="2"/>
              <a:buChar char="ü"/>
            </a:pPr>
            <a:r>
              <a:rPr lang="es-CO" dirty="0"/>
              <a:t>Local </a:t>
            </a:r>
            <a:r>
              <a:rPr lang="es-CO" dirty="0" err="1"/>
              <a:t>Area</a:t>
            </a:r>
            <a:r>
              <a:rPr lang="es-CO" dirty="0"/>
              <a:t> Network</a:t>
            </a:r>
          </a:p>
          <a:p>
            <a:pPr marL="285750" indent="-285750">
              <a:buFont typeface="Wingdings" panose="05000000000000000000" pitchFamily="2" charset="2"/>
              <a:buChar char="ü"/>
            </a:pPr>
            <a:r>
              <a:rPr lang="es-CO" dirty="0"/>
              <a:t>Red privada</a:t>
            </a:r>
          </a:p>
          <a:p>
            <a:pPr marL="285750" indent="-285750">
              <a:buFont typeface="Wingdings" panose="05000000000000000000" pitchFamily="2" charset="2"/>
              <a:buChar char="ü"/>
            </a:pPr>
            <a:r>
              <a:rPr lang="es-CO" dirty="0"/>
              <a:t>Conectar enlaces de oficinas, edificios, campus</a:t>
            </a:r>
          </a:p>
          <a:p>
            <a:pPr marL="285750" indent="-285750">
              <a:buFont typeface="Wingdings" panose="05000000000000000000" pitchFamily="2" charset="2"/>
              <a:buChar char="ü"/>
            </a:pPr>
            <a:r>
              <a:rPr lang="es-CO" dirty="0"/>
              <a:t>Pocos kilómetros</a:t>
            </a:r>
          </a:p>
          <a:p>
            <a:pPr marL="285750" indent="-285750">
              <a:buFont typeface="Wingdings" panose="05000000000000000000" pitchFamily="2" charset="2"/>
              <a:buChar char="ü"/>
            </a:pPr>
            <a:r>
              <a:rPr lang="es-CO" dirty="0"/>
              <a:t>Bus, anillo, estrella</a:t>
            </a:r>
          </a:p>
          <a:p>
            <a:pPr marL="285750" indent="-285750">
              <a:buFont typeface="Wingdings" panose="05000000000000000000" pitchFamily="2" charset="2"/>
              <a:buChar char="ü"/>
            </a:pPr>
            <a:r>
              <a:rPr lang="es-CO" dirty="0"/>
              <a:t>100 a 1000 Megabits por segundo (Mbps)</a:t>
            </a:r>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pic>
        <p:nvPicPr>
          <p:cNvPr id="7170" name="Picture 2" descr="LAN vs MAN vs WAN: ¿Cuál es la diferencia? | Comunidad FS">
            <a:extLst>
              <a:ext uri="{FF2B5EF4-FFF2-40B4-BE49-F238E27FC236}">
                <a16:creationId xmlns:a16="http://schemas.microsoft.com/office/drawing/2014/main" id="{DBF56E3C-E732-224B-C4A5-88D669404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760" y="1550117"/>
            <a:ext cx="5455920" cy="3757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993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WAN</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1076960" y="1929963"/>
            <a:ext cx="11460480" cy="2585323"/>
          </a:xfrm>
          <a:prstGeom prst="rect">
            <a:avLst/>
          </a:prstGeom>
          <a:noFill/>
        </p:spPr>
        <p:txBody>
          <a:bodyPr wrap="square" rtlCol="0">
            <a:spAutoFit/>
          </a:bodyPr>
          <a:lstStyle/>
          <a:p>
            <a:pPr marL="285750" indent="-285750">
              <a:buFont typeface="Wingdings" panose="05000000000000000000" pitchFamily="2" charset="2"/>
              <a:buChar char="ü"/>
            </a:pPr>
            <a:r>
              <a:rPr lang="es-CO" dirty="0"/>
              <a:t>Wide </a:t>
            </a:r>
            <a:r>
              <a:rPr lang="es-CO" dirty="0" err="1"/>
              <a:t>Area</a:t>
            </a:r>
            <a:r>
              <a:rPr lang="es-CO" dirty="0"/>
              <a:t> Network</a:t>
            </a:r>
          </a:p>
          <a:p>
            <a:pPr marL="285750" indent="-285750">
              <a:buFont typeface="Wingdings" panose="05000000000000000000" pitchFamily="2" charset="2"/>
              <a:buChar char="ü"/>
            </a:pPr>
            <a:r>
              <a:rPr lang="es-CO" dirty="0"/>
              <a:t>Simples y complejas</a:t>
            </a:r>
          </a:p>
          <a:p>
            <a:pPr marL="285750" indent="-285750">
              <a:buFont typeface="Wingdings" panose="05000000000000000000" pitchFamily="2" charset="2"/>
              <a:buChar char="ü"/>
            </a:pPr>
            <a:r>
              <a:rPr lang="es-CO" dirty="0"/>
              <a:t>WAN conmutada &lt;-&gt; Complejas, troncales</a:t>
            </a:r>
          </a:p>
          <a:p>
            <a:pPr marL="285750" indent="-285750">
              <a:buFont typeface="Wingdings" panose="05000000000000000000" pitchFamily="2" charset="2"/>
              <a:buChar char="ü"/>
            </a:pPr>
            <a:r>
              <a:rPr lang="es-CO" dirty="0"/>
              <a:t>WAN punto a punto &lt;-&gt; Complejas, troncales</a:t>
            </a:r>
          </a:p>
          <a:p>
            <a:pPr marL="285750" indent="-285750">
              <a:buFont typeface="Wingdings" panose="05000000000000000000" pitchFamily="2" charset="2"/>
              <a:buChar char="ü"/>
            </a:pPr>
            <a:endParaRPr lang="es-CO" dirty="0"/>
          </a:p>
          <a:p>
            <a:pPr marL="285750" indent="-285750">
              <a:buFont typeface="Wingdings" panose="05000000000000000000" pitchFamily="2" charset="2"/>
              <a:buChar char="ü"/>
            </a:pPr>
            <a:r>
              <a:rPr lang="es-CO" dirty="0"/>
              <a:t>Internet</a:t>
            </a:r>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pic>
        <p:nvPicPr>
          <p:cNvPr id="8194" name="Picture 2" descr="Redes WAN Inalámbricas WWAN o Wireless WAN Varias LAN">
            <a:extLst>
              <a:ext uri="{FF2B5EF4-FFF2-40B4-BE49-F238E27FC236}">
                <a16:creationId xmlns:a16="http://schemas.microsoft.com/office/drawing/2014/main" id="{B256D968-EF39-1FDB-BAD2-A170470EC0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6365" y="1623273"/>
            <a:ext cx="4054368" cy="3611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7204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MAN</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1076960" y="1929963"/>
            <a:ext cx="11460480" cy="2031325"/>
          </a:xfrm>
          <a:prstGeom prst="rect">
            <a:avLst/>
          </a:prstGeom>
          <a:noFill/>
        </p:spPr>
        <p:txBody>
          <a:bodyPr wrap="square" rtlCol="0">
            <a:spAutoFit/>
          </a:bodyPr>
          <a:lstStyle/>
          <a:p>
            <a:pPr marL="285750" indent="-285750">
              <a:buFont typeface="Wingdings" panose="05000000000000000000" pitchFamily="2" charset="2"/>
              <a:buChar char="ü"/>
            </a:pPr>
            <a:r>
              <a:rPr lang="es-CO" dirty="0" err="1"/>
              <a:t>Metropolitan</a:t>
            </a:r>
            <a:r>
              <a:rPr lang="es-CO" dirty="0"/>
              <a:t> </a:t>
            </a:r>
            <a:r>
              <a:rPr lang="es-CO" dirty="0" err="1"/>
              <a:t>Area</a:t>
            </a:r>
            <a:r>
              <a:rPr lang="es-CO" dirty="0"/>
              <a:t> Network</a:t>
            </a:r>
          </a:p>
          <a:p>
            <a:pPr marL="285750" indent="-285750">
              <a:buFont typeface="Wingdings" panose="05000000000000000000" pitchFamily="2" charset="2"/>
              <a:buChar char="ü"/>
            </a:pPr>
            <a:r>
              <a:rPr lang="es-CO" dirty="0"/>
              <a:t>Intermedias</a:t>
            </a:r>
          </a:p>
          <a:p>
            <a:pPr marL="285750" indent="-285750">
              <a:buFont typeface="Wingdings" panose="05000000000000000000" pitchFamily="2" charset="2"/>
              <a:buChar char="ü"/>
            </a:pPr>
            <a:r>
              <a:rPr lang="es-CO" dirty="0"/>
              <a:t>Clientes con altas necesidades de velocidad</a:t>
            </a:r>
          </a:p>
          <a:p>
            <a:pPr marL="285750" indent="-285750">
              <a:buFont typeface="Wingdings" panose="05000000000000000000" pitchFamily="2" charset="2"/>
              <a:buChar char="ü"/>
            </a:pPr>
            <a:r>
              <a:rPr lang="es-CO" dirty="0"/>
              <a:t>Red de TV para proporcionar conectividad a internet</a:t>
            </a:r>
          </a:p>
          <a:p>
            <a:pPr lvl="1"/>
            <a:endParaRPr lang="es-CO" dirty="0"/>
          </a:p>
          <a:p>
            <a:pPr marL="285750" indent="-285750">
              <a:buFont typeface="Wingdings" panose="05000000000000000000" pitchFamily="2" charset="2"/>
              <a:buChar char="ü"/>
            </a:pPr>
            <a:endParaRPr lang="es-CO" dirty="0"/>
          </a:p>
          <a:p>
            <a:endParaRPr lang="es-CO" b="1" dirty="0"/>
          </a:p>
        </p:txBody>
      </p:sp>
      <p:pic>
        <p:nvPicPr>
          <p:cNvPr id="9218" name="Picture 2" descr="Red de área metropolitana - Wikipedia, la enciclopedia libre">
            <a:extLst>
              <a:ext uri="{FF2B5EF4-FFF2-40B4-BE49-F238E27FC236}">
                <a16:creationId xmlns:a16="http://schemas.microsoft.com/office/drawing/2014/main" id="{E9B1AD73-E0E6-83FB-9050-D944206752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275" y="1757681"/>
            <a:ext cx="5252085" cy="333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7884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Internet</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985520" y="2803723"/>
            <a:ext cx="11460480" cy="2031325"/>
          </a:xfrm>
          <a:prstGeom prst="rect">
            <a:avLst/>
          </a:prstGeom>
          <a:noFill/>
        </p:spPr>
        <p:txBody>
          <a:bodyPr wrap="square" rtlCol="0">
            <a:spAutoFit/>
          </a:bodyPr>
          <a:lstStyle/>
          <a:p>
            <a:pPr lvl="1"/>
            <a:r>
              <a:rPr lang="es-CO" dirty="0"/>
              <a:t>¿Cómo sería una vida sin internet?, ¿Qué cambiaría?</a:t>
            </a:r>
          </a:p>
          <a:p>
            <a:pPr lvl="1"/>
            <a:endParaRPr lang="es-CO" dirty="0"/>
          </a:p>
          <a:p>
            <a:pPr marL="742950" lvl="1" indent="-285750">
              <a:buFont typeface="Wingdings" panose="05000000000000000000" pitchFamily="2" charset="2"/>
              <a:buChar char="ü"/>
            </a:pPr>
            <a:r>
              <a:rPr lang="es-CO" dirty="0"/>
              <a:t>Enliste 15 actividades finales que no podría hacer sin el uso del internet</a:t>
            </a:r>
          </a:p>
          <a:p>
            <a:pPr lvl="1"/>
            <a:endParaRPr lang="es-CO" dirty="0"/>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spTree>
    <p:extLst>
      <p:ext uri="{BB962C8B-B14F-4D97-AF65-F5344CB8AC3E}">
        <p14:creationId xmlns:p14="http://schemas.microsoft.com/office/powerpoint/2010/main" val="1381138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Internet</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223520" y="1604843"/>
            <a:ext cx="10160000" cy="5078313"/>
          </a:xfrm>
          <a:prstGeom prst="rect">
            <a:avLst/>
          </a:prstGeom>
          <a:noFill/>
        </p:spPr>
        <p:txBody>
          <a:bodyPr wrap="square" rtlCol="0">
            <a:spAutoFit/>
          </a:bodyPr>
          <a:lstStyle/>
          <a:p>
            <a:pPr lvl="1"/>
            <a:endParaRPr lang="es-CO" dirty="0"/>
          </a:p>
          <a:p>
            <a:pPr lvl="1"/>
            <a:endParaRPr lang="es-CO" dirty="0"/>
          </a:p>
          <a:p>
            <a:pPr lvl="1"/>
            <a:endParaRPr lang="es-CO" dirty="0"/>
          </a:p>
          <a:p>
            <a:pPr marL="742950" lvl="1" indent="-285750">
              <a:buFont typeface="Wingdings" panose="05000000000000000000" pitchFamily="2" charset="2"/>
              <a:buChar char="ü"/>
            </a:pPr>
            <a:r>
              <a:rPr lang="es-CO" dirty="0"/>
              <a:t>Enriquecido la comunicación y organizado para su uso</a:t>
            </a:r>
          </a:p>
          <a:p>
            <a:pPr marL="742950" lvl="1" indent="-285750">
              <a:buFont typeface="Wingdings" panose="05000000000000000000" pitchFamily="2" charset="2"/>
              <a:buChar char="ü"/>
            </a:pPr>
            <a:r>
              <a:rPr lang="es-CO" dirty="0"/>
              <a:t>Internet: red de redes</a:t>
            </a:r>
          </a:p>
          <a:p>
            <a:pPr marL="742950" lvl="1" indent="-285750">
              <a:buFont typeface="Wingdings" panose="05000000000000000000" pitchFamily="2" charset="2"/>
              <a:buChar char="ü"/>
            </a:pPr>
            <a:r>
              <a:rPr lang="es-CO" dirty="0"/>
              <a:t>Fundación: 1969</a:t>
            </a:r>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v"/>
            </a:pPr>
            <a:r>
              <a:rPr lang="es-CO" dirty="0"/>
              <a:t>Ejercicio: dibuje una red heterogénea conformada por cinco WAN y cuatro LAN, explique sus usos y finalidades</a:t>
            </a:r>
          </a:p>
          <a:p>
            <a:pPr lvl="1"/>
            <a:endParaRPr lang="es-CO" dirty="0"/>
          </a:p>
          <a:p>
            <a:pPr marL="742950" lvl="1" indent="-285750">
              <a:buFont typeface="Wingdings" panose="05000000000000000000" pitchFamily="2" charset="2"/>
              <a:buChar char="ü"/>
            </a:pPr>
            <a:endParaRPr lang="es-CO" dirty="0"/>
          </a:p>
          <a:p>
            <a:pPr marL="285750" indent="-285750">
              <a:buFont typeface="Wingdings" panose="05000000000000000000" pitchFamily="2" charset="2"/>
              <a:buChar char="ü"/>
            </a:pPr>
            <a:endParaRPr lang="es-CO" dirty="0"/>
          </a:p>
          <a:p>
            <a:endParaRPr lang="es-CO" b="1" dirty="0"/>
          </a:p>
        </p:txBody>
      </p:sp>
    </p:spTree>
    <p:extLst>
      <p:ext uri="{BB962C8B-B14F-4D97-AF65-F5344CB8AC3E}">
        <p14:creationId xmlns:p14="http://schemas.microsoft.com/office/powerpoint/2010/main" val="3676137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Actualidad</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223520" y="1604843"/>
            <a:ext cx="11460480" cy="4524315"/>
          </a:xfrm>
          <a:prstGeom prst="rect">
            <a:avLst/>
          </a:prstGeom>
          <a:noFill/>
        </p:spPr>
        <p:txBody>
          <a:bodyPr wrap="square" rtlCol="0">
            <a:spAutoFit/>
          </a:bodyPr>
          <a:lstStyle/>
          <a:p>
            <a:pPr lvl="1"/>
            <a:endParaRPr lang="es-CO" dirty="0"/>
          </a:p>
          <a:p>
            <a:pPr lvl="1"/>
            <a:r>
              <a:rPr lang="es-CO" dirty="0"/>
              <a:t>Protocolo de Interconexión TCP/IP</a:t>
            </a:r>
          </a:p>
          <a:p>
            <a:r>
              <a:rPr lang="es-CO" dirty="0"/>
              <a:t>																Transmisión Control </a:t>
            </a:r>
            <a:r>
              <a:rPr lang="es-CO" dirty="0" err="1"/>
              <a:t>Protocol</a:t>
            </a:r>
            <a:r>
              <a:rPr lang="es-CO" dirty="0"/>
              <a:t> -TCP</a:t>
            </a:r>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3943350" lvl="8" indent="-285750">
              <a:buFont typeface="Wingdings" panose="05000000000000000000" pitchFamily="2" charset="2"/>
              <a:buChar char="ü"/>
            </a:pPr>
            <a:r>
              <a:rPr lang="es-CO" dirty="0"/>
              <a:t>Encapsulamiento</a:t>
            </a:r>
          </a:p>
          <a:p>
            <a:pPr marL="3943350" lvl="8" indent="-285750">
              <a:buFont typeface="Wingdings" panose="05000000000000000000" pitchFamily="2" charset="2"/>
              <a:buChar char="ü"/>
            </a:pPr>
            <a:r>
              <a:rPr lang="es-CO" dirty="0"/>
              <a:t>Datagrama</a:t>
            </a:r>
          </a:p>
          <a:p>
            <a:pPr marL="3943350" lvl="8" indent="-285750">
              <a:buFont typeface="Wingdings" panose="05000000000000000000" pitchFamily="2" charset="2"/>
              <a:buChar char="ü"/>
            </a:pPr>
            <a:r>
              <a:rPr lang="es-CO" dirty="0"/>
              <a:t>Gateway (pasarela)</a:t>
            </a:r>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lvl="1"/>
            <a:endParaRPr lang="es-CO" dirty="0"/>
          </a:p>
          <a:p>
            <a:pPr marL="742950" lvl="1" indent="-285750">
              <a:buFont typeface="Wingdings" panose="05000000000000000000" pitchFamily="2" charset="2"/>
              <a:buChar char="ü"/>
            </a:pPr>
            <a:endParaRPr lang="es-CO" dirty="0"/>
          </a:p>
          <a:p>
            <a:pPr lvl="7"/>
            <a:r>
              <a:rPr lang="es-CO" dirty="0"/>
              <a:t>   TCP	                 IP (</a:t>
            </a:r>
            <a:r>
              <a:rPr lang="es-CO" dirty="0" err="1"/>
              <a:t>Internetworking</a:t>
            </a:r>
            <a:r>
              <a:rPr lang="es-CO" dirty="0"/>
              <a:t> </a:t>
            </a:r>
            <a:r>
              <a:rPr lang="es-CO" dirty="0" err="1"/>
              <a:t>Protocol</a:t>
            </a:r>
            <a:r>
              <a:rPr lang="es-CO" dirty="0"/>
              <a:t>)</a:t>
            </a:r>
          </a:p>
          <a:p>
            <a:endParaRPr lang="es-CO" b="1" dirty="0"/>
          </a:p>
        </p:txBody>
      </p:sp>
      <p:cxnSp>
        <p:nvCxnSpPr>
          <p:cNvPr id="4" name="Conector recto de flecha 3">
            <a:extLst>
              <a:ext uri="{FF2B5EF4-FFF2-40B4-BE49-F238E27FC236}">
                <a16:creationId xmlns:a16="http://schemas.microsoft.com/office/drawing/2014/main" id="{FA955D90-EAB0-4BCF-4855-BE853FB54A9F}"/>
              </a:ext>
            </a:extLst>
          </p:cNvPr>
          <p:cNvCxnSpPr/>
          <p:nvPr/>
        </p:nvCxnSpPr>
        <p:spPr>
          <a:xfrm>
            <a:off x="5069840" y="2804160"/>
            <a:ext cx="0" cy="721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11B2729E-23DF-CBB6-6D1B-1086C7C07BF2}"/>
              </a:ext>
            </a:extLst>
          </p:cNvPr>
          <p:cNvCxnSpPr>
            <a:cxnSpLocks/>
          </p:cNvCxnSpPr>
          <p:nvPr/>
        </p:nvCxnSpPr>
        <p:spPr>
          <a:xfrm>
            <a:off x="5293360" y="4572000"/>
            <a:ext cx="57912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D9FD8FDC-8ABC-5DC9-DC69-5FEAED69D8D3}"/>
              </a:ext>
            </a:extLst>
          </p:cNvPr>
          <p:cNvCxnSpPr>
            <a:cxnSpLocks/>
          </p:cNvCxnSpPr>
          <p:nvPr/>
        </p:nvCxnSpPr>
        <p:spPr>
          <a:xfrm flipH="1">
            <a:off x="3820160" y="4572000"/>
            <a:ext cx="7112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6524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a:bodyPr>
          <a:lstStyle/>
          <a:p>
            <a:pPr algn="ctr"/>
            <a:r>
              <a:rPr lang="es-CO" sz="3600" b="1" dirty="0">
                <a:solidFill>
                  <a:schemeClr val="bg1"/>
                </a:solidFill>
              </a:rPr>
              <a:t>TCP/IP</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223520" y="1604843"/>
            <a:ext cx="11460480" cy="2031325"/>
          </a:xfrm>
          <a:prstGeom prst="rect">
            <a:avLst/>
          </a:prstGeom>
          <a:noFill/>
        </p:spPr>
        <p:txBody>
          <a:bodyPr wrap="square" rtlCol="0">
            <a:spAutoFit/>
          </a:bodyPr>
          <a:lstStyle/>
          <a:p>
            <a:pPr lvl="1"/>
            <a:endParaRPr lang="es-CO" dirty="0"/>
          </a:p>
          <a:p>
            <a:pPr lvl="1"/>
            <a:r>
              <a:rPr lang="es-CO" dirty="0"/>
              <a:t>IP: Enrutamiento de diagramas</a:t>
            </a:r>
          </a:p>
          <a:p>
            <a:pPr lvl="1"/>
            <a:r>
              <a:rPr lang="es-CO" dirty="0"/>
              <a:t>TCP: Segmentación, reagrupamiento, detección de errores</a:t>
            </a:r>
          </a:p>
          <a:p>
            <a:pPr lvl="1"/>
            <a:r>
              <a:rPr lang="es-CO" dirty="0"/>
              <a:t>ISP: Internet </a:t>
            </a:r>
            <a:r>
              <a:rPr lang="es-CO" dirty="0" err="1"/>
              <a:t>Service</a:t>
            </a:r>
            <a:r>
              <a:rPr lang="es-CO" dirty="0"/>
              <a:t> </a:t>
            </a:r>
            <a:r>
              <a:rPr lang="es-CO" dirty="0" err="1"/>
              <a:t>Provider</a:t>
            </a:r>
            <a:r>
              <a:rPr lang="es-CO" dirty="0"/>
              <a:t> (Internacionales, Nacionales, Regionales)</a:t>
            </a:r>
          </a:p>
          <a:p>
            <a:pPr lvl="1"/>
            <a:r>
              <a:rPr lang="es-CO" dirty="0"/>
              <a:t>NAP: Network Access Point – Interconexión entre redes troncales (proveedores)</a:t>
            </a:r>
          </a:p>
          <a:p>
            <a:r>
              <a:rPr lang="es-CO" dirty="0"/>
              <a:t>																</a:t>
            </a:r>
            <a:endParaRPr lang="es-CO" b="1" dirty="0"/>
          </a:p>
        </p:txBody>
      </p:sp>
      <p:pic>
        <p:nvPicPr>
          <p:cNvPr id="1026" name="Picture 2" descr="ISP SOLUTIONS – Foli Networks">
            <a:extLst>
              <a:ext uri="{FF2B5EF4-FFF2-40B4-BE49-F238E27FC236}">
                <a16:creationId xmlns:a16="http://schemas.microsoft.com/office/drawing/2014/main" id="{03C94196-FE5D-B704-25DF-463B68ABD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760" y="3374934"/>
            <a:ext cx="4635416" cy="3279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9472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fontScale="90000"/>
          </a:bodyPr>
          <a:lstStyle/>
          <a:p>
            <a:pPr algn="ctr"/>
            <a:r>
              <a:rPr lang="es-CO" sz="3600" b="1" dirty="0">
                <a:solidFill>
                  <a:schemeClr val="bg1"/>
                </a:solidFill>
              </a:rPr>
              <a:t>Protocolos y estándares</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223520" y="1604843"/>
            <a:ext cx="11460480" cy="3970318"/>
          </a:xfrm>
          <a:prstGeom prst="rect">
            <a:avLst/>
          </a:prstGeom>
          <a:noFill/>
        </p:spPr>
        <p:txBody>
          <a:bodyPr wrap="square" rtlCol="0">
            <a:spAutoFit/>
          </a:bodyPr>
          <a:lstStyle/>
          <a:p>
            <a:pPr lvl="1"/>
            <a:endParaRPr lang="es-CO" dirty="0"/>
          </a:p>
          <a:p>
            <a:pPr lvl="1"/>
            <a:r>
              <a:rPr lang="es-CO" dirty="0"/>
              <a:t>Protocolo: Reglas</a:t>
            </a:r>
          </a:p>
          <a:p>
            <a:pPr lvl="1"/>
            <a:r>
              <a:rPr lang="es-CO" dirty="0"/>
              <a:t>Estándares: Reglas sobre las que hay un acuerdo – específicas</a:t>
            </a:r>
          </a:p>
          <a:p>
            <a:pPr lvl="1"/>
            <a:endParaRPr lang="es-CO" dirty="0"/>
          </a:p>
          <a:p>
            <a:pPr lvl="1"/>
            <a:r>
              <a:rPr lang="es-CO" dirty="0"/>
              <a:t>Un protocolo define que se comunica, cómo se comunica y cuándo se comunica. Los elementos claves son:</a:t>
            </a:r>
          </a:p>
          <a:p>
            <a:pPr lvl="1"/>
            <a:endParaRPr lang="es-CO" dirty="0"/>
          </a:p>
          <a:p>
            <a:pPr marL="742950" lvl="1" indent="-285750">
              <a:buFont typeface="Wingdings" panose="05000000000000000000" pitchFamily="2" charset="2"/>
              <a:buChar char="ü"/>
            </a:pPr>
            <a:r>
              <a:rPr lang="es-CO" dirty="0"/>
              <a:t>Sintaxis: Estructura del formato de los datos – organización de los bits</a:t>
            </a:r>
          </a:p>
          <a:p>
            <a:pPr marL="742950" lvl="1" indent="-285750">
              <a:buFont typeface="Wingdings" panose="05000000000000000000" pitchFamily="2" charset="2"/>
              <a:buChar char="ü"/>
            </a:pPr>
            <a:r>
              <a:rPr lang="es-CO" dirty="0"/>
              <a:t>Semántica: Significado de cada sección de bits</a:t>
            </a:r>
          </a:p>
          <a:p>
            <a:pPr marL="742950" lvl="1" indent="-285750">
              <a:buFont typeface="Wingdings" panose="05000000000000000000" pitchFamily="2" charset="2"/>
              <a:buChar char="ü"/>
            </a:pPr>
            <a:r>
              <a:rPr lang="es-CO" dirty="0"/>
              <a:t>Temporización: Cómo y con qué rapidez se deberían enviar los datos </a:t>
            </a:r>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v"/>
            </a:pPr>
            <a:r>
              <a:rPr lang="es-CO" dirty="0"/>
              <a:t>Si un emisor produce datos a una velocidad de 100Mbps (Megabits por segundo), pero el receptor puede procesar datos solamente a 1 Mbps, la transmisión sobrecarga al receptor y se perderán gran cantidad de datos.															</a:t>
            </a:r>
            <a:endParaRPr lang="es-CO" b="1" dirty="0"/>
          </a:p>
        </p:txBody>
      </p:sp>
    </p:spTree>
    <p:extLst>
      <p:ext uri="{BB962C8B-B14F-4D97-AF65-F5344CB8AC3E}">
        <p14:creationId xmlns:p14="http://schemas.microsoft.com/office/powerpoint/2010/main" val="42534672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274320" y="142240"/>
            <a:ext cx="2519680" cy="1037545"/>
          </a:xfrm>
        </p:spPr>
        <p:txBody>
          <a:bodyPr>
            <a:normAutofit fontScale="90000"/>
          </a:bodyPr>
          <a:lstStyle/>
          <a:p>
            <a:pPr algn="ctr"/>
            <a:r>
              <a:rPr lang="es-CO" sz="3600" b="1" dirty="0">
                <a:solidFill>
                  <a:schemeClr val="bg1"/>
                </a:solidFill>
              </a:rPr>
              <a:t>Protocolos y estándares</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223520" y="1604843"/>
            <a:ext cx="11460480" cy="4801314"/>
          </a:xfrm>
          <a:prstGeom prst="rect">
            <a:avLst/>
          </a:prstGeom>
          <a:noFill/>
        </p:spPr>
        <p:txBody>
          <a:bodyPr wrap="square" rtlCol="0">
            <a:spAutoFit/>
          </a:bodyPr>
          <a:lstStyle/>
          <a:p>
            <a:pPr lvl="1"/>
            <a:r>
              <a:rPr lang="es-CO" dirty="0"/>
              <a:t>Los estándares son esenciales para crear y mantener un mercado abierto y competitivo entre los fabricantes de los equipos y garantizar la interoperabilidad. Puedes clasificarse en dos categorías:</a:t>
            </a:r>
          </a:p>
          <a:p>
            <a:pPr lvl="1"/>
            <a:endParaRPr lang="es-CO" dirty="0"/>
          </a:p>
          <a:p>
            <a:pPr marL="742950" lvl="1" indent="-285750">
              <a:buFont typeface="Wingdings" panose="05000000000000000000" pitchFamily="2" charset="2"/>
              <a:buChar char="ü"/>
            </a:pPr>
            <a:r>
              <a:rPr lang="es-CO" dirty="0"/>
              <a:t>De facto: no han sido aprobados por un cuerpo organizado pero presentan gran difusión.</a:t>
            </a:r>
          </a:p>
          <a:p>
            <a:pPr marL="742950" lvl="1" indent="-285750">
              <a:buFont typeface="Wingdings" panose="05000000000000000000" pitchFamily="2" charset="2"/>
              <a:buChar char="ü"/>
            </a:pPr>
            <a:r>
              <a:rPr lang="es-CO" dirty="0"/>
              <a:t>De jure: legislados por un organismo oficialmente reconocido.</a:t>
            </a:r>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ü"/>
            </a:pPr>
            <a:endParaRPr lang="es-CO" dirty="0"/>
          </a:p>
          <a:p>
            <a:pPr marL="742950" lvl="1" indent="-285750">
              <a:buFont typeface="Wingdings" panose="05000000000000000000" pitchFamily="2" charset="2"/>
              <a:buChar char="v"/>
            </a:pPr>
            <a:r>
              <a:rPr lang="es-CO" dirty="0"/>
              <a:t>En parejas, imaginen que ambos trabajan para la misma compañía deportiva con sede en varios países del mundo; el gerente deportivo les solicita a ambos, ubicados en países distintos, la tarea de comunicar diariamente todas estadísticas de los encuentros deportivos aplicando el uso de protocolos y estándares de comunicación. Con su compañero, defina el deporte, las estadísticas del encuentro, la sintaxis, semántica y temporización.											</a:t>
            </a:r>
            <a:endParaRPr lang="es-CO" b="1" dirty="0"/>
          </a:p>
          <a:p>
            <a:pPr marL="742950" lvl="1" indent="-285750">
              <a:buFont typeface="Wingdings" panose="05000000000000000000" pitchFamily="2" charset="2"/>
              <a:buChar char="ü"/>
            </a:pPr>
            <a:endParaRPr lang="es-CO" dirty="0"/>
          </a:p>
          <a:p>
            <a:pPr lvl="1"/>
            <a:r>
              <a:rPr lang="es-CO" dirty="0"/>
              <a:t>															</a:t>
            </a:r>
            <a:endParaRPr lang="es-CO" b="1" dirty="0"/>
          </a:p>
        </p:txBody>
      </p:sp>
    </p:spTree>
    <p:extLst>
      <p:ext uri="{BB962C8B-B14F-4D97-AF65-F5344CB8AC3E}">
        <p14:creationId xmlns:p14="http://schemas.microsoft.com/office/powerpoint/2010/main" val="21062616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10" name="CuadroTexto 9">
            <a:extLst>
              <a:ext uri="{FF2B5EF4-FFF2-40B4-BE49-F238E27FC236}">
                <a16:creationId xmlns:a16="http://schemas.microsoft.com/office/drawing/2014/main" id="{47027ED9-401B-4751-FEF1-AFB5022D98C9}"/>
              </a:ext>
            </a:extLst>
          </p:cNvPr>
          <p:cNvSpPr txBox="1"/>
          <p:nvPr/>
        </p:nvSpPr>
        <p:spPr>
          <a:xfrm>
            <a:off x="1819407" y="2881552"/>
            <a:ext cx="9265536" cy="2031325"/>
          </a:xfrm>
          <a:prstGeom prst="rect">
            <a:avLst/>
          </a:prstGeom>
          <a:noFill/>
        </p:spPr>
        <p:txBody>
          <a:bodyPr wrap="square" rtlCol="0">
            <a:spAutoFit/>
          </a:bodyPr>
          <a:lstStyle/>
          <a:p>
            <a:pPr lvl="1"/>
            <a:r>
              <a:rPr lang="es-CO" dirty="0"/>
              <a:t>¿Es importante la detección de errores en la transmisión de datos?</a:t>
            </a:r>
          </a:p>
          <a:p>
            <a:pPr lvl="1"/>
            <a:endParaRPr lang="es-CO" dirty="0"/>
          </a:p>
          <a:p>
            <a:pPr marL="742950" lvl="1" indent="-285750">
              <a:buFont typeface="Wingdings" panose="05000000000000000000" pitchFamily="2" charset="2"/>
              <a:buChar char="v"/>
            </a:pPr>
            <a:r>
              <a:rPr lang="es-CO" dirty="0"/>
              <a:t>En su trabajo, ¿que implicaría un error en la transmisión?, plantee la situación. 										</a:t>
            </a:r>
            <a:endParaRPr lang="es-CO" b="1" dirty="0"/>
          </a:p>
          <a:p>
            <a:pPr marL="742950" lvl="1" indent="-285750">
              <a:buFont typeface="Wingdings" panose="05000000000000000000" pitchFamily="2" charset="2"/>
              <a:buChar char="ü"/>
            </a:pPr>
            <a:endParaRPr lang="es-CO" dirty="0"/>
          </a:p>
          <a:p>
            <a:pPr lvl="1"/>
            <a:r>
              <a:rPr lang="es-CO" dirty="0"/>
              <a:t>															</a:t>
            </a:r>
            <a:endParaRPr lang="es-CO" b="1" dirty="0"/>
          </a:p>
        </p:txBody>
      </p:sp>
    </p:spTree>
    <p:extLst>
      <p:ext uri="{BB962C8B-B14F-4D97-AF65-F5344CB8AC3E}">
        <p14:creationId xmlns:p14="http://schemas.microsoft.com/office/powerpoint/2010/main" val="6226856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3" name="Rectangle 1">
            <a:extLst>
              <a:ext uri="{FF2B5EF4-FFF2-40B4-BE49-F238E27FC236}">
                <a16:creationId xmlns:a16="http://schemas.microsoft.com/office/drawing/2014/main" id="{0B38A8F3-72F6-3D5D-2C81-BE661DB3E387}"/>
              </a:ext>
            </a:extLst>
          </p:cNvPr>
          <p:cNvSpPr>
            <a:spLocks noChangeArrowheads="1"/>
          </p:cNvSpPr>
          <p:nvPr/>
        </p:nvSpPr>
        <p:spPr bwMode="auto">
          <a:xfrm>
            <a:off x="645055" y="1676279"/>
            <a:ext cx="968939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dirty="0"/>
              <a:t>La detección de errores en la transmisión de datos es crucial para asegurar la integridad de la </a:t>
            </a:r>
            <a:r>
              <a:rPr lang="es-CO" altLang="es-CO" dirty="0"/>
              <a:t>información en sistemas de comunicación. Algunas de las técnicas más comunes utilizadas para detectar errores durante la transmisión de datos son:</a:t>
            </a:r>
          </a:p>
          <a:p>
            <a:pPr marL="0" marR="0" lvl="0" indent="0" algn="l" defTabSz="914400" rtl="0" eaLnBrk="0" fontAlgn="base" latinLnBrk="0" hangingPunct="0">
              <a:lnSpc>
                <a:spcPct val="100000"/>
              </a:lnSpc>
              <a:spcBef>
                <a:spcPct val="0"/>
              </a:spcBef>
              <a:spcAft>
                <a:spcPct val="0"/>
              </a:spcAft>
              <a:buClrTx/>
              <a:buSzTx/>
              <a:buFontTx/>
              <a:buNone/>
              <a:tabLst/>
            </a:pPr>
            <a:endParaRPr lang="es-CO" altLang="es-CO" dirty="0"/>
          </a:p>
          <a:p>
            <a:pPr marL="0" marR="0" lvl="0" indent="0" algn="just" defTabSz="914400" rtl="0" eaLnBrk="0" fontAlgn="base" latinLnBrk="0" hangingPunct="0">
              <a:lnSpc>
                <a:spcPct val="100000"/>
              </a:lnSpc>
              <a:spcBef>
                <a:spcPct val="0"/>
              </a:spcBef>
              <a:spcAft>
                <a:spcPct val="0"/>
              </a:spcAft>
              <a:buClrTx/>
              <a:buSzTx/>
              <a:buFontTx/>
              <a:buNone/>
              <a:tabLst/>
            </a:pPr>
            <a:r>
              <a:rPr lang="es-CO" altLang="es-CO" b="1" dirty="0"/>
              <a:t>1. Paridad</a:t>
            </a:r>
          </a:p>
          <a:p>
            <a:pPr marL="0" marR="0" lvl="0" indent="0" algn="just" defTabSz="914400" rtl="0" eaLnBrk="0" fontAlgn="base" latinLnBrk="0" hangingPunct="0">
              <a:lnSpc>
                <a:spcPct val="100000"/>
              </a:lnSpc>
              <a:spcBef>
                <a:spcPct val="0"/>
              </a:spcBef>
              <a:spcAft>
                <a:spcPct val="0"/>
              </a:spcAft>
              <a:buClrTx/>
              <a:buSzTx/>
              <a:buFontTx/>
              <a:buNone/>
              <a:tabLst/>
            </a:pPr>
            <a:r>
              <a:rPr lang="es-CO" altLang="es-CO" dirty="0"/>
              <a:t>La verificación de paridad es un método simple que añade un bit extra a los datos para verificar la validez de la transmisión.</a:t>
            </a:r>
          </a:p>
          <a:p>
            <a:pPr marL="0" marR="0" lvl="0" indent="0" algn="just" defTabSz="914400" rtl="0" eaLnBrk="0" fontAlgn="base" latinLnBrk="0" hangingPunct="0">
              <a:lnSpc>
                <a:spcPct val="100000"/>
              </a:lnSpc>
              <a:spcBef>
                <a:spcPct val="0"/>
              </a:spcBef>
              <a:spcAft>
                <a:spcPct val="0"/>
              </a:spcAft>
              <a:buClrTx/>
              <a:buSzTx/>
              <a:buFontTx/>
              <a:buNone/>
              <a:tabLst/>
            </a:pPr>
            <a:endParaRPr lang="es-CO" altLang="es-CO" dirty="0"/>
          </a:p>
          <a:p>
            <a:pPr lvl="1" algn="just" eaLnBrk="0" fontAlgn="base" hangingPunct="0">
              <a:spcBef>
                <a:spcPct val="0"/>
              </a:spcBef>
              <a:spcAft>
                <a:spcPct val="0"/>
              </a:spcAft>
              <a:buFontTx/>
              <a:buChar char="•"/>
            </a:pPr>
            <a:r>
              <a:rPr lang="es-CO" altLang="es-CO" b="1" dirty="0"/>
              <a:t>Paridad Par: </a:t>
            </a:r>
            <a:r>
              <a:rPr lang="es-CO" altLang="es-CO" dirty="0"/>
              <a:t>Se añade un bit para asegurar que el número total de bits '1' en el conjunto de datos sea par.</a:t>
            </a:r>
          </a:p>
          <a:p>
            <a:pPr lvl="1" algn="just" eaLnBrk="0" fontAlgn="base" hangingPunct="0">
              <a:spcBef>
                <a:spcPct val="0"/>
              </a:spcBef>
              <a:spcAft>
                <a:spcPct val="0"/>
              </a:spcAft>
              <a:buFontTx/>
              <a:buChar char="•"/>
            </a:pPr>
            <a:endParaRPr lang="es-CO" altLang="es-CO" dirty="0"/>
          </a:p>
          <a:p>
            <a:pPr lvl="1" algn="just" eaLnBrk="0" fontAlgn="base" hangingPunct="0">
              <a:spcBef>
                <a:spcPct val="0"/>
              </a:spcBef>
              <a:spcAft>
                <a:spcPct val="0"/>
              </a:spcAft>
              <a:buFontTx/>
              <a:buChar char="•"/>
            </a:pPr>
            <a:r>
              <a:rPr lang="es-CO" altLang="es-CO" b="1" dirty="0"/>
              <a:t>Paridad Impar: </a:t>
            </a:r>
            <a:r>
              <a:rPr lang="es-CO" altLang="es-CO" dirty="0"/>
              <a:t>Se añade un bit para asegurar que el número total de bits '1' sea impar.</a:t>
            </a:r>
          </a:p>
          <a:p>
            <a:pPr lvl="1" algn="just" eaLnBrk="0" fontAlgn="base" hangingPunct="0">
              <a:spcBef>
                <a:spcPct val="0"/>
              </a:spcBef>
              <a:spcAft>
                <a:spcPct val="0"/>
              </a:spcAft>
              <a:buFontTx/>
              <a:buChar char="•"/>
            </a:pPr>
            <a:endParaRPr lang="es-CO" altLang="es-CO" dirty="0"/>
          </a:p>
          <a:p>
            <a:pPr eaLnBrk="0" fontAlgn="base" hangingPunct="0">
              <a:spcBef>
                <a:spcPct val="0"/>
              </a:spcBef>
              <a:spcAft>
                <a:spcPct val="0"/>
              </a:spcAft>
            </a:pPr>
            <a:r>
              <a:rPr lang="es-CO" altLang="es-CO" dirty="0"/>
              <a:t>Ejemplo: Para un conjunto de bits 1011001, la paridad par añadiría un 0 para que el número total de bits '1' sea par: 10110010.</a:t>
            </a:r>
          </a:p>
        </p:txBody>
      </p:sp>
    </p:spTree>
    <p:extLst>
      <p:ext uri="{BB962C8B-B14F-4D97-AF65-F5344CB8AC3E}">
        <p14:creationId xmlns:p14="http://schemas.microsoft.com/office/powerpoint/2010/main" val="26217664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3" name="Rectangle 1">
            <a:extLst>
              <a:ext uri="{FF2B5EF4-FFF2-40B4-BE49-F238E27FC236}">
                <a16:creationId xmlns:a16="http://schemas.microsoft.com/office/drawing/2014/main" id="{0B38A8F3-72F6-3D5D-2C81-BE661DB3E387}"/>
              </a:ext>
            </a:extLst>
          </p:cNvPr>
          <p:cNvSpPr>
            <a:spLocks noChangeArrowheads="1"/>
          </p:cNvSpPr>
          <p:nvPr/>
        </p:nvSpPr>
        <p:spPr bwMode="auto">
          <a:xfrm>
            <a:off x="800330" y="1428499"/>
            <a:ext cx="96893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b="1" dirty="0"/>
              <a:t>2. </a:t>
            </a:r>
            <a:r>
              <a:rPr lang="es-MX" b="1" dirty="0" err="1"/>
              <a:t>Checksum</a:t>
            </a:r>
            <a:endParaRPr lang="es-MX" b="1" dirty="0"/>
          </a:p>
          <a:p>
            <a:endParaRPr lang="es-MX" b="1" dirty="0"/>
          </a:p>
          <a:p>
            <a:r>
              <a:rPr lang="es-MX" dirty="0"/>
              <a:t>El </a:t>
            </a:r>
            <a:r>
              <a:rPr lang="es-MX" dirty="0" err="1"/>
              <a:t>checksum</a:t>
            </a:r>
            <a:r>
              <a:rPr lang="es-MX" dirty="0"/>
              <a:t> es una técnica que suma los valores numéricos de un bloque de datos y transmite el resultado junto con los datos. El receptor realiza el mismo cálculo y compara los resultados para detectar errores.</a:t>
            </a:r>
          </a:p>
          <a:p>
            <a:endParaRPr lang="es-MX" dirty="0"/>
          </a:p>
          <a:p>
            <a:pPr lvl="1">
              <a:buFont typeface="Arial" panose="020B0604020202020204" pitchFamily="34" charset="0"/>
              <a:buChar char="•"/>
            </a:pPr>
            <a:r>
              <a:rPr lang="es-MX" b="1" dirty="0"/>
              <a:t>Suma de Verificación</a:t>
            </a:r>
            <a:r>
              <a:rPr lang="es-MX" dirty="0"/>
              <a:t>: Se utiliza principalmente en protocolos como TCP/IP.</a:t>
            </a:r>
          </a:p>
          <a:p>
            <a:pPr lvl="1">
              <a:buFont typeface="Arial" panose="020B0604020202020204" pitchFamily="34" charset="0"/>
              <a:buChar char="•"/>
            </a:pPr>
            <a:r>
              <a:rPr lang="es-MX" b="1" dirty="0"/>
              <a:t>Algoritmo</a:t>
            </a:r>
            <a:r>
              <a:rPr lang="es-MX" dirty="0"/>
              <a:t>: Sumar todos los bytes o palabras en el mensaje y enviar el complemento.</a:t>
            </a:r>
          </a:p>
          <a:p>
            <a:pPr lvl="1">
              <a:buFont typeface="Arial" panose="020B0604020202020204" pitchFamily="34" charset="0"/>
              <a:buChar char="•"/>
            </a:pPr>
            <a:endParaRPr lang="es-MX" dirty="0"/>
          </a:p>
          <a:p>
            <a:pPr lvl="1">
              <a:buFont typeface="Arial" panose="020B0604020202020204" pitchFamily="34" charset="0"/>
              <a:buChar char="•"/>
            </a:pPr>
            <a:endParaRPr lang="es-MX" dirty="0"/>
          </a:p>
        </p:txBody>
      </p:sp>
      <p:sp>
        <p:nvSpPr>
          <p:cNvPr id="4" name="Rectangle 1">
            <a:extLst>
              <a:ext uri="{FF2B5EF4-FFF2-40B4-BE49-F238E27FC236}">
                <a16:creationId xmlns:a16="http://schemas.microsoft.com/office/drawing/2014/main" id="{312DB039-E14B-4305-8FF7-7F1DD50A2EE5}"/>
              </a:ext>
            </a:extLst>
          </p:cNvPr>
          <p:cNvSpPr>
            <a:spLocks noChangeArrowheads="1"/>
          </p:cNvSpPr>
          <p:nvPr/>
        </p:nvSpPr>
        <p:spPr bwMode="auto">
          <a:xfrm>
            <a:off x="800331" y="3887404"/>
            <a:ext cx="1000856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fontAlgn="base">
              <a:lnSpc>
                <a:spcPct val="100000"/>
              </a:lnSpc>
              <a:spcBef>
                <a:spcPct val="0"/>
              </a:spcBef>
              <a:spcAft>
                <a:spcPct val="0"/>
              </a:spcAft>
              <a:buClrTx/>
              <a:buSzTx/>
              <a:buFontTx/>
              <a:buNone/>
              <a:tabLst/>
            </a:pPr>
            <a:r>
              <a:rPr lang="es-CO" altLang="es-CO" b="1" dirty="0"/>
              <a:t>3. Códigos de Redundancia Cíclica (CRC)</a:t>
            </a:r>
          </a:p>
          <a:p>
            <a:pPr marL="0" marR="0" lvl="0" indent="0" fontAlgn="base">
              <a:lnSpc>
                <a:spcPct val="100000"/>
              </a:lnSpc>
              <a:spcBef>
                <a:spcPct val="0"/>
              </a:spcBef>
              <a:spcAft>
                <a:spcPct val="0"/>
              </a:spcAft>
              <a:buClrTx/>
              <a:buSzTx/>
              <a:buFontTx/>
              <a:buNone/>
              <a:tabLst/>
            </a:pPr>
            <a:endParaRPr lang="es-CO" altLang="es-CO" dirty="0"/>
          </a:p>
          <a:p>
            <a:pPr marL="0" marR="0" lvl="0" indent="0" fontAlgn="base">
              <a:lnSpc>
                <a:spcPct val="100000"/>
              </a:lnSpc>
              <a:spcBef>
                <a:spcPct val="0"/>
              </a:spcBef>
              <a:spcAft>
                <a:spcPct val="0"/>
              </a:spcAft>
              <a:buClrTx/>
              <a:buSzTx/>
              <a:buFontTx/>
              <a:buNone/>
              <a:tabLst/>
            </a:pPr>
            <a:r>
              <a:rPr lang="es-CO" altLang="es-CO" dirty="0"/>
              <a:t>CRC es una técnica más sofisticada que utiliza polinomios para detectar cambios en bloques de datos. Se emplea en muchos protocolos de red, como Ethernet.</a:t>
            </a:r>
          </a:p>
          <a:p>
            <a:pPr marL="0" marR="0" lvl="0" indent="0" fontAlgn="base">
              <a:lnSpc>
                <a:spcPct val="100000"/>
              </a:lnSpc>
              <a:spcBef>
                <a:spcPct val="0"/>
              </a:spcBef>
              <a:spcAft>
                <a:spcPct val="0"/>
              </a:spcAft>
              <a:buClrTx/>
              <a:buSzTx/>
              <a:buFontTx/>
              <a:buNone/>
              <a:tabLst/>
            </a:pPr>
            <a:endParaRPr lang="es-CO" altLang="es-CO" dirty="0"/>
          </a:p>
          <a:p>
            <a:pPr lvl="1" fontAlgn="base">
              <a:spcBef>
                <a:spcPct val="0"/>
              </a:spcBef>
              <a:spcAft>
                <a:spcPct val="0"/>
              </a:spcAft>
              <a:buFontTx/>
              <a:buChar char="•"/>
            </a:pPr>
            <a:r>
              <a:rPr lang="es-CO" altLang="es-CO" b="1" dirty="0"/>
              <a:t>Algoritmo: </a:t>
            </a:r>
            <a:r>
              <a:rPr lang="es-CO" altLang="es-CO" dirty="0"/>
              <a:t>Los datos se tratan como un polinomio y se dividen entre un polinomio generador predefinido. El residuo es el CRC que se añade al final del mensaje.</a:t>
            </a:r>
          </a:p>
          <a:p>
            <a:pPr lvl="1" fontAlgn="base">
              <a:spcBef>
                <a:spcPct val="0"/>
              </a:spcBef>
              <a:spcAft>
                <a:spcPct val="0"/>
              </a:spcAft>
            </a:pPr>
            <a:endParaRPr lang="es-CO" altLang="es-CO" dirty="0"/>
          </a:p>
          <a:p>
            <a:pPr marL="0" marR="0" lvl="0" indent="0" fontAlgn="base">
              <a:lnSpc>
                <a:spcPct val="100000"/>
              </a:lnSpc>
              <a:spcBef>
                <a:spcPct val="0"/>
              </a:spcBef>
              <a:spcAft>
                <a:spcPct val="0"/>
              </a:spcAft>
              <a:buClrTx/>
              <a:buSzTx/>
              <a:buFontTx/>
              <a:buNone/>
              <a:tabLst/>
            </a:pPr>
            <a:r>
              <a:rPr lang="es-CO" altLang="es-CO" b="1" dirty="0"/>
              <a:t>Ejemplo: </a:t>
            </a:r>
            <a:r>
              <a:rPr lang="es-CO" altLang="es-CO" dirty="0"/>
              <a:t>Si los datos son 11010011101100 y el polinomio generador es 1011, el CRC se calcula y se añade a los datos antes de la transmisión.</a:t>
            </a:r>
          </a:p>
        </p:txBody>
      </p:sp>
    </p:spTree>
    <p:extLst>
      <p:ext uri="{BB962C8B-B14F-4D97-AF65-F5344CB8AC3E}">
        <p14:creationId xmlns:p14="http://schemas.microsoft.com/office/powerpoint/2010/main" val="29969217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5" name="Rectangle 1">
            <a:extLst>
              <a:ext uri="{FF2B5EF4-FFF2-40B4-BE49-F238E27FC236}">
                <a16:creationId xmlns:a16="http://schemas.microsoft.com/office/drawing/2014/main" id="{3AAB655D-0CA4-A497-50D4-07DAB186130D}"/>
              </a:ext>
            </a:extLst>
          </p:cNvPr>
          <p:cNvSpPr>
            <a:spLocks noChangeArrowheads="1"/>
          </p:cNvSpPr>
          <p:nvPr/>
        </p:nvSpPr>
        <p:spPr bwMode="auto">
          <a:xfrm>
            <a:off x="308623" y="1401193"/>
            <a:ext cx="90510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s-CO" altLang="es-CO" b="1" dirty="0"/>
              <a:t>4. Códigos </a:t>
            </a:r>
            <a:r>
              <a:rPr lang="es-CO" altLang="es-CO" b="1" dirty="0" err="1"/>
              <a:t>Hamming</a:t>
            </a:r>
            <a:endParaRPr lang="es-CO" altLang="es-CO"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7577A27E-8D65-C24F-DD3E-CC4EA3F91F46}"/>
              </a:ext>
            </a:extLst>
          </p:cNvPr>
          <p:cNvSpPr txBox="1"/>
          <p:nvPr/>
        </p:nvSpPr>
        <p:spPr>
          <a:xfrm>
            <a:off x="560829" y="1874685"/>
            <a:ext cx="10938181" cy="4247317"/>
          </a:xfrm>
          <a:prstGeom prst="rect">
            <a:avLst/>
          </a:prstGeom>
          <a:noFill/>
        </p:spPr>
        <p:txBody>
          <a:bodyPr wrap="square">
            <a:spAutoFit/>
          </a:bodyPr>
          <a:lstStyle/>
          <a:p>
            <a:r>
              <a:rPr lang="es-MX" dirty="0"/>
              <a:t>El código </a:t>
            </a:r>
            <a:r>
              <a:rPr lang="es-MX" dirty="0" err="1"/>
              <a:t>Hamming</a:t>
            </a:r>
            <a:r>
              <a:rPr lang="es-MX" dirty="0"/>
              <a:t> (7,4) es un método de corrección de errores que utiliza 7 bits para codificar 4 bits de datos, lo que permite detectar y corregir errores en un solo bit. Los 7 bits incluyen 4 bits de datos y 3 bits de paridad.</a:t>
            </a:r>
          </a:p>
          <a:p>
            <a:endParaRPr lang="es-MX" dirty="0"/>
          </a:p>
          <a:p>
            <a:r>
              <a:rPr lang="es-MX" dirty="0"/>
              <a:t>Los 4 bits de datos son d1, d2, d3, d4 y los 3 bits de paridad son p1, p2, p3​. Los bits de paridad se colocan en las posiciones de las potencias de dos (1, 2, 4), y los bits de datos llenan las posiciones restantes (3, 5, 6, 7).</a:t>
            </a:r>
          </a:p>
          <a:p>
            <a:endParaRPr lang="es-MX" dirty="0"/>
          </a:p>
          <a:p>
            <a:r>
              <a:rPr lang="es-MX" b="1" dirty="0"/>
              <a:t>Cálculo de Bits de Paridad</a:t>
            </a:r>
          </a:p>
          <a:p>
            <a:endParaRPr lang="es-MX" b="1" dirty="0"/>
          </a:p>
          <a:p>
            <a:pPr lvl="1"/>
            <a:r>
              <a:rPr lang="es-MX" dirty="0"/>
              <a:t>Los bits de paridad se calculan para asegurar que la paridad de los grupos de bits que cubren sea par:</a:t>
            </a:r>
          </a:p>
          <a:p>
            <a:pPr lvl="1"/>
            <a:endParaRPr lang="es-MX" dirty="0"/>
          </a:p>
          <a:p>
            <a:pPr lvl="1">
              <a:buFont typeface="Arial" panose="020B0604020202020204" pitchFamily="34" charset="0"/>
              <a:buChar char="•"/>
            </a:pPr>
            <a:r>
              <a:rPr lang="es-MX" dirty="0"/>
              <a:t> p1 , d1, d2, d4</a:t>
            </a:r>
          </a:p>
          <a:p>
            <a:pPr lvl="1">
              <a:buFont typeface="Arial" panose="020B0604020202020204" pitchFamily="34" charset="0"/>
              <a:buChar char="•"/>
            </a:pPr>
            <a:endParaRPr lang="es-MX" dirty="0"/>
          </a:p>
          <a:p>
            <a:pPr lvl="1">
              <a:buFont typeface="Arial" panose="020B0604020202020204" pitchFamily="34" charset="0"/>
              <a:buChar char="•"/>
            </a:pPr>
            <a:r>
              <a:rPr lang="es-MX" dirty="0"/>
              <a:t> p2, d1, d3, d4</a:t>
            </a:r>
          </a:p>
          <a:p>
            <a:pPr lvl="1">
              <a:buFont typeface="Arial" panose="020B0604020202020204" pitchFamily="34" charset="0"/>
              <a:buChar char="•"/>
            </a:pPr>
            <a:endParaRPr lang="es-MX" dirty="0"/>
          </a:p>
          <a:p>
            <a:pPr lvl="1">
              <a:buFont typeface="Arial" panose="020B0604020202020204" pitchFamily="34" charset="0"/>
              <a:buChar char="•"/>
            </a:pPr>
            <a:r>
              <a:rPr lang="es-MX" dirty="0"/>
              <a:t> p3, d2, d3, d4</a:t>
            </a:r>
          </a:p>
        </p:txBody>
      </p:sp>
    </p:spTree>
    <p:extLst>
      <p:ext uri="{BB962C8B-B14F-4D97-AF65-F5344CB8AC3E}">
        <p14:creationId xmlns:p14="http://schemas.microsoft.com/office/powerpoint/2010/main" val="1054255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5" name="Rectangle 1">
            <a:extLst>
              <a:ext uri="{FF2B5EF4-FFF2-40B4-BE49-F238E27FC236}">
                <a16:creationId xmlns:a16="http://schemas.microsoft.com/office/drawing/2014/main" id="{3AAB655D-0CA4-A497-50D4-07DAB186130D}"/>
              </a:ext>
            </a:extLst>
          </p:cNvPr>
          <p:cNvSpPr>
            <a:spLocks noChangeArrowheads="1"/>
          </p:cNvSpPr>
          <p:nvPr/>
        </p:nvSpPr>
        <p:spPr bwMode="auto">
          <a:xfrm>
            <a:off x="256865" y="1329192"/>
            <a:ext cx="90510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s-CO" altLang="es-CO" b="1" dirty="0"/>
              <a:t>4. Códigos </a:t>
            </a:r>
            <a:r>
              <a:rPr lang="es-CO" altLang="es-CO" b="1" dirty="0" err="1"/>
              <a:t>Hamming</a:t>
            </a:r>
            <a:endParaRPr lang="es-CO" altLang="es-CO"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F026873-A1B5-2759-8E90-D8A4BD893705}"/>
              </a:ext>
            </a:extLst>
          </p:cNvPr>
          <p:cNvSpPr>
            <a:spLocks noChangeArrowheads="1"/>
          </p:cNvSpPr>
          <p:nvPr/>
        </p:nvSpPr>
        <p:spPr bwMode="auto">
          <a:xfrm>
            <a:off x="784040" y="1963783"/>
            <a:ext cx="992996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400" b="1" i="0" u="none" strike="noStrike" cap="none" normalizeH="0" baseline="0" dirty="0">
                <a:ln>
                  <a:noFill/>
                </a:ln>
                <a:solidFill>
                  <a:schemeClr val="tx1"/>
                </a:solidFill>
                <a:effectLst/>
              </a:rPr>
              <a:t>Ejemplo de Codificación: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400" b="0" i="0" u="none" strike="noStrike" cap="none" normalizeH="0" baseline="0" dirty="0">
                <a:ln>
                  <a:noFill/>
                </a:ln>
                <a:solidFill>
                  <a:schemeClr val="tx1"/>
                </a:solidFill>
                <a:effectLst/>
              </a:rPr>
              <a:t>Supongamos que queremos codificar el dato </a:t>
            </a:r>
            <a:r>
              <a:rPr lang="es-CO" altLang="es-CO" sz="1400" dirty="0"/>
              <a:t>‘</a:t>
            </a:r>
            <a:r>
              <a:rPr kumimoji="0" lang="es-CO" altLang="es-CO" sz="1400" b="0" i="0" u="none" strike="noStrike" cap="none" normalizeH="0" baseline="0" dirty="0">
                <a:ln>
                  <a:noFill/>
                </a:ln>
                <a:solidFill>
                  <a:schemeClr val="tx1"/>
                </a:solidFill>
                <a:effectLst/>
              </a:rPr>
              <a:t>1011’ (donde d1 = 1, d2 = 0, d3 = 1, d</a:t>
            </a:r>
            <a:r>
              <a:rPr lang="es-CO" altLang="es-CO" sz="1400" dirty="0"/>
              <a:t>4</a:t>
            </a:r>
            <a:r>
              <a:rPr kumimoji="0" lang="es-CO" altLang="es-CO" sz="1400" b="0" i="0" u="none" strike="noStrike" cap="none" normalizeH="0" baseline="0" dirty="0">
                <a:ln>
                  <a:noFill/>
                </a:ln>
                <a:solidFill>
                  <a:schemeClr val="tx1"/>
                </a:solidFill>
                <a:effectLst/>
              </a:rPr>
              <a:t> = 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400"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es-CO" altLang="es-CO" sz="1400" b="0" i="0" u="none" strike="noStrike" cap="none" normalizeH="0" baseline="0" dirty="0">
                <a:ln>
                  <a:noFill/>
                </a:ln>
                <a:solidFill>
                  <a:schemeClr val="tx1"/>
                </a:solidFill>
                <a:effectLst/>
              </a:rPr>
              <a:t>Calculamos p1​ para que la paridad de p1, d1, d2, d3​ sea par:</a:t>
            </a:r>
          </a:p>
          <a:p>
            <a:pPr marL="800100" lvl="1" indent="-342900" eaLnBrk="0" fontAlgn="base" hangingPunct="0">
              <a:spcBef>
                <a:spcPct val="0"/>
              </a:spcBef>
              <a:spcAft>
                <a:spcPct val="0"/>
              </a:spcAft>
              <a:buFont typeface="+mj-lt"/>
              <a:buAutoNum type="alphaUcPeriod"/>
            </a:pPr>
            <a:endParaRPr kumimoji="0" lang="es-CO" altLang="es-CO" sz="1400" b="0" i="0" u="none" strike="noStrike" cap="none" normalizeH="0" baseline="0" dirty="0">
              <a:ln>
                <a:noFill/>
              </a:ln>
              <a:solidFill>
                <a:schemeClr val="tx1"/>
              </a:solidFill>
              <a:effectLst/>
            </a:endParaRPr>
          </a:p>
          <a:p>
            <a:pPr marL="1257300" lvl="2" indent="-342900" eaLnBrk="0" fontAlgn="base" hangingPunct="0">
              <a:spcBef>
                <a:spcPct val="0"/>
              </a:spcBef>
              <a:spcAft>
                <a:spcPct val="0"/>
              </a:spcAft>
              <a:buFont typeface="+mj-lt"/>
              <a:buAutoNum type="alphaUcPeriod"/>
            </a:pPr>
            <a:r>
              <a:rPr kumimoji="0" lang="es-CO" altLang="es-CO" sz="1400" b="0" i="0" u="none" strike="noStrike" cap="none" normalizeH="0" baseline="0" dirty="0">
                <a:ln>
                  <a:noFill/>
                </a:ln>
                <a:solidFill>
                  <a:schemeClr val="tx1"/>
                </a:solidFill>
                <a:effectLst/>
              </a:rPr>
              <a:t>p1, 1, 0, 1 tiene una paridad par (dos 1's), por lo tanto, p1 debe ser 0.</a:t>
            </a:r>
          </a:p>
          <a:p>
            <a:pPr marL="1257300" lvl="2" indent="-342900" eaLnBrk="0" fontAlgn="base" hangingPunct="0">
              <a:spcBef>
                <a:spcPct val="0"/>
              </a:spcBef>
              <a:spcAft>
                <a:spcPct val="0"/>
              </a:spcAft>
              <a:buFont typeface="+mj-lt"/>
              <a:buAutoNum type="alphaUcPeriod"/>
            </a:pPr>
            <a:endParaRPr kumimoji="0" lang="es-CO" altLang="es-CO" sz="1400"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es-CO" altLang="es-CO" sz="1400" b="0" i="0" u="none" strike="noStrike" cap="none" normalizeH="0" baseline="0" dirty="0">
                <a:ln>
                  <a:noFill/>
                </a:ln>
                <a:solidFill>
                  <a:schemeClr val="tx1"/>
                </a:solidFill>
                <a:effectLst/>
              </a:rPr>
              <a:t>Calculamos p2​ para que la paridad de p2,  d1, d3, d</a:t>
            </a:r>
            <a:r>
              <a:rPr lang="es-CO" altLang="es-CO" sz="1400" dirty="0"/>
              <a:t>4</a:t>
            </a:r>
            <a:r>
              <a:rPr kumimoji="0" lang="es-CO" altLang="es-CO" sz="1400" b="0" i="0" u="none" strike="noStrike" cap="none" normalizeH="0" baseline="0" dirty="0">
                <a:ln>
                  <a:noFill/>
                </a:ln>
                <a:solidFill>
                  <a:schemeClr val="tx1"/>
                </a:solidFill>
                <a:effectLst/>
              </a:rPr>
              <a:t> ​ sea par:</a:t>
            </a:r>
          </a:p>
          <a:p>
            <a:pPr marL="800100" lvl="1" indent="-342900" eaLnBrk="0" fontAlgn="base" hangingPunct="0">
              <a:spcBef>
                <a:spcPct val="0"/>
              </a:spcBef>
              <a:spcAft>
                <a:spcPct val="0"/>
              </a:spcAft>
              <a:buFont typeface="+mj-lt"/>
              <a:buAutoNum type="alphaUcPeriod"/>
            </a:pPr>
            <a:endParaRPr kumimoji="0" lang="es-CO" altLang="es-CO" sz="1400" b="0" i="0" u="none" strike="noStrike" cap="none" normalizeH="0" baseline="0" dirty="0">
              <a:ln>
                <a:noFill/>
              </a:ln>
              <a:solidFill>
                <a:schemeClr val="tx1"/>
              </a:solidFill>
              <a:effectLst/>
            </a:endParaRPr>
          </a:p>
          <a:p>
            <a:pPr marL="1257300" lvl="2" indent="-342900" eaLnBrk="0" fontAlgn="base" hangingPunct="0">
              <a:spcBef>
                <a:spcPct val="0"/>
              </a:spcBef>
              <a:spcAft>
                <a:spcPct val="0"/>
              </a:spcAft>
              <a:buFont typeface="+mj-lt"/>
              <a:buAutoNum type="alphaUcPeriod"/>
            </a:pPr>
            <a:r>
              <a:rPr kumimoji="0" lang="es-CO" altLang="es-CO" sz="1400" b="0" i="0" u="none" strike="noStrike" cap="none" normalizeH="0" baseline="0" dirty="0">
                <a:ln>
                  <a:noFill/>
                </a:ln>
                <a:solidFill>
                  <a:schemeClr val="tx1"/>
                </a:solidFill>
                <a:effectLst/>
              </a:rPr>
              <a:t>p2, 1, 1, 1 tiene una paridad impar (tres 1's), por lo tanto, p2 debe ser 1 para hacerla par.</a:t>
            </a:r>
          </a:p>
          <a:p>
            <a:pPr marL="1257300" lvl="2" indent="-342900" eaLnBrk="0" fontAlgn="base" hangingPunct="0">
              <a:spcBef>
                <a:spcPct val="0"/>
              </a:spcBef>
              <a:spcAft>
                <a:spcPct val="0"/>
              </a:spcAft>
              <a:buFont typeface="+mj-lt"/>
              <a:buAutoNum type="alphaUcPeriod"/>
            </a:pPr>
            <a:endParaRPr kumimoji="0" lang="es-CO" altLang="es-CO" sz="1400"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mj-lt"/>
              <a:buAutoNum type="alphaUcPeriod"/>
            </a:pPr>
            <a:r>
              <a:rPr kumimoji="0" lang="es-CO" altLang="es-CO" sz="1400" b="0" i="0" u="none" strike="noStrike" cap="none" normalizeH="0" baseline="0" dirty="0">
                <a:ln>
                  <a:noFill/>
                </a:ln>
                <a:solidFill>
                  <a:schemeClr val="tx1"/>
                </a:solidFill>
                <a:effectLst/>
              </a:rPr>
              <a:t>Calculamos p3​ para que la paridad de p3, d2, d3, d4 sea par:</a:t>
            </a:r>
          </a:p>
          <a:p>
            <a:pPr marL="800100" lvl="1" indent="-342900" eaLnBrk="0" fontAlgn="base" hangingPunct="0">
              <a:spcBef>
                <a:spcPct val="0"/>
              </a:spcBef>
              <a:spcAft>
                <a:spcPct val="0"/>
              </a:spcAft>
              <a:buFont typeface="+mj-lt"/>
              <a:buAutoNum type="alphaUcPeriod"/>
            </a:pPr>
            <a:endParaRPr kumimoji="0" lang="es-CO" altLang="es-CO" sz="1400" b="0" i="0" u="none" strike="noStrike" cap="none" normalizeH="0" baseline="0" dirty="0">
              <a:ln>
                <a:noFill/>
              </a:ln>
              <a:solidFill>
                <a:schemeClr val="tx1"/>
              </a:solidFill>
              <a:effectLst/>
            </a:endParaRPr>
          </a:p>
          <a:p>
            <a:pPr marL="1257300" lvl="2" indent="-342900" eaLnBrk="0" fontAlgn="base" hangingPunct="0">
              <a:spcBef>
                <a:spcPct val="0"/>
              </a:spcBef>
              <a:spcAft>
                <a:spcPct val="0"/>
              </a:spcAft>
              <a:buFont typeface="+mj-lt"/>
              <a:buAutoNum type="alphaUcPeriod"/>
            </a:pPr>
            <a:r>
              <a:rPr kumimoji="0" lang="es-CO" altLang="es-CO" sz="1400" b="0" i="0" u="none" strike="noStrike" cap="none" normalizeH="0" baseline="0" dirty="0">
                <a:ln>
                  <a:noFill/>
                </a:ln>
                <a:solidFill>
                  <a:schemeClr val="tx1"/>
                </a:solidFill>
                <a:effectLst/>
              </a:rPr>
              <a:t>p3 , 0 ,1 ,1 tiene una paridad par (dos 1's), por lo tanto, p3 debe ser 0.</a:t>
            </a:r>
          </a:p>
          <a:p>
            <a:pPr marL="457200" marR="0" lvl="1" indent="0" algn="l" defTabSz="914400" rtl="0" eaLnBrk="0" fontAlgn="base" latinLnBrk="0" hangingPunct="0">
              <a:lnSpc>
                <a:spcPct val="100000"/>
              </a:lnSpc>
              <a:spcBef>
                <a:spcPct val="0"/>
              </a:spcBef>
              <a:spcAft>
                <a:spcPct val="0"/>
              </a:spcAft>
              <a:buClrTx/>
              <a:buSzTx/>
              <a:tabLst/>
            </a:pPr>
            <a:endParaRPr lang="es-CO" altLang="es-CO" sz="1400" dirty="0"/>
          </a:p>
          <a:p>
            <a:pPr marL="457200" marR="0" lvl="1" indent="0" algn="l" defTabSz="914400" rtl="0" eaLnBrk="0" fontAlgn="base" latinLnBrk="0" hangingPunct="0">
              <a:lnSpc>
                <a:spcPct val="100000"/>
              </a:lnSpc>
              <a:spcBef>
                <a:spcPct val="0"/>
              </a:spcBef>
              <a:spcAft>
                <a:spcPct val="0"/>
              </a:spcAft>
              <a:buClrTx/>
              <a:buSzTx/>
              <a:tabLst/>
            </a:pPr>
            <a:endParaRPr kumimoji="0" lang="es-CO" altLang="es-CO"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400" b="0" i="0" u="none" strike="noStrike" cap="none" normalizeH="0" baseline="0" dirty="0">
                <a:ln>
                  <a:noFill/>
                </a:ln>
                <a:solidFill>
                  <a:schemeClr val="tx1"/>
                </a:solidFill>
                <a:effectLst/>
              </a:rPr>
              <a:t>El resultado es p1 = 0, p2 = 1, p3 = 0, y la secuencia completa de bits codificados es p1, p2, d1, p3, d2, d3, d4 = 011</a:t>
            </a:r>
            <a:r>
              <a:rPr lang="es-CO" altLang="es-CO" sz="1400" dirty="0"/>
              <a:t>0</a:t>
            </a:r>
            <a:r>
              <a:rPr kumimoji="0" lang="es-CO" altLang="es-CO" sz="1400" b="0" i="0" u="none" strike="noStrike" cap="none" normalizeH="0" baseline="0" dirty="0">
                <a:ln>
                  <a:noFill/>
                </a:ln>
                <a:solidFill>
                  <a:schemeClr val="tx1"/>
                </a:solidFill>
                <a:effectLst/>
              </a:rPr>
              <a:t>011.</a:t>
            </a:r>
          </a:p>
        </p:txBody>
      </p:sp>
    </p:spTree>
    <p:extLst>
      <p:ext uri="{BB962C8B-B14F-4D97-AF65-F5344CB8AC3E}">
        <p14:creationId xmlns:p14="http://schemas.microsoft.com/office/powerpoint/2010/main" val="37881230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6" name="Rectangle 2">
            <a:extLst>
              <a:ext uri="{FF2B5EF4-FFF2-40B4-BE49-F238E27FC236}">
                <a16:creationId xmlns:a16="http://schemas.microsoft.com/office/drawing/2014/main" id="{B6710C51-517A-EB21-F180-D691A34FA970}"/>
              </a:ext>
            </a:extLst>
          </p:cNvPr>
          <p:cNvSpPr>
            <a:spLocks noChangeArrowheads="1"/>
          </p:cNvSpPr>
          <p:nvPr/>
        </p:nvSpPr>
        <p:spPr bwMode="auto">
          <a:xfrm>
            <a:off x="386261" y="1397675"/>
            <a:ext cx="999131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b="1" i="0" u="none" strike="noStrike" cap="none" normalizeH="0" baseline="0" dirty="0">
                <a:ln>
                  <a:noFill/>
                </a:ln>
                <a:solidFill>
                  <a:schemeClr val="tx1"/>
                </a:solidFill>
                <a:effectLst/>
                <a:latin typeface="Arial" panose="020B0604020202020204" pitchFamily="34" charset="0"/>
              </a:rPr>
              <a:t>5. Códigos de Repetición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b="0" i="0" u="none" strike="noStrike" cap="none" normalizeH="0" baseline="0" dirty="0">
                <a:ln>
                  <a:noFill/>
                </a:ln>
                <a:solidFill>
                  <a:schemeClr val="tx1"/>
                </a:solidFill>
                <a:effectLst/>
                <a:latin typeface="Arial" panose="020B0604020202020204" pitchFamily="34" charset="0"/>
              </a:rPr>
              <a:t>Esta técnica envía cada bit de datos varias veces para aumentar la probabilidad de que al menos una copia sea recibida correctamente.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b="1" i="0" u="none" strike="noStrike" cap="none" normalizeH="0" baseline="0" dirty="0">
                <a:ln>
                  <a:noFill/>
                </a:ln>
                <a:solidFill>
                  <a:schemeClr val="tx1"/>
                </a:solidFill>
                <a:effectLst/>
                <a:latin typeface="Arial" panose="020B0604020202020204" pitchFamily="34" charset="0"/>
              </a:rPr>
              <a:t>Repetición Simple</a:t>
            </a:r>
            <a:r>
              <a:rPr kumimoji="0" lang="es-CO" altLang="es-CO" b="0" i="0" u="none" strike="noStrike" cap="none" normalizeH="0" baseline="0" dirty="0">
                <a:ln>
                  <a:noFill/>
                </a:ln>
                <a:solidFill>
                  <a:schemeClr val="tx1"/>
                </a:solidFill>
                <a:effectLst/>
                <a:latin typeface="Arial" panose="020B0604020202020204" pitchFamily="34" charset="0"/>
              </a:rPr>
              <a:t>: Enviar cada bit 3 veces. Por ejemplo, </a:t>
            </a:r>
            <a:r>
              <a:rPr kumimoji="0" lang="es-CO" altLang="es-CO" b="0" i="0" u="none" strike="noStrike" cap="none" normalizeH="0" baseline="0" dirty="0">
                <a:ln>
                  <a:noFill/>
                </a:ln>
                <a:solidFill>
                  <a:schemeClr val="tx1"/>
                </a:solidFill>
                <a:effectLst/>
                <a:latin typeface="Arial Unicode MS"/>
              </a:rPr>
              <a:t>101</a:t>
            </a:r>
            <a:r>
              <a:rPr kumimoji="0" lang="es-CO" altLang="es-CO" b="0" i="0" u="none" strike="noStrike" cap="none" normalizeH="0" baseline="0" dirty="0">
                <a:ln>
                  <a:noFill/>
                </a:ln>
                <a:solidFill>
                  <a:schemeClr val="tx1"/>
                </a:solidFill>
                <a:effectLst/>
              </a:rPr>
              <a:t> se transmite como </a:t>
            </a:r>
            <a:r>
              <a:rPr kumimoji="0" lang="es-CO" altLang="es-CO" b="0" i="0" u="none" strike="noStrike" cap="none" normalizeH="0" baseline="0" dirty="0">
                <a:ln>
                  <a:noFill/>
                </a:ln>
                <a:solidFill>
                  <a:schemeClr val="tx1"/>
                </a:solidFill>
                <a:effectLst/>
                <a:latin typeface="Arial Unicode MS"/>
              </a:rPr>
              <a:t>111000111</a:t>
            </a:r>
            <a:r>
              <a:rPr kumimoji="0" lang="es-CO" altLang="es-CO" b="0" i="0" u="none" strike="noStrike" cap="none" normalizeH="0" baseline="0" dirty="0">
                <a:ln>
                  <a:noFill/>
                </a:ln>
                <a:solidFill>
                  <a:schemeClr val="tx1"/>
                </a:solidFill>
                <a:effectLst/>
              </a:rPr>
              <a:t>.</a:t>
            </a:r>
            <a:endParaRPr kumimoji="0" lang="es-CO" altLang="es-CO"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4" name="CuadroTexto 3">
            <a:extLst>
              <a:ext uri="{FF2B5EF4-FFF2-40B4-BE49-F238E27FC236}">
                <a16:creationId xmlns:a16="http://schemas.microsoft.com/office/drawing/2014/main" id="{96F94059-8988-225F-7244-15424F352035}"/>
              </a:ext>
            </a:extLst>
          </p:cNvPr>
          <p:cNvSpPr txBox="1"/>
          <p:nvPr/>
        </p:nvSpPr>
        <p:spPr>
          <a:xfrm>
            <a:off x="386521" y="3318157"/>
            <a:ext cx="10275728" cy="3416320"/>
          </a:xfrm>
          <a:prstGeom prst="rect">
            <a:avLst/>
          </a:prstGeom>
          <a:noFill/>
        </p:spPr>
        <p:txBody>
          <a:bodyPr wrap="square">
            <a:spAutoFit/>
          </a:bodyPr>
          <a:lstStyle/>
          <a:p>
            <a:r>
              <a:rPr lang="es-MX" b="1" dirty="0"/>
              <a:t>6. Códigos LDPC (Low-</a:t>
            </a:r>
            <a:r>
              <a:rPr lang="es-MX" b="1" dirty="0" err="1"/>
              <a:t>Density</a:t>
            </a:r>
            <a:r>
              <a:rPr lang="es-MX" b="1" dirty="0"/>
              <a:t> </a:t>
            </a:r>
            <a:r>
              <a:rPr lang="es-MX" b="1" dirty="0" err="1"/>
              <a:t>Parity-Check</a:t>
            </a:r>
            <a:r>
              <a:rPr lang="es-MX" b="1" dirty="0"/>
              <a:t>)</a:t>
            </a:r>
          </a:p>
          <a:p>
            <a:endParaRPr lang="es-MX" b="1" dirty="0"/>
          </a:p>
          <a:p>
            <a:r>
              <a:rPr lang="es-MX" dirty="0"/>
              <a:t>Los códigos LDPC son avanzados y muy eficientes para la detección y corrección de errores en comunicaciones de alta velocidad. Utilizan matrices de paridad dispersas y algoritmos iterativos para detectar y corregir errores.</a:t>
            </a:r>
          </a:p>
          <a:p>
            <a:endParaRPr lang="es-MX" dirty="0"/>
          </a:p>
          <a:p>
            <a:r>
              <a:rPr lang="es-MX" b="1" dirty="0"/>
              <a:t>7. Códigos Reed-Solomon</a:t>
            </a:r>
          </a:p>
          <a:p>
            <a:endParaRPr lang="es-MX" b="1" dirty="0"/>
          </a:p>
          <a:p>
            <a:r>
              <a:rPr lang="es-MX" dirty="0"/>
              <a:t>Estos códigos son ampliamente utilizados en medios de almacenamiento y comunicaciones para detectar y corregir errores en bloques de datos. Son especialmente efectivos para corregir errores en ráfaga.</a:t>
            </a:r>
          </a:p>
          <a:p>
            <a:endParaRPr lang="es-MX" dirty="0"/>
          </a:p>
          <a:p>
            <a:pPr>
              <a:buFont typeface="Arial" panose="020B0604020202020204" pitchFamily="34" charset="0"/>
              <a:buChar char="•"/>
            </a:pPr>
            <a:r>
              <a:rPr lang="es-MX" b="1" dirty="0"/>
              <a:t>Aplicaciones</a:t>
            </a:r>
            <a:r>
              <a:rPr lang="es-MX" dirty="0"/>
              <a:t>: CD, DVD, QR </a:t>
            </a:r>
            <a:r>
              <a:rPr lang="es-MX" dirty="0" err="1"/>
              <a:t>codes</a:t>
            </a:r>
            <a:r>
              <a:rPr lang="es-MX" dirty="0"/>
              <a:t>.</a:t>
            </a:r>
          </a:p>
        </p:txBody>
      </p:sp>
    </p:spTree>
    <p:extLst>
      <p:ext uri="{BB962C8B-B14F-4D97-AF65-F5344CB8AC3E}">
        <p14:creationId xmlns:p14="http://schemas.microsoft.com/office/powerpoint/2010/main" val="11090579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Detección de errores</a:t>
            </a:r>
          </a:p>
        </p:txBody>
      </p:sp>
      <p:sp>
        <p:nvSpPr>
          <p:cNvPr id="5" name="CuadroTexto 4">
            <a:extLst>
              <a:ext uri="{FF2B5EF4-FFF2-40B4-BE49-F238E27FC236}">
                <a16:creationId xmlns:a16="http://schemas.microsoft.com/office/drawing/2014/main" id="{9BDDD2D3-44B2-D3CF-1864-5F3FC0374F29}"/>
              </a:ext>
            </a:extLst>
          </p:cNvPr>
          <p:cNvSpPr txBox="1"/>
          <p:nvPr/>
        </p:nvSpPr>
        <p:spPr>
          <a:xfrm>
            <a:off x="493862" y="1582816"/>
            <a:ext cx="9892342" cy="3416320"/>
          </a:xfrm>
          <a:prstGeom prst="rect">
            <a:avLst/>
          </a:prstGeom>
          <a:noFill/>
        </p:spPr>
        <p:txBody>
          <a:bodyPr wrap="square">
            <a:spAutoFit/>
          </a:bodyPr>
          <a:lstStyle/>
          <a:p>
            <a:pPr algn="just"/>
            <a:r>
              <a:rPr lang="es-MX" b="1" dirty="0"/>
              <a:t>Aplicaciones y Consideraciones</a:t>
            </a:r>
          </a:p>
          <a:p>
            <a:pPr algn="just"/>
            <a:endParaRPr lang="es-MX" b="1" dirty="0"/>
          </a:p>
          <a:p>
            <a:pPr lvl="1" algn="just">
              <a:buFont typeface="Arial" panose="020B0604020202020204" pitchFamily="34" charset="0"/>
              <a:buChar char="•"/>
            </a:pPr>
            <a:r>
              <a:rPr lang="es-MX" b="1" dirty="0"/>
              <a:t>Detección vs. Corrección</a:t>
            </a:r>
            <a:r>
              <a:rPr lang="es-MX" dirty="0"/>
              <a:t>: Algunas técnicas, como la paridad y CRC, están diseñadas principalmente para la detección de errores, mientras que otras, como los códigos </a:t>
            </a:r>
            <a:r>
              <a:rPr lang="es-MX" dirty="0" err="1"/>
              <a:t>Hamming</a:t>
            </a:r>
            <a:r>
              <a:rPr lang="es-MX" dirty="0"/>
              <a:t>, permiten tanto la detección como la corrección de errores.</a:t>
            </a:r>
          </a:p>
          <a:p>
            <a:pPr lvl="1" algn="just">
              <a:buFont typeface="Arial" panose="020B0604020202020204" pitchFamily="34" charset="0"/>
              <a:buChar char="•"/>
            </a:pPr>
            <a:endParaRPr lang="es-MX" dirty="0"/>
          </a:p>
          <a:p>
            <a:pPr lvl="1" algn="just">
              <a:buFont typeface="Arial" panose="020B0604020202020204" pitchFamily="34" charset="0"/>
              <a:buChar char="•"/>
            </a:pPr>
            <a:r>
              <a:rPr lang="es-MX" b="1" dirty="0"/>
              <a:t>Complejidad vs. Eficiencia</a:t>
            </a:r>
            <a:r>
              <a:rPr lang="es-MX" dirty="0"/>
              <a:t>: La elección de la técnica depende del equilibrio entre la complejidad del algoritmo y la eficiencia de la corrección, así como del tipo de canal de transmisión y la naturaleza de los errores esperados.</a:t>
            </a:r>
          </a:p>
          <a:p>
            <a:pPr algn="just">
              <a:buFont typeface="Arial" panose="020B0604020202020204" pitchFamily="34" charset="0"/>
              <a:buChar char="•"/>
            </a:pPr>
            <a:endParaRPr lang="es-MX" dirty="0"/>
          </a:p>
          <a:p>
            <a:pPr algn="just"/>
            <a:r>
              <a:rPr lang="es-MX" dirty="0"/>
              <a:t>Estas técnicas son fundamentales para asegurar la integridad de los datos en comunicaciones digitales, y cada una tiene sus ventajas y limitaciones dependiendo del contexto de su uso.</a:t>
            </a:r>
          </a:p>
        </p:txBody>
      </p:sp>
    </p:spTree>
    <p:extLst>
      <p:ext uri="{BB962C8B-B14F-4D97-AF65-F5344CB8AC3E}">
        <p14:creationId xmlns:p14="http://schemas.microsoft.com/office/powerpoint/2010/main" val="4491539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96682" y="64602"/>
            <a:ext cx="2519680" cy="1037545"/>
          </a:xfrm>
        </p:spPr>
        <p:txBody>
          <a:bodyPr>
            <a:normAutofit fontScale="90000"/>
          </a:bodyPr>
          <a:lstStyle/>
          <a:p>
            <a:pPr algn="ctr"/>
            <a:r>
              <a:rPr lang="es-CO" sz="3600" b="1" dirty="0">
                <a:solidFill>
                  <a:schemeClr val="bg1"/>
                </a:solidFill>
              </a:rPr>
              <a:t>Ejercicio Preliminar</a:t>
            </a:r>
          </a:p>
        </p:txBody>
      </p:sp>
      <p:sp>
        <p:nvSpPr>
          <p:cNvPr id="5" name="CuadroTexto 4">
            <a:extLst>
              <a:ext uri="{FF2B5EF4-FFF2-40B4-BE49-F238E27FC236}">
                <a16:creationId xmlns:a16="http://schemas.microsoft.com/office/drawing/2014/main" id="{9BDDD2D3-44B2-D3CF-1864-5F3FC0374F29}"/>
              </a:ext>
            </a:extLst>
          </p:cNvPr>
          <p:cNvSpPr txBox="1"/>
          <p:nvPr/>
        </p:nvSpPr>
        <p:spPr>
          <a:xfrm>
            <a:off x="493862" y="1582816"/>
            <a:ext cx="9892342" cy="4247317"/>
          </a:xfrm>
          <a:prstGeom prst="rect">
            <a:avLst/>
          </a:prstGeom>
          <a:noFill/>
        </p:spPr>
        <p:txBody>
          <a:bodyPr wrap="square">
            <a:spAutoFit/>
          </a:bodyPr>
          <a:lstStyle/>
          <a:p>
            <a:pPr marL="285750" indent="-285750" algn="just">
              <a:buFont typeface="Wingdings" panose="05000000000000000000" pitchFamily="2" charset="2"/>
              <a:buChar char="v"/>
            </a:pPr>
            <a:r>
              <a:rPr lang="es-MX" dirty="0"/>
              <a:t>Presentación trabajo final 35%.</a:t>
            </a:r>
          </a:p>
          <a:p>
            <a:pPr marL="285750" indent="-285750" algn="just">
              <a:buFont typeface="Wingdings" panose="05000000000000000000" pitchFamily="2" charset="2"/>
              <a:buChar char="v"/>
            </a:pPr>
            <a:endParaRPr lang="es-MX" dirty="0"/>
          </a:p>
          <a:p>
            <a:pPr lvl="1" algn="just"/>
            <a:r>
              <a:rPr lang="es-MX" dirty="0"/>
              <a:t>Revisando, eligiendo y pensando estratégicamente en los desafíos de la transformación digital, así como el uso de herramientas digitales para la solución y/o incremento de la capacidad productiva empresarial, la toma de decisiones informadas, y demás aspectos relevantes en el mundo corporativo, va a tomar la base de datos seleccionada con algún tema de su interés, diseñe el plan de pruebas de usuario (preguntas de negocio) que le gustaría resolver.</a:t>
            </a:r>
          </a:p>
          <a:p>
            <a:pPr lvl="1" algn="just"/>
            <a:endParaRPr lang="es-MX" dirty="0"/>
          </a:p>
          <a:p>
            <a:pPr lvl="1" algn="just"/>
            <a:r>
              <a:rPr lang="es-MX" dirty="0"/>
              <a:t>Tome la pregunta de negocio que considere más relevante resolver, defina el caso, codifíquelo a sistema binario, explíquelo y use los códigos </a:t>
            </a:r>
            <a:r>
              <a:rPr lang="es-MX" dirty="0" err="1"/>
              <a:t>Hamming</a:t>
            </a:r>
            <a:r>
              <a:rPr lang="es-MX" dirty="0"/>
              <a:t> y al menos otro, para la detección y corrección de errores.</a:t>
            </a:r>
          </a:p>
          <a:p>
            <a:pPr marL="742950" lvl="1" indent="-285750" algn="just">
              <a:buFont typeface="Wingdings" panose="05000000000000000000" pitchFamily="2" charset="2"/>
              <a:buChar char="v"/>
            </a:pPr>
            <a:endParaRPr lang="es-MX" dirty="0"/>
          </a:p>
          <a:p>
            <a:pPr lvl="1" algn="just"/>
            <a:r>
              <a:rPr lang="es-MX" dirty="0"/>
              <a:t>Tiempo presentación: 30 minutos</a:t>
            </a:r>
          </a:p>
          <a:p>
            <a:endParaRPr lang="es-MX" dirty="0"/>
          </a:p>
          <a:p>
            <a:pPr lvl="1" algn="just"/>
            <a:endParaRPr lang="es-MX" dirty="0"/>
          </a:p>
        </p:txBody>
      </p:sp>
    </p:spTree>
    <p:extLst>
      <p:ext uri="{BB962C8B-B14F-4D97-AF65-F5344CB8AC3E}">
        <p14:creationId xmlns:p14="http://schemas.microsoft.com/office/powerpoint/2010/main" val="27288816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C7B5D0F-677A-8ED6-F8BD-605A2E453A83}"/>
              </a:ext>
            </a:extLst>
          </p:cNvPr>
          <p:cNvSpPr/>
          <p:nvPr/>
        </p:nvSpPr>
        <p:spPr>
          <a:xfrm>
            <a:off x="243744" y="1150024"/>
            <a:ext cx="10962640" cy="5386090"/>
          </a:xfrm>
          <a:prstGeom prst="rect">
            <a:avLst/>
          </a:prstGeom>
        </p:spPr>
        <p:txBody>
          <a:bodyPr wrap="square">
            <a:spAutoFit/>
          </a:bodyPr>
          <a:lstStyle/>
          <a:p>
            <a:pPr algn="just"/>
            <a:r>
              <a:rPr lang="es-MX" dirty="0"/>
              <a:t>La transmisión de datos es un pilar fundamental de la tecnología moderna, con aplicaciones en prácticamente todos los aspectos de la vida diaria y la industria. Algunas de las aplicaciones prácticas más importantes de la transmisión de datos:</a:t>
            </a:r>
          </a:p>
          <a:p>
            <a:pPr algn="just"/>
            <a:endParaRPr lang="es-MX" dirty="0"/>
          </a:p>
          <a:p>
            <a:pPr algn="just"/>
            <a:r>
              <a:rPr lang="es-MX" b="1" dirty="0"/>
              <a:t>1. Comunicaciones por Internet</a:t>
            </a:r>
          </a:p>
          <a:p>
            <a:pPr algn="just"/>
            <a:r>
              <a:rPr lang="es-MX" dirty="0"/>
              <a:t>La transmisión de datos es esencial para el funcionamiento de Internet. Permite la transferencia de información entre computadoras y otros dispositivos conectados globalmente, facilitando servicios como la navegación web, correo electrónico, transferencia de archivos, </a:t>
            </a:r>
            <a:r>
              <a:rPr lang="es-MX" dirty="0" err="1"/>
              <a:t>streaming</a:t>
            </a:r>
            <a:r>
              <a:rPr lang="es-MX" dirty="0"/>
              <a:t> de video y audio, y mucho más.</a:t>
            </a:r>
          </a:p>
          <a:p>
            <a:pPr algn="just"/>
            <a:endParaRPr lang="es-MX" dirty="0"/>
          </a:p>
          <a:p>
            <a:pPr algn="just"/>
            <a:r>
              <a:rPr lang="es-MX" b="1" dirty="0"/>
              <a:t>2. Telecomunicaciones</a:t>
            </a:r>
          </a:p>
          <a:p>
            <a:pPr algn="just"/>
            <a:r>
              <a:rPr lang="es-MX" dirty="0"/>
              <a:t>En el ámbito de las telecomunicaciones, la transmisión de datos permite el envío y la recepción de mensajes de texto, llamadas de voz y videoconferencias a través de redes de telefonía móvil y fija. Estas comunicaciones pueden ser tanto analógicas como digitales.</a:t>
            </a:r>
          </a:p>
          <a:p>
            <a:pPr algn="just"/>
            <a:endParaRPr lang="es-MX" dirty="0"/>
          </a:p>
          <a:p>
            <a:pPr algn="just"/>
            <a:r>
              <a:rPr lang="es-MX" b="1" dirty="0"/>
              <a:t>3. Redes de Computadoras</a:t>
            </a:r>
          </a:p>
          <a:p>
            <a:pPr algn="just"/>
            <a:r>
              <a:rPr lang="es-MX" dirty="0"/>
              <a:t>Las redes de computadoras, tanto locales (LAN) como extendidas (WAN), dependen de la transmisión de datos para compartir recursos como archivos, impresoras, aplicaciones de software y bases de datos entre múltiples usuarios y dispositivos.</a:t>
            </a:r>
          </a:p>
          <a:p>
            <a:pPr marL="800100" lvl="1" indent="-342900">
              <a:lnSpc>
                <a:spcPts val="2420"/>
              </a:lnSpc>
              <a:spcAft>
                <a:spcPts val="0"/>
              </a:spcAft>
              <a:buSzPts val="2000"/>
              <a:buFont typeface="Arial" panose="020B0604020202020204" pitchFamily="34" charset="0"/>
              <a:buChar char="•"/>
              <a:tabLst>
                <a:tab pos="955675" algn="l"/>
              </a:tabLst>
            </a:pPr>
            <a:endParaRPr lang="es-CO" sz="2000" dirty="0">
              <a:ea typeface="Wingdings" panose="05000000000000000000" pitchFamily="2" charset="2"/>
              <a:cs typeface="Wingdings" panose="05000000000000000000" pitchFamily="2" charset="2"/>
            </a:endParaRPr>
          </a:p>
        </p:txBody>
      </p:sp>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fontScale="90000"/>
          </a:bodyPr>
          <a:lstStyle/>
          <a:p>
            <a:pPr algn="ctr"/>
            <a:r>
              <a:rPr lang="es-MX" sz="4800" b="1" dirty="0"/>
              <a:t>Unidad 2: Aplicaciones y tendencias futuras</a:t>
            </a:r>
            <a:endParaRPr lang="es-CO" sz="4800" b="1" dirty="0"/>
          </a:p>
        </p:txBody>
      </p:sp>
    </p:spTree>
    <p:extLst>
      <p:ext uri="{BB962C8B-B14F-4D97-AF65-F5344CB8AC3E}">
        <p14:creationId xmlns:p14="http://schemas.microsoft.com/office/powerpoint/2010/main" val="27213828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fontScale="90000"/>
          </a:bodyPr>
          <a:lstStyle/>
          <a:p>
            <a:pPr algn="ctr"/>
            <a:r>
              <a:rPr lang="es-MX" sz="4800" b="1" dirty="0"/>
              <a:t>Unidad 2: Aplicaciones y tendencias futuras</a:t>
            </a:r>
            <a:endParaRPr lang="es-CO" sz="4800" b="1" dirty="0"/>
          </a:p>
        </p:txBody>
      </p:sp>
      <p:sp>
        <p:nvSpPr>
          <p:cNvPr id="4" name="CuadroTexto 3">
            <a:extLst>
              <a:ext uri="{FF2B5EF4-FFF2-40B4-BE49-F238E27FC236}">
                <a16:creationId xmlns:a16="http://schemas.microsoft.com/office/drawing/2014/main" id="{92C87C34-D36A-ED92-4D82-2F35B5E2F1ED}"/>
              </a:ext>
            </a:extLst>
          </p:cNvPr>
          <p:cNvSpPr txBox="1"/>
          <p:nvPr/>
        </p:nvSpPr>
        <p:spPr>
          <a:xfrm>
            <a:off x="149165" y="1696498"/>
            <a:ext cx="11289820" cy="3693319"/>
          </a:xfrm>
          <a:prstGeom prst="rect">
            <a:avLst/>
          </a:prstGeom>
          <a:noFill/>
        </p:spPr>
        <p:txBody>
          <a:bodyPr wrap="square">
            <a:spAutoFit/>
          </a:bodyPr>
          <a:lstStyle/>
          <a:p>
            <a:r>
              <a:rPr lang="es-MX" b="1" dirty="0"/>
              <a:t>4. Sistemas de Control y Automatización Industrial</a:t>
            </a:r>
          </a:p>
          <a:p>
            <a:r>
              <a:rPr lang="es-MX" dirty="0"/>
              <a:t>En la automatización industrial, la transmisión de datos facilita el control remoto y la monitorización de máquinas y procesos industriales. Esto incluye la gestión de sistemas de manufactura, plantas de energía, y sistemas de control de tráfico.</a:t>
            </a:r>
          </a:p>
          <a:p>
            <a:endParaRPr lang="es-MX" dirty="0"/>
          </a:p>
          <a:p>
            <a:r>
              <a:rPr lang="es-MX" b="1" dirty="0"/>
              <a:t>5. Servicios Financieros</a:t>
            </a:r>
          </a:p>
          <a:p>
            <a:r>
              <a:rPr lang="es-MX" dirty="0"/>
              <a:t>La banca en línea, las transacciones financieras electrónicas, el comercio de acciones y la gestión de carteras dependen de la transmisión segura y eficiente de datos para operar de manera efectiva y segura.</a:t>
            </a:r>
          </a:p>
          <a:p>
            <a:endParaRPr lang="es-MX" dirty="0"/>
          </a:p>
          <a:p>
            <a:r>
              <a:rPr lang="es-MX" b="1" dirty="0"/>
              <a:t>6. Sistemas de Información Geográfica (SIG)</a:t>
            </a:r>
          </a:p>
          <a:p>
            <a:r>
              <a:rPr lang="es-MX" dirty="0"/>
              <a:t>Los SIG utilizan la transmisión de datos para recopilar, almacenar, analizar y presentar datos geográficos y espaciales. Estos sistemas son cruciales para la planificación urbana, la gestión de recursos naturales, y los sistemas de navegación GPS.</a:t>
            </a:r>
          </a:p>
        </p:txBody>
      </p:sp>
    </p:spTree>
    <p:extLst>
      <p:ext uri="{BB962C8B-B14F-4D97-AF65-F5344CB8AC3E}">
        <p14:creationId xmlns:p14="http://schemas.microsoft.com/office/powerpoint/2010/main" val="3007034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fontScale="90000"/>
          </a:bodyPr>
          <a:lstStyle/>
          <a:p>
            <a:pPr algn="ctr"/>
            <a:r>
              <a:rPr lang="es-MX" sz="4800" b="1" dirty="0"/>
              <a:t>Unidad 2: Aplicaciones y tendencias futuras</a:t>
            </a:r>
            <a:endParaRPr lang="es-CO" sz="4800" b="1" dirty="0"/>
          </a:p>
        </p:txBody>
      </p:sp>
      <p:sp>
        <p:nvSpPr>
          <p:cNvPr id="3" name="CuadroTexto 2">
            <a:extLst>
              <a:ext uri="{FF2B5EF4-FFF2-40B4-BE49-F238E27FC236}">
                <a16:creationId xmlns:a16="http://schemas.microsoft.com/office/drawing/2014/main" id="{F21C6122-B070-7526-F0C5-426C6A9FA027}"/>
              </a:ext>
            </a:extLst>
          </p:cNvPr>
          <p:cNvSpPr txBox="1"/>
          <p:nvPr/>
        </p:nvSpPr>
        <p:spPr>
          <a:xfrm>
            <a:off x="71527" y="1432354"/>
            <a:ext cx="12048945" cy="4247317"/>
          </a:xfrm>
          <a:prstGeom prst="rect">
            <a:avLst/>
          </a:prstGeom>
          <a:noFill/>
        </p:spPr>
        <p:txBody>
          <a:bodyPr wrap="square">
            <a:spAutoFit/>
          </a:bodyPr>
          <a:lstStyle/>
          <a:p>
            <a:r>
              <a:rPr lang="es-MX" b="1" dirty="0"/>
              <a:t>7. Salud y Telemetría Médica</a:t>
            </a:r>
          </a:p>
          <a:p>
            <a:r>
              <a:rPr lang="es-MX" dirty="0"/>
              <a:t>La telemedicina y la monitorización remota de pacientes utilizan la transmisión de datos para enviar información médica vital a los profesionales de la salud, permitiendo diagnósticos y consultas a distancia.</a:t>
            </a:r>
          </a:p>
          <a:p>
            <a:endParaRPr lang="es-MX" dirty="0"/>
          </a:p>
          <a:p>
            <a:r>
              <a:rPr lang="es-MX" b="1" dirty="0"/>
              <a:t>8. Entretenimiento y Medios</a:t>
            </a:r>
          </a:p>
          <a:p>
            <a:r>
              <a:rPr lang="es-MX" dirty="0"/>
              <a:t>El entretenimiento digital, incluyendo videojuegos en línea, plataformas de </a:t>
            </a:r>
            <a:r>
              <a:rPr lang="es-MX" dirty="0" err="1"/>
              <a:t>streaming</a:t>
            </a:r>
            <a:r>
              <a:rPr lang="es-MX" dirty="0"/>
              <a:t> de música y video, y medios digitales, se basan en la transmisión de datos para ofrecer contenido a los consumidores de manera instantánea y a demanda.</a:t>
            </a:r>
          </a:p>
          <a:p>
            <a:endParaRPr lang="es-MX" dirty="0"/>
          </a:p>
          <a:p>
            <a:r>
              <a:rPr lang="es-MX" b="1" dirty="0"/>
              <a:t>9. Seguridad y Vigilancia</a:t>
            </a:r>
          </a:p>
          <a:p>
            <a:r>
              <a:rPr lang="es-MX" dirty="0"/>
              <a:t>Los sistemas modernos de seguridad utilizan la transmisión de datos para operar cámaras de seguridad, sistemas de alarma y otros dispositivos de seguridad que pueden ser controlados y monitorizados remotamente.</a:t>
            </a:r>
          </a:p>
          <a:p>
            <a:endParaRPr lang="es-MX" dirty="0"/>
          </a:p>
          <a:p>
            <a:r>
              <a:rPr lang="es-MX" b="1" dirty="0"/>
              <a:t>10. Investigación y Desarrollo</a:t>
            </a:r>
          </a:p>
          <a:p>
            <a:r>
              <a:rPr lang="es-MX" dirty="0"/>
              <a:t>La transmisión de datos es vital en la investigación, permitiendo el intercambio de grandes volúmenes de datos científicos y técnicos entre investigadores de todo el mundo, lo que facilita colaboraciones y avances en múltiples campos.</a:t>
            </a:r>
          </a:p>
        </p:txBody>
      </p:sp>
    </p:spTree>
    <p:extLst>
      <p:ext uri="{BB962C8B-B14F-4D97-AF65-F5344CB8AC3E}">
        <p14:creationId xmlns:p14="http://schemas.microsoft.com/office/powerpoint/2010/main" val="4141467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Tendencias futuras</a:t>
            </a:r>
            <a:endParaRPr lang="es-CO" sz="4800" b="1" dirty="0"/>
          </a:p>
        </p:txBody>
      </p:sp>
      <p:sp>
        <p:nvSpPr>
          <p:cNvPr id="4" name="CuadroTexto 3">
            <a:extLst>
              <a:ext uri="{FF2B5EF4-FFF2-40B4-BE49-F238E27FC236}">
                <a16:creationId xmlns:a16="http://schemas.microsoft.com/office/drawing/2014/main" id="{42971135-9DB1-9D5A-65A6-B0DFF9561C69}"/>
              </a:ext>
            </a:extLst>
          </p:cNvPr>
          <p:cNvSpPr txBox="1"/>
          <p:nvPr/>
        </p:nvSpPr>
        <p:spPr>
          <a:xfrm>
            <a:off x="175404" y="1076286"/>
            <a:ext cx="11349487" cy="5078313"/>
          </a:xfrm>
          <a:prstGeom prst="rect">
            <a:avLst/>
          </a:prstGeom>
          <a:noFill/>
        </p:spPr>
        <p:txBody>
          <a:bodyPr wrap="square">
            <a:spAutoFit/>
          </a:bodyPr>
          <a:lstStyle/>
          <a:p>
            <a:r>
              <a:rPr lang="es-MX" dirty="0"/>
              <a:t>Las tendencias futuras en la transmisión de datos están moldeadas por avances tecnológicos rápidos y cambiantes necesidades globales. Estas son algunas de las tendencias clave que se esperan dominar el campo en los próximos años:</a:t>
            </a:r>
          </a:p>
          <a:p>
            <a:endParaRPr lang="es-MX" dirty="0"/>
          </a:p>
          <a:p>
            <a:r>
              <a:rPr lang="es-MX" b="1" dirty="0"/>
              <a:t>1. 5G y Tecnologías Inalámbricas Avanzadas</a:t>
            </a:r>
          </a:p>
          <a:p>
            <a:r>
              <a:rPr lang="es-MX" dirty="0"/>
              <a:t>El despliegue de redes 5G continúa expandiéndose, ofreciendo velocidades de transmisión de datos significativamente mayores, menor latencia y una capacidad mejorada para conectar dispositivos en el ámbito del Internet de las Cosas (</a:t>
            </a:r>
            <a:r>
              <a:rPr lang="es-MX" dirty="0" err="1"/>
              <a:t>IoT</a:t>
            </a:r>
            <a:r>
              <a:rPr lang="es-MX" dirty="0"/>
              <a:t>). Se espera que 6G empiece a desarrollarse, prometiendo aún mayores avances y capacidades.</a:t>
            </a:r>
          </a:p>
          <a:p>
            <a:endParaRPr lang="es-MX" dirty="0"/>
          </a:p>
          <a:p>
            <a:r>
              <a:rPr lang="es-MX" b="1" dirty="0"/>
              <a:t>2. Internet de las Cosas (</a:t>
            </a:r>
            <a:r>
              <a:rPr lang="es-MX" b="1" dirty="0" err="1"/>
              <a:t>IoT</a:t>
            </a:r>
            <a:r>
              <a:rPr lang="es-MX" b="1" dirty="0"/>
              <a:t>)</a:t>
            </a:r>
          </a:p>
          <a:p>
            <a:r>
              <a:rPr lang="es-MX" dirty="0"/>
              <a:t>Con más dispositivos conectados, desde electrodomésticos y wearables hasta sensores industriales, la cantidad de datos generados y transmitidos aumentará exponencialmente. La </a:t>
            </a:r>
            <a:r>
              <a:rPr lang="es-MX" dirty="0" err="1"/>
              <a:t>IoT</a:t>
            </a:r>
            <a:r>
              <a:rPr lang="es-MX" dirty="0"/>
              <a:t> seguirá impulsando la necesidad de redes más robustas y seguras para manejar la transmisión de datos de manera eficiente.</a:t>
            </a:r>
          </a:p>
          <a:p>
            <a:endParaRPr lang="es-MX" dirty="0"/>
          </a:p>
          <a:p>
            <a:r>
              <a:rPr lang="es-MX" b="1" dirty="0"/>
              <a:t>3. Computación en la Nube y Edge Computing</a:t>
            </a:r>
          </a:p>
          <a:p>
            <a:r>
              <a:rPr lang="es-MX" dirty="0"/>
              <a:t>A medida que más empresas y consumidores dependen de la nube para servicios de almacenamiento y procesamiento, la transmisión de datos entre usuarios y centros de datos es crucial. El </a:t>
            </a:r>
            <a:r>
              <a:rPr lang="es-MX" dirty="0" err="1"/>
              <a:t>edge</a:t>
            </a:r>
            <a:r>
              <a:rPr lang="es-MX" dirty="0"/>
              <a:t> </a:t>
            </a:r>
            <a:r>
              <a:rPr lang="es-MX" dirty="0" err="1"/>
              <a:t>computing</a:t>
            </a:r>
            <a:r>
              <a:rPr lang="es-MX" dirty="0"/>
              <a:t>, que procesa datos más cerca del punto de creación, se está expandiendo para reducir la latencia y el ancho de banda necesario para las conexiones a la nube.</a:t>
            </a:r>
          </a:p>
        </p:txBody>
      </p:sp>
    </p:spTree>
    <p:extLst>
      <p:ext uri="{BB962C8B-B14F-4D97-AF65-F5344CB8AC3E}">
        <p14:creationId xmlns:p14="http://schemas.microsoft.com/office/powerpoint/2010/main" val="1417869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Tendencias futuras</a:t>
            </a:r>
            <a:endParaRPr lang="es-CO" sz="4800" b="1" dirty="0"/>
          </a:p>
        </p:txBody>
      </p:sp>
      <p:sp>
        <p:nvSpPr>
          <p:cNvPr id="4" name="CuadroTexto 3">
            <a:extLst>
              <a:ext uri="{FF2B5EF4-FFF2-40B4-BE49-F238E27FC236}">
                <a16:creationId xmlns:a16="http://schemas.microsoft.com/office/drawing/2014/main" id="{42971135-9DB1-9D5A-65A6-B0DFF9561C69}"/>
              </a:ext>
            </a:extLst>
          </p:cNvPr>
          <p:cNvSpPr txBox="1"/>
          <p:nvPr/>
        </p:nvSpPr>
        <p:spPr>
          <a:xfrm>
            <a:off x="175404" y="1076286"/>
            <a:ext cx="11349487" cy="3970318"/>
          </a:xfrm>
          <a:prstGeom prst="rect">
            <a:avLst/>
          </a:prstGeom>
          <a:noFill/>
        </p:spPr>
        <p:txBody>
          <a:bodyPr wrap="square">
            <a:spAutoFit/>
          </a:bodyPr>
          <a:lstStyle/>
          <a:p>
            <a:r>
              <a:rPr lang="es-MX" b="1" dirty="0"/>
              <a:t>4. Inteligencia Artificial y Aprendizaje Automático</a:t>
            </a:r>
          </a:p>
          <a:p>
            <a:r>
              <a:rPr lang="es-MX" dirty="0"/>
              <a:t>El uso de IA y machine </a:t>
            </a:r>
            <a:r>
              <a:rPr lang="es-MX" dirty="0" err="1"/>
              <a:t>learning</a:t>
            </a:r>
            <a:r>
              <a:rPr lang="es-MX" dirty="0"/>
              <a:t> para analizar y gestionar la transmisión de datos está creciendo. Estas tecnologías pueden optimizar rutas de datos, mejorar la seguridad y predecir necesidades de mantenimiento de la red antes de que surjan problemas.</a:t>
            </a:r>
          </a:p>
          <a:p>
            <a:endParaRPr lang="es-MX" dirty="0"/>
          </a:p>
          <a:p>
            <a:r>
              <a:rPr lang="es-MX" b="1" dirty="0"/>
              <a:t>5. Seguridad Mejorada</a:t>
            </a:r>
          </a:p>
          <a:p>
            <a:r>
              <a:rPr lang="es-MX" dirty="0"/>
              <a:t>Con el aumento en la transmisión de datos, especialmente en sectores críticos, la seguridad de estos datos se ha vuelto prioritaria. Técnicas avanzadas como la encriptación de extremo a extremo, </a:t>
            </a:r>
            <a:r>
              <a:rPr lang="es-MX" dirty="0" err="1"/>
              <a:t>blockchain</a:t>
            </a:r>
            <a:r>
              <a:rPr lang="es-MX" dirty="0"/>
              <a:t> y sistemas de autenticación más robustos están en desarrollo para proteger los datos durante su transmisión.</a:t>
            </a:r>
          </a:p>
          <a:p>
            <a:endParaRPr lang="es-MX" dirty="0"/>
          </a:p>
          <a:p>
            <a:r>
              <a:rPr lang="es-MX" b="1" dirty="0"/>
              <a:t>6. Redes de Fibra Óptica de Alta Capacidad</a:t>
            </a:r>
          </a:p>
          <a:p>
            <a:r>
              <a:rPr lang="es-MX" dirty="0"/>
              <a:t>El despliegue de fibra óptica continúa siendo una tendencia dominante para soportar enormes volúmenes de transmisión de datos con alta fiabilidad y velocidad. Los avances en tecnología de fibra óptica buscan aumentar aún más la capacidad y eficiencia de estas redes.</a:t>
            </a:r>
          </a:p>
        </p:txBody>
      </p:sp>
    </p:spTree>
    <p:extLst>
      <p:ext uri="{BB962C8B-B14F-4D97-AF65-F5344CB8AC3E}">
        <p14:creationId xmlns:p14="http://schemas.microsoft.com/office/powerpoint/2010/main" val="3758841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Tendencias futuras</a:t>
            </a:r>
            <a:endParaRPr lang="es-CO" sz="4800" b="1" dirty="0"/>
          </a:p>
        </p:txBody>
      </p:sp>
      <p:sp>
        <p:nvSpPr>
          <p:cNvPr id="3" name="CuadroTexto 2">
            <a:extLst>
              <a:ext uri="{FF2B5EF4-FFF2-40B4-BE49-F238E27FC236}">
                <a16:creationId xmlns:a16="http://schemas.microsoft.com/office/drawing/2014/main" id="{6A32916A-480D-B781-455D-D2661B6A808C}"/>
              </a:ext>
            </a:extLst>
          </p:cNvPr>
          <p:cNvSpPr txBox="1"/>
          <p:nvPr/>
        </p:nvSpPr>
        <p:spPr>
          <a:xfrm>
            <a:off x="396816" y="1192245"/>
            <a:ext cx="11464505" cy="3139321"/>
          </a:xfrm>
          <a:prstGeom prst="rect">
            <a:avLst/>
          </a:prstGeom>
          <a:noFill/>
        </p:spPr>
        <p:txBody>
          <a:bodyPr wrap="square">
            <a:spAutoFit/>
          </a:bodyPr>
          <a:lstStyle/>
          <a:p>
            <a:r>
              <a:rPr lang="es-MX" b="1" dirty="0"/>
              <a:t>7. Virtualización de Red y SD-WAN</a:t>
            </a:r>
          </a:p>
          <a:p>
            <a:r>
              <a:rPr lang="es-MX" dirty="0"/>
              <a:t>La virtualización de funciones de red (NFV) y las redes de amplio alcance definidas por software (SD-WAN) están transformando cómo las redes son configuradas y gestionadas. Estas tecnologías permiten una mayor flexibilidad y pueden ajustarse dinámicamente para satisfacer las demandas cambiantes de la transmisión de datos.</a:t>
            </a:r>
          </a:p>
          <a:p>
            <a:endParaRPr lang="es-MX" dirty="0"/>
          </a:p>
          <a:p>
            <a:r>
              <a:rPr lang="es-MX" b="1" dirty="0"/>
              <a:t>8. Sostenibilidad en TI</a:t>
            </a:r>
          </a:p>
          <a:p>
            <a:r>
              <a:rPr lang="es-MX" dirty="0"/>
              <a:t>A medida que el impacto ambiental de la tecnología se convierte en una preocupación mayor, las prácticas sostenibles en la transmisión de datos, como el uso eficiente de la energía y la reducción de la huella de carbono de los centros de datos, se están volviendo más importantes.</a:t>
            </a:r>
          </a:p>
          <a:p>
            <a:r>
              <a:rPr lang="es-MX" dirty="0"/>
              <a:t>Estas tendencias indican un futuro en el que la transmisión de datos será más rápida, más inteligente y más integral para la infraestructura global, con un enfoque continuo en la seguridad y la eficiencia.</a:t>
            </a:r>
          </a:p>
        </p:txBody>
      </p:sp>
    </p:spTree>
    <p:extLst>
      <p:ext uri="{BB962C8B-B14F-4D97-AF65-F5344CB8AC3E}">
        <p14:creationId xmlns:p14="http://schemas.microsoft.com/office/powerpoint/2010/main" val="39871903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Transformación digital</a:t>
            </a:r>
            <a:endParaRPr lang="es-CO" sz="4800" b="1" dirty="0"/>
          </a:p>
        </p:txBody>
      </p:sp>
      <p:sp>
        <p:nvSpPr>
          <p:cNvPr id="4" name="CuadroTexto 3">
            <a:extLst>
              <a:ext uri="{FF2B5EF4-FFF2-40B4-BE49-F238E27FC236}">
                <a16:creationId xmlns:a16="http://schemas.microsoft.com/office/drawing/2014/main" id="{E0E588B6-602C-531C-E2A4-2D4B421BC75A}"/>
              </a:ext>
            </a:extLst>
          </p:cNvPr>
          <p:cNvSpPr txBox="1"/>
          <p:nvPr/>
        </p:nvSpPr>
        <p:spPr>
          <a:xfrm>
            <a:off x="258793" y="1114606"/>
            <a:ext cx="11680165" cy="4801314"/>
          </a:xfrm>
          <a:prstGeom prst="rect">
            <a:avLst/>
          </a:prstGeom>
          <a:noFill/>
        </p:spPr>
        <p:txBody>
          <a:bodyPr wrap="square">
            <a:spAutoFit/>
          </a:bodyPr>
          <a:lstStyle/>
          <a:p>
            <a:r>
              <a:rPr lang="es-MX" dirty="0"/>
              <a:t>La transformación digital se refiere al proceso de utilizar tecnologías digitales para crear o modificar procesos empresariales existentes, cultura organizacional y experiencias de cliente, con el objetivo de mejorar y adaptar los negocios a las exigencias del mercado moderno y digital. Este proceso busca no solo optimizar las operaciones, sino también mejorar la competitividad y la eficiencia de una organización mediante el uso más efectivo de la tecnología.</a:t>
            </a:r>
          </a:p>
          <a:p>
            <a:endParaRPr lang="es-MX" dirty="0"/>
          </a:p>
          <a:p>
            <a:r>
              <a:rPr lang="es-MX" b="1" dirty="0"/>
              <a:t>Aspectos Clave de la Transformación Digital</a:t>
            </a:r>
          </a:p>
          <a:p>
            <a:endParaRPr lang="es-MX" b="1" dirty="0"/>
          </a:p>
          <a:p>
            <a:r>
              <a:rPr lang="es-MX" b="1" dirty="0"/>
              <a:t>1. Integración de Tecnologías Digitales: </a:t>
            </a:r>
            <a:r>
              <a:rPr lang="es-MX" dirty="0"/>
              <a:t>Involucra la adopción de herramientas como la inteligencia artificial, el internet de las cosas (</a:t>
            </a:r>
            <a:r>
              <a:rPr lang="es-MX" dirty="0" err="1"/>
              <a:t>IoT</a:t>
            </a:r>
            <a:r>
              <a:rPr lang="es-MX" dirty="0"/>
              <a:t>), el </a:t>
            </a:r>
            <a:r>
              <a:rPr lang="es-MX" dirty="0" err="1"/>
              <a:t>big</a:t>
            </a:r>
            <a:r>
              <a:rPr lang="es-MX" dirty="0"/>
              <a:t> data, la computación en la nube, entre otros, para mejorar los procesos empresariales.</a:t>
            </a:r>
          </a:p>
          <a:p>
            <a:endParaRPr lang="es-MX" dirty="0"/>
          </a:p>
          <a:p>
            <a:r>
              <a:rPr lang="es-MX" b="1" dirty="0"/>
              <a:t>2. Cambio en la Cultura Organizacional: </a:t>
            </a:r>
            <a:r>
              <a:rPr lang="es-MX" dirty="0"/>
              <a:t>La transformación digital no solo se trata de tecnología, sino también de cambiar la forma en que las organizaciones operan y toman decisiones. Esto a menudo requiere un cambio cultural que fomente la innovación, la flexibilidad y la adaptación al cambio.</a:t>
            </a:r>
          </a:p>
          <a:p>
            <a:endParaRPr lang="es-MX" b="1" dirty="0"/>
          </a:p>
          <a:p>
            <a:r>
              <a:rPr lang="es-MX" b="1" dirty="0"/>
              <a:t>3. Experiencia del Cliente: </a:t>
            </a:r>
            <a:r>
              <a:rPr lang="es-MX" dirty="0"/>
              <a:t>Mejorar la interacción con los clientes utilizando tecnologías digitales para proporcionar una experiencia más personalizada y eficiente. Esto incluye desde la personalización de la comunicación hasta la automatización del servicio al cliente.</a:t>
            </a:r>
          </a:p>
        </p:txBody>
      </p:sp>
    </p:spTree>
    <p:extLst>
      <p:ext uri="{BB962C8B-B14F-4D97-AF65-F5344CB8AC3E}">
        <p14:creationId xmlns:p14="http://schemas.microsoft.com/office/powerpoint/2010/main" val="40644542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Transformación digital</a:t>
            </a:r>
            <a:endParaRPr lang="es-CO" sz="4800" b="1" dirty="0"/>
          </a:p>
        </p:txBody>
      </p:sp>
      <p:sp>
        <p:nvSpPr>
          <p:cNvPr id="3" name="CuadroTexto 2">
            <a:extLst>
              <a:ext uri="{FF2B5EF4-FFF2-40B4-BE49-F238E27FC236}">
                <a16:creationId xmlns:a16="http://schemas.microsoft.com/office/drawing/2014/main" id="{B036974F-51B4-6F21-1E0D-62A0E198052B}"/>
              </a:ext>
            </a:extLst>
          </p:cNvPr>
          <p:cNvSpPr txBox="1"/>
          <p:nvPr/>
        </p:nvSpPr>
        <p:spPr>
          <a:xfrm>
            <a:off x="224287" y="965575"/>
            <a:ext cx="11611154" cy="5632311"/>
          </a:xfrm>
          <a:prstGeom prst="rect">
            <a:avLst/>
          </a:prstGeom>
          <a:noFill/>
        </p:spPr>
        <p:txBody>
          <a:bodyPr wrap="square">
            <a:spAutoFit/>
          </a:bodyPr>
          <a:lstStyle/>
          <a:p>
            <a:r>
              <a:rPr lang="es-MX" b="1" dirty="0"/>
              <a:t>4. Optimización de Procesos: </a:t>
            </a:r>
            <a:r>
              <a:rPr lang="es-MX" dirty="0"/>
              <a:t>Utilización de tecnologías para automatizar procesos y mejorar la eficiencia operativa, esto puede reducir costos y tiempos de procesamiento, y aumentar la precisión en las operaciones.</a:t>
            </a:r>
          </a:p>
          <a:p>
            <a:endParaRPr lang="es-MX" b="1" dirty="0"/>
          </a:p>
          <a:p>
            <a:r>
              <a:rPr lang="es-MX" b="1" dirty="0"/>
              <a:t>5. Modelos de Negocio Innovadores: </a:t>
            </a:r>
            <a:r>
              <a:rPr lang="es-MX" dirty="0"/>
              <a:t>La transformación digital puede permitir a las empresas desarrollar nuevos modelos de negocio o modificar los existentes, aprovechando las tecnologías digitales para crear nuevas fuentes de ingresos o servicios.</a:t>
            </a:r>
          </a:p>
          <a:p>
            <a:endParaRPr lang="es-MX" dirty="0"/>
          </a:p>
          <a:p>
            <a:r>
              <a:rPr lang="es-MX" b="1" dirty="0"/>
              <a:t>Beneficios de la Transformación Digital</a:t>
            </a:r>
          </a:p>
          <a:p>
            <a:endParaRPr lang="es-MX" b="1" dirty="0"/>
          </a:p>
          <a:p>
            <a:pPr lvl="1">
              <a:buFont typeface="Arial" panose="020B0604020202020204" pitchFamily="34" charset="0"/>
              <a:buChar char="•"/>
            </a:pPr>
            <a:r>
              <a:rPr lang="es-MX" b="1" dirty="0"/>
              <a:t>Eficiencia Operativa</a:t>
            </a:r>
            <a:r>
              <a:rPr lang="es-MX" dirty="0"/>
              <a:t>: Reducción de costes y tiempo mediante la automatización y optimización de procesos.</a:t>
            </a:r>
          </a:p>
          <a:p>
            <a:pPr lvl="1">
              <a:buFont typeface="Arial" panose="020B0604020202020204" pitchFamily="34" charset="0"/>
              <a:buChar char="•"/>
            </a:pPr>
            <a:endParaRPr lang="es-MX" dirty="0"/>
          </a:p>
          <a:p>
            <a:pPr lvl="1">
              <a:buFont typeface="Arial" panose="020B0604020202020204" pitchFamily="34" charset="0"/>
              <a:buChar char="•"/>
            </a:pPr>
            <a:r>
              <a:rPr lang="es-MX" b="1" dirty="0"/>
              <a:t>Mejora en la Toma de Decisiones</a:t>
            </a:r>
            <a:r>
              <a:rPr lang="es-MX" dirty="0"/>
              <a:t>: Acceso a datos en tiempo real que permiten decisiones más informadas y ágiles.</a:t>
            </a:r>
          </a:p>
          <a:p>
            <a:pPr lvl="1">
              <a:buFont typeface="Arial" panose="020B0604020202020204" pitchFamily="34" charset="0"/>
              <a:buChar char="•"/>
            </a:pPr>
            <a:endParaRPr lang="es-MX" dirty="0"/>
          </a:p>
          <a:p>
            <a:pPr lvl="1">
              <a:buFont typeface="Arial" panose="020B0604020202020204" pitchFamily="34" charset="0"/>
              <a:buChar char="•"/>
            </a:pPr>
            <a:r>
              <a:rPr lang="es-MX" b="1" dirty="0"/>
              <a:t>Mayor Alcance de Mercado</a:t>
            </a:r>
            <a:r>
              <a:rPr lang="es-MX" dirty="0"/>
              <a:t>: Capacidad de llegar a más clientes a través de canales digitales, rompiendo barreras geográficas.</a:t>
            </a:r>
          </a:p>
          <a:p>
            <a:pPr lvl="1">
              <a:buFont typeface="Arial" panose="020B0604020202020204" pitchFamily="34" charset="0"/>
              <a:buChar char="•"/>
            </a:pPr>
            <a:endParaRPr lang="es-MX" dirty="0"/>
          </a:p>
          <a:p>
            <a:pPr lvl="1">
              <a:buFont typeface="Arial" panose="020B0604020202020204" pitchFamily="34" charset="0"/>
              <a:buChar char="•"/>
            </a:pPr>
            <a:r>
              <a:rPr lang="es-MX" b="1" dirty="0"/>
              <a:t>Incremento en la Satisfacción del Cliente</a:t>
            </a:r>
            <a:r>
              <a:rPr lang="es-MX" dirty="0"/>
              <a:t>: Experiencias de cliente mejoradas que pueden llevar a una mayor fidelización y satisfacción.</a:t>
            </a:r>
          </a:p>
          <a:p>
            <a:pPr lvl="1">
              <a:buFont typeface="Arial" panose="020B0604020202020204" pitchFamily="34" charset="0"/>
              <a:buChar char="•"/>
            </a:pPr>
            <a:endParaRPr lang="es-MX" dirty="0"/>
          </a:p>
          <a:p>
            <a:pPr lvl="1">
              <a:buFont typeface="Arial" panose="020B0604020202020204" pitchFamily="34" charset="0"/>
              <a:buChar char="•"/>
            </a:pPr>
            <a:r>
              <a:rPr lang="es-MX" b="1" dirty="0"/>
              <a:t>Resiliencia Empresarial</a:t>
            </a:r>
            <a:r>
              <a:rPr lang="es-MX" dirty="0"/>
              <a:t>: Mayor capacidad para adaptarse a cambios y desafíos del mercado.</a:t>
            </a:r>
          </a:p>
        </p:txBody>
      </p:sp>
    </p:spTree>
    <p:extLst>
      <p:ext uri="{BB962C8B-B14F-4D97-AF65-F5344CB8AC3E}">
        <p14:creationId xmlns:p14="http://schemas.microsoft.com/office/powerpoint/2010/main" val="42186920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Transformación digital</a:t>
            </a:r>
            <a:endParaRPr lang="es-CO" sz="4800" b="1" dirty="0"/>
          </a:p>
        </p:txBody>
      </p:sp>
      <p:sp>
        <p:nvSpPr>
          <p:cNvPr id="4" name="CuadroTexto 3">
            <a:extLst>
              <a:ext uri="{FF2B5EF4-FFF2-40B4-BE49-F238E27FC236}">
                <a16:creationId xmlns:a16="http://schemas.microsoft.com/office/drawing/2014/main" id="{26A0C39A-729C-87C6-B75C-3699F39C83EF}"/>
              </a:ext>
            </a:extLst>
          </p:cNvPr>
          <p:cNvSpPr txBox="1"/>
          <p:nvPr/>
        </p:nvSpPr>
        <p:spPr>
          <a:xfrm>
            <a:off x="310551" y="1166843"/>
            <a:ext cx="11214340" cy="4247317"/>
          </a:xfrm>
          <a:prstGeom prst="rect">
            <a:avLst/>
          </a:prstGeom>
          <a:noFill/>
        </p:spPr>
        <p:txBody>
          <a:bodyPr wrap="square">
            <a:spAutoFit/>
          </a:bodyPr>
          <a:lstStyle/>
          <a:p>
            <a:r>
              <a:rPr lang="es-MX" b="1" dirty="0"/>
              <a:t>Desafíos de la Transformación Digital</a:t>
            </a:r>
          </a:p>
          <a:p>
            <a:endParaRPr lang="es-MX" b="1" dirty="0"/>
          </a:p>
          <a:p>
            <a:pPr>
              <a:buFont typeface="Arial" panose="020B0604020202020204" pitchFamily="34" charset="0"/>
              <a:buChar char="•"/>
            </a:pPr>
            <a:r>
              <a:rPr lang="es-MX" b="1" dirty="0"/>
              <a:t>Resistencia al Cambio</a:t>
            </a:r>
            <a:r>
              <a:rPr lang="es-MX" dirty="0"/>
              <a:t>: Cambiar la cultura organizacional puede ser un desafío significativo, especialmente en organizaciones más grandes y establecidas.</a:t>
            </a:r>
          </a:p>
          <a:p>
            <a:pPr>
              <a:buFont typeface="Arial" panose="020B0604020202020204" pitchFamily="34" charset="0"/>
              <a:buChar char="•"/>
            </a:pPr>
            <a:endParaRPr lang="es-MX" dirty="0"/>
          </a:p>
          <a:p>
            <a:pPr>
              <a:buFont typeface="Arial" panose="020B0604020202020204" pitchFamily="34" charset="0"/>
              <a:buChar char="•"/>
            </a:pPr>
            <a:r>
              <a:rPr lang="es-MX" b="1" dirty="0"/>
              <a:t>Seguridad de los Datos</a:t>
            </a:r>
            <a:r>
              <a:rPr lang="es-MX" dirty="0"/>
              <a:t>: A medida que las empresas se vuelven más digitales, también aumentan los riesgos relacionados con la seguridad de los datos.</a:t>
            </a:r>
          </a:p>
          <a:p>
            <a:pPr>
              <a:buFont typeface="Arial" panose="020B0604020202020204" pitchFamily="34" charset="0"/>
              <a:buChar char="•"/>
            </a:pPr>
            <a:endParaRPr lang="es-MX" dirty="0"/>
          </a:p>
          <a:p>
            <a:pPr>
              <a:buFont typeface="Arial" panose="020B0604020202020204" pitchFamily="34" charset="0"/>
              <a:buChar char="•"/>
            </a:pPr>
            <a:r>
              <a:rPr lang="es-MX" b="1" dirty="0"/>
              <a:t>Inversión Inicial</a:t>
            </a:r>
            <a:r>
              <a:rPr lang="es-MX" dirty="0"/>
              <a:t>: La adopción de nuevas tecnologías puede requerir una inversión inicial considerable.</a:t>
            </a:r>
          </a:p>
          <a:p>
            <a:pPr>
              <a:buFont typeface="Arial" panose="020B0604020202020204" pitchFamily="34" charset="0"/>
              <a:buChar char="•"/>
            </a:pPr>
            <a:endParaRPr lang="es-MX" dirty="0"/>
          </a:p>
          <a:p>
            <a:pPr>
              <a:buFont typeface="Arial" panose="020B0604020202020204" pitchFamily="34" charset="0"/>
              <a:buChar char="•"/>
            </a:pPr>
            <a:r>
              <a:rPr lang="es-MX" b="1" dirty="0"/>
              <a:t>Brecha de Habilidades</a:t>
            </a:r>
            <a:r>
              <a:rPr lang="es-MX" dirty="0"/>
              <a:t>: La necesidad de empleados con habilidades digitales puede superar la oferta, lo que implica desafíos en la capacitación y retención de talento.</a:t>
            </a:r>
          </a:p>
          <a:p>
            <a:pPr>
              <a:buFont typeface="Arial" panose="020B0604020202020204" pitchFamily="34" charset="0"/>
              <a:buChar char="•"/>
            </a:pPr>
            <a:endParaRPr lang="es-MX" dirty="0"/>
          </a:p>
          <a:p>
            <a:r>
              <a:rPr lang="es-MX" dirty="0"/>
              <a:t>La transformación digital es un viaje continuo que difiere de una empresa a otra, dependiendo de factores como el sector industrial, el tamaño de la empresa, la cultura organizacional y la visión estratégica.</a:t>
            </a:r>
          </a:p>
        </p:txBody>
      </p:sp>
    </p:spTree>
    <p:extLst>
      <p:ext uri="{BB962C8B-B14F-4D97-AF65-F5344CB8AC3E}">
        <p14:creationId xmlns:p14="http://schemas.microsoft.com/office/powerpoint/2010/main" val="12653166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379BF7F-D211-7AE9-D9A9-F0963ED1A0FF}"/>
              </a:ext>
            </a:extLst>
          </p:cNvPr>
          <p:cNvSpPr>
            <a:spLocks noGrp="1"/>
          </p:cNvSpPr>
          <p:nvPr>
            <p:ph type="title"/>
          </p:nvPr>
        </p:nvSpPr>
        <p:spPr>
          <a:xfrm>
            <a:off x="2095835" y="0"/>
            <a:ext cx="7396480" cy="1325563"/>
          </a:xfrm>
        </p:spPr>
        <p:txBody>
          <a:bodyPr>
            <a:normAutofit/>
          </a:bodyPr>
          <a:lstStyle/>
          <a:p>
            <a:pPr algn="ctr"/>
            <a:r>
              <a:rPr lang="es-MX" sz="4800" b="1" dirty="0"/>
              <a:t>Proyecto final (35%)</a:t>
            </a:r>
            <a:endParaRPr lang="es-CO" sz="4800" b="1" dirty="0"/>
          </a:p>
        </p:txBody>
      </p:sp>
      <p:sp>
        <p:nvSpPr>
          <p:cNvPr id="4" name="CuadroTexto 3">
            <a:extLst>
              <a:ext uri="{FF2B5EF4-FFF2-40B4-BE49-F238E27FC236}">
                <a16:creationId xmlns:a16="http://schemas.microsoft.com/office/drawing/2014/main" id="{26A0C39A-729C-87C6-B75C-3699F39C83EF}"/>
              </a:ext>
            </a:extLst>
          </p:cNvPr>
          <p:cNvSpPr txBox="1"/>
          <p:nvPr/>
        </p:nvSpPr>
        <p:spPr>
          <a:xfrm>
            <a:off x="310551" y="1399757"/>
            <a:ext cx="11214340" cy="5078313"/>
          </a:xfrm>
          <a:prstGeom prst="rect">
            <a:avLst/>
          </a:prstGeom>
          <a:noFill/>
        </p:spPr>
        <p:txBody>
          <a:bodyPr wrap="square">
            <a:spAutoFit/>
          </a:bodyPr>
          <a:lstStyle/>
          <a:p>
            <a:pPr marL="285750" indent="-285750">
              <a:buFont typeface="Wingdings" panose="05000000000000000000" pitchFamily="2" charset="2"/>
              <a:buChar char="v"/>
            </a:pPr>
            <a:r>
              <a:rPr lang="es-MX" dirty="0"/>
              <a:t>Revisando, eligiendo y pensando estratégicamente en los desafíos de la transformación digital, así como el uso de herramientas digitales para la solución y/o incremento de la capacidad productiva empresarial y la toma de decisiones informadas, va a tomar la base de datos seleccionada y preparará un tablero digital automático en cualquier herramienta de transformación digital, y que permita mediante la aplicación de filtros dinámicos, resolver las 5 preguntas de su negocio.</a:t>
            </a:r>
          </a:p>
          <a:p>
            <a:endParaRPr lang="es-MX" dirty="0"/>
          </a:p>
          <a:p>
            <a:r>
              <a:rPr lang="es-MX" dirty="0"/>
              <a:t>     Este deberá dar respuesta a las 5 preguntas enfocadas en el Proyecto Preliminar.</a:t>
            </a:r>
          </a:p>
          <a:p>
            <a:endParaRPr lang="es-MX" dirty="0"/>
          </a:p>
          <a:p>
            <a:r>
              <a:rPr lang="es-MX" dirty="0"/>
              <a:t>Tiempo presentación: 30 minutos</a:t>
            </a:r>
          </a:p>
          <a:p>
            <a:endParaRPr lang="es-MX" dirty="0"/>
          </a:p>
          <a:p>
            <a:endParaRPr lang="es-MX" dirty="0"/>
          </a:p>
          <a:p>
            <a:pPr lvl="1" algn="just"/>
            <a:endParaRPr lang="es-MX" dirty="0"/>
          </a:p>
          <a:p>
            <a:pPr marL="742950" lvl="1" indent="-285750" algn="just">
              <a:buFont typeface="Arial" panose="020B0604020202020204" pitchFamily="34" charset="0"/>
              <a:buChar char="•"/>
            </a:pPr>
            <a:r>
              <a:rPr lang="es-MX" dirty="0">
                <a:hlinkClick r:id="rId2"/>
              </a:rPr>
              <a:t>https://statistics.cepal.org/portal/cepalstat/index.html?lang=es</a:t>
            </a:r>
            <a:endParaRPr lang="es-MX" dirty="0"/>
          </a:p>
          <a:p>
            <a:pPr marL="742950" lvl="1" indent="-285750" algn="just">
              <a:buFont typeface="Arial" panose="020B0604020202020204" pitchFamily="34" charset="0"/>
              <a:buChar char="•"/>
            </a:pPr>
            <a:r>
              <a:rPr lang="es-MX" dirty="0">
                <a:hlinkClick r:id="rId3"/>
              </a:rPr>
              <a:t>https://datos.bancomundial.org/</a:t>
            </a:r>
            <a:endParaRPr lang="es-MX" dirty="0"/>
          </a:p>
          <a:p>
            <a:pPr marL="742950" lvl="1" indent="-285750" algn="just">
              <a:buFont typeface="Arial" panose="020B0604020202020204" pitchFamily="34" charset="0"/>
              <a:buChar char="•"/>
            </a:pPr>
            <a:r>
              <a:rPr lang="es-MX" dirty="0">
                <a:hlinkClick r:id="rId4"/>
              </a:rPr>
              <a:t>https://www.datos.gov.co/</a:t>
            </a:r>
            <a:endParaRPr lang="es-MX" dirty="0"/>
          </a:p>
          <a:p>
            <a:pPr marL="742950" lvl="1" indent="-285750" algn="just">
              <a:buFont typeface="Arial" panose="020B0604020202020204" pitchFamily="34" charset="0"/>
              <a:buChar char="•"/>
            </a:pPr>
            <a:r>
              <a:rPr lang="es-MX" dirty="0">
                <a:hlinkClick r:id="rId5"/>
              </a:rPr>
              <a:t>https://www.simem.co/</a:t>
            </a:r>
            <a:endParaRPr lang="es-MX" dirty="0"/>
          </a:p>
          <a:p>
            <a:pPr marL="742950" lvl="1" indent="-285750" algn="just">
              <a:buFont typeface="Arial" panose="020B0604020202020204" pitchFamily="34" charset="0"/>
              <a:buChar char="•"/>
            </a:pPr>
            <a:r>
              <a:rPr lang="es-MX" dirty="0">
                <a:hlinkClick r:id="rId6"/>
              </a:rPr>
              <a:t>https://sui.superservicios.gov.co/Datos-abiertos</a:t>
            </a:r>
            <a:endParaRPr lang="es-MX" dirty="0"/>
          </a:p>
          <a:p>
            <a:endParaRPr lang="es-MX" dirty="0"/>
          </a:p>
        </p:txBody>
      </p:sp>
    </p:spTree>
    <p:extLst>
      <p:ext uri="{BB962C8B-B14F-4D97-AF65-F5344CB8AC3E}">
        <p14:creationId xmlns:p14="http://schemas.microsoft.com/office/powerpoint/2010/main" val="29455894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ebbfa72-b3b6-4c1f-8b23-058d4f67f013}" enabled="1" method="Privileged" siteId="{bf1ce8b5-5d39-4bc5-ad6e-07b3e4d7d67a}" contentBits="0" removed="0"/>
</clbl:labelList>
</file>

<file path=docProps/app.xml><?xml version="1.0" encoding="utf-8"?>
<Properties xmlns="http://schemas.openxmlformats.org/officeDocument/2006/extended-properties" xmlns:vt="http://schemas.openxmlformats.org/officeDocument/2006/docPropsVTypes">
  <TotalTime>1985</TotalTime>
  <Words>6870</Words>
  <Application>Microsoft Office PowerPoint</Application>
  <PresentationFormat>Panorámica</PresentationFormat>
  <Paragraphs>815</Paragraphs>
  <Slides>74</Slides>
  <Notes>0</Notes>
  <HiddenSlides>5</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74</vt:i4>
      </vt:variant>
    </vt:vector>
  </HeadingPairs>
  <TitlesOfParts>
    <vt:vector size="82" baseType="lpstr">
      <vt:lpstr>Agency FB</vt:lpstr>
      <vt:lpstr>Arial</vt:lpstr>
      <vt:lpstr>Arial Narrow</vt:lpstr>
      <vt:lpstr>Arial Unicode MS</vt:lpstr>
      <vt:lpstr>Calibri</vt:lpstr>
      <vt:lpstr>Calibri Light</vt:lpstr>
      <vt:lpstr>Wingdings</vt:lpstr>
      <vt:lpstr>Tema de Office</vt:lpstr>
      <vt:lpstr>Presentación de PowerPoint</vt:lpstr>
      <vt:lpstr>Objetivo general</vt:lpstr>
      <vt:lpstr>Contenido</vt:lpstr>
      <vt:lpstr>Contenido</vt:lpstr>
      <vt:lpstr>Contenido</vt:lpstr>
      <vt:lpstr>Contenido</vt:lpstr>
      <vt:lpstr>Contenido</vt:lpstr>
      <vt:lpstr>Objetivos específicos</vt:lpstr>
      <vt:lpstr>Objetivos específicos</vt:lpstr>
      <vt:lpstr>Evaluación</vt:lpstr>
      <vt:lpstr>Bibliografía</vt:lpstr>
      <vt:lpstr>Bibliografía</vt:lpstr>
      <vt:lpstr>Ejercicio Preliminar</vt:lpstr>
      <vt:lpstr>Unidad 1: Introducción a la transmisión de datos</vt:lpstr>
      <vt:lpstr>Transmisión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Redes</vt:lpstr>
      <vt:lpstr>Criterios</vt:lpstr>
      <vt:lpstr>Criterios</vt:lpstr>
      <vt:lpstr>Estructuras</vt:lpstr>
      <vt:lpstr>Tipos conexión</vt:lpstr>
      <vt:lpstr>Tipos conexión</vt:lpstr>
      <vt:lpstr>Topología</vt:lpstr>
      <vt:lpstr>Malla</vt:lpstr>
      <vt:lpstr>Estrella</vt:lpstr>
      <vt:lpstr>Bus</vt:lpstr>
      <vt:lpstr>Anillo</vt:lpstr>
      <vt:lpstr>Híbridas</vt:lpstr>
      <vt:lpstr>Modelos de red</vt:lpstr>
      <vt:lpstr>LAN</vt:lpstr>
      <vt:lpstr>WAN</vt:lpstr>
      <vt:lpstr>MAN</vt:lpstr>
      <vt:lpstr>Internet</vt:lpstr>
      <vt:lpstr>Internet</vt:lpstr>
      <vt:lpstr>Actualidad</vt:lpstr>
      <vt:lpstr>TCP/IP</vt:lpstr>
      <vt:lpstr>Protocolos y estándares</vt:lpstr>
      <vt:lpstr>Protocolos y estándares</vt:lpstr>
      <vt:lpstr>Detección de errores</vt:lpstr>
      <vt:lpstr>Detección de errores</vt:lpstr>
      <vt:lpstr>Detección de errores</vt:lpstr>
      <vt:lpstr>Detección de errores</vt:lpstr>
      <vt:lpstr>Detección de errores</vt:lpstr>
      <vt:lpstr>Detección de errores</vt:lpstr>
      <vt:lpstr>Detección de errores</vt:lpstr>
      <vt:lpstr>Ejercicio Preliminar</vt:lpstr>
      <vt:lpstr>Unidad 2: Aplicaciones y tendencias futuras</vt:lpstr>
      <vt:lpstr>Unidad 2: Aplicaciones y tendencias futuras</vt:lpstr>
      <vt:lpstr>Unidad 2: Aplicaciones y tendencias futuras</vt:lpstr>
      <vt:lpstr>Tendencias futuras</vt:lpstr>
      <vt:lpstr>Tendencias futuras</vt:lpstr>
      <vt:lpstr>Tendencias futuras</vt:lpstr>
      <vt:lpstr>Transformación digital</vt:lpstr>
      <vt:lpstr>Transformación digital</vt:lpstr>
      <vt:lpstr>Transformación digital</vt:lpstr>
      <vt:lpstr>Proyecto final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Comunicacion y Mercadeo Creativo</dc:creator>
  <cp:lastModifiedBy>Sebastián Lopez Arias</cp:lastModifiedBy>
  <cp:revision>148</cp:revision>
  <dcterms:created xsi:type="dcterms:W3CDTF">2023-01-11T14:55:56Z</dcterms:created>
  <dcterms:modified xsi:type="dcterms:W3CDTF">2026-09-30T22:41:39Z</dcterms:modified>
</cp:coreProperties>
</file>